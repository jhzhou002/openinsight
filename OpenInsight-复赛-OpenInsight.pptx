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7" r:id="rId3"/>
    <p:sldId id="260" r:id="rId4"/>
    <p:sldId id="261" r:id="rId5"/>
    <p:sldId id="267" r:id="rId6"/>
    <p:sldId id="283" r:id="rId7"/>
    <p:sldId id="268" r:id="rId8"/>
    <p:sldId id="290" r:id="rId9"/>
    <p:sldId id="287" r:id="rId10"/>
    <p:sldId id="298" r:id="rId11"/>
    <p:sldId id="289" r:id="rId12"/>
    <p:sldId id="270" r:id="rId13"/>
    <p:sldId id="284" r:id="rId14"/>
    <p:sldId id="271" r:id="rId15"/>
    <p:sldId id="292" r:id="rId16"/>
    <p:sldId id="275" r:id="rId17"/>
    <p:sldId id="285" r:id="rId18"/>
    <p:sldId id="294" r:id="rId19"/>
    <p:sldId id="279" r:id="rId20"/>
    <p:sldId id="280" r:id="rId21"/>
    <p:sldId id="276" r:id="rId22"/>
    <p:sldId id="301" r:id="rId23"/>
    <p:sldId id="300" r:id="rId24"/>
    <p:sldId id="302" r:id="rId25"/>
    <p:sldId id="303" r:id="rId26"/>
    <p:sldId id="304" r:id="rId27"/>
    <p:sldId id="293" r:id="rId28"/>
    <p:sldId id="281" r:id="rId29"/>
    <p:sldId id="277" r:id="rId30"/>
  </p:sldIdLst>
  <p:sldSz cx="12192000" cy="6858000"/>
  <p:notesSz cx="6858000" cy="9144000"/>
  <p:custDataLst>
    <p:tags r:id="rId3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5B6"/>
    <a:srgbClr val="F18276"/>
    <a:srgbClr val="5DFFFF"/>
    <a:srgbClr val="00B0F0"/>
    <a:srgbClr val="1504B8"/>
    <a:srgbClr val="FFBF00"/>
    <a:srgbClr val="00FFEC"/>
    <a:srgbClr val="71FAFF"/>
    <a:srgbClr val="74F8F1"/>
    <a:srgbClr val="3BC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22" autoAdjust="0"/>
    <p:restoredTop sz="94660"/>
  </p:normalViewPr>
  <p:slideViewPr>
    <p:cSldViewPr snapToGrid="0">
      <p:cViewPr varScale="1">
        <p:scale>
          <a:sx n="86" d="100"/>
          <a:sy n="86" d="100"/>
        </p:scale>
        <p:origin x="46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4080" y="19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E50C4-7C8E-4845-9685-8FFFC7D1D19A}" type="datetimeFigureOut">
              <a:rPr kumimoji="1" lang="zh-CN" altLang="en-US" smtClean="0"/>
              <a:t>2026/1/8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41173D-681C-D74E-B395-B929B8D1669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2026/1/8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/private/var/folders/52/4568vxss1c1g6kht_59dt4n40000gn/T/com.kingsoft.wpsoffice.mac/picturecompress_20231114212727/output_1.jpgoutput_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(横版-白字)基金会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6725" y="390525"/>
            <a:ext cx="2821305" cy="561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private/var/folders/52/4568vxss1c1g6kht_59dt4n40000gn/T/com.kingsoft.wpsoffice.mac/picturecompress_20231114202854/output_1.jpgoutput_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 descr="(横版-白字)基金会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6725" y="390525"/>
            <a:ext cx="2821305" cy="561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private/var/folders/52/4568vxss1c1g6kht_59dt4n40000gn/T/com.kingsoft.wpsoffice.mac/picturecompress_20231114202854/output_1.jpgoutput_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ppt33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(横版-白字)基金会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6725" y="390525"/>
            <a:ext cx="2821305" cy="561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ppt33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ppt2 拷贝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7395" cy="6858000"/>
          </a:xfrm>
          <a:prstGeom prst="rect">
            <a:avLst/>
          </a:prstGeom>
        </p:spPr>
      </p:pic>
      <p:pic>
        <p:nvPicPr>
          <p:cNvPr id="4" name="图片 3" descr="(横版-黑字)基金会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66725" y="419100"/>
            <a:ext cx="2785110" cy="5619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ppt2 拷贝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77395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94A63A7E-A723-4929-8832-5054DF5BD45D}" type="datetimeFigureOut">
              <a:rPr lang="zh-CN" altLang="en-US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CF9C9478-35AA-4893-89BA-14E5E31CC8D8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7C151B39-9439-4C93-A18F-73C58511A818}" type="datetimeFigureOut">
              <a:rPr lang="zh-CN" altLang="en-US"/>
              <a:t>2026/1/8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0D8841D6-8AD7-420D-933F-D58713B8E83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>
          <a:prstGeom prst="rect">
            <a:avLst/>
          </a:prstGeom>
        </p:spPr>
        <p:txBody>
          <a:bodyPr/>
          <a:lstStyle/>
          <a:p>
            <a:fld id="{DDE43617-8BFA-4D4B-AAE1-6F87B0FC5B60}" type="datetimeFigureOut">
              <a:rPr lang="zh-CN" altLang="en-US"/>
              <a:t>2026/1/8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idx="11"/>
          </p:nvPr>
        </p:nvSpPr>
        <p:spPr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/>
          <a:lstStyle/>
          <a:p>
            <a:fld id="{40A532EB-72F6-4154-9571-EE09347D457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80ED2-417C-47C1-B50B-7015E8DB2B2A}" type="datetimeFigureOut">
              <a:rPr lang="zh-CN" altLang="en-US"/>
              <a:t>2026/1/8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lvl="0"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F7A0AB-CEBA-418B-985A-39DC2445E9BD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lvl="0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1pPr>
      <a:lvl2pPr marL="457200" lvl="1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marL="914400" lvl="2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marL="1371600" lvl="3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marL="1828800" lvl="4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2286000" lvl="5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2743200" lvl="6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3200400" lvl="7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3657600" lvl="8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p.weixin.qq.com/s/nm_cuRdY8i23Z_IbpidMuQ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blog.gitee.com/2021/07/15/gitee-rank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745" y="450278"/>
            <a:ext cx="4886325" cy="56896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51973EFD-647E-E1EC-C794-786FD0CCAE8B}"/>
              </a:ext>
            </a:extLst>
          </p:cNvPr>
          <p:cNvSpPr txBox="1"/>
          <p:nvPr/>
        </p:nvSpPr>
        <p:spPr>
          <a:xfrm>
            <a:off x="763979" y="2828835"/>
            <a:ext cx="104740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 err="1">
                <a:solidFill>
                  <a:schemeClr val="bg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OpenInsight</a:t>
            </a:r>
            <a:endParaRPr lang="en-US" altLang="zh-CN" sz="4000" dirty="0">
              <a:solidFill>
                <a:schemeClr val="bg2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  <a:p>
            <a:pPr algn="ctr"/>
            <a:r>
              <a:rPr lang="zh-CN" altLang="en-US" sz="3200" dirty="0">
                <a:solidFill>
                  <a:schemeClr val="bg2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开源项目洞察与智能分析平台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21CA874-9619-DE23-B26A-82210CB25678}"/>
              </a:ext>
            </a:extLst>
          </p:cNvPr>
          <p:cNvSpPr txBox="1"/>
          <p:nvPr/>
        </p:nvSpPr>
        <p:spPr>
          <a:xfrm>
            <a:off x="3712745" y="4367611"/>
            <a:ext cx="57120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  <a:ea typeface="思源黑体 CN Medium" panose="020B0600000000000000"/>
              </a:rPr>
              <a:t>开源生态智能分析 </a:t>
            </a: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ea typeface="思源黑体 CN Medium" panose="020B0600000000000000"/>
              </a:rPr>
              <a:t>| </a:t>
            </a:r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  <a:ea typeface="思源黑体 CN Medium" panose="020B0600000000000000"/>
              </a:rPr>
              <a:t>指标体系设计 </a:t>
            </a:r>
            <a:r>
              <a:rPr lang="en-US" altLang="zh-CN" sz="1600" dirty="0">
                <a:solidFill>
                  <a:schemeClr val="tx2">
                    <a:lumMod val="75000"/>
                  </a:schemeClr>
                </a:solidFill>
                <a:ea typeface="思源黑体 CN Medium" panose="020B0600000000000000"/>
              </a:rPr>
              <a:t>| </a:t>
            </a:r>
            <a:r>
              <a:rPr lang="zh-CN" altLang="en-US" sz="1600" dirty="0">
                <a:solidFill>
                  <a:schemeClr val="tx2">
                    <a:lumMod val="75000"/>
                  </a:schemeClr>
                </a:solidFill>
                <a:ea typeface="思源黑体 CN Medium" panose="020B0600000000000000"/>
              </a:rPr>
              <a:t>趋势预测</a:t>
            </a:r>
          </a:p>
        </p:txBody>
      </p:sp>
      <p:pic>
        <p:nvPicPr>
          <p:cNvPr id="7" name="图形 6" descr="集体讨论">
            <a:extLst>
              <a:ext uri="{FF2B5EF4-FFF2-40B4-BE49-F238E27FC236}">
                <a16:creationId xmlns:a16="http://schemas.microsoft.com/office/drawing/2014/main" id="{AA1C86C8-54C9-B59C-F116-D1AC4C44A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05746" y="5969849"/>
            <a:ext cx="417342" cy="41734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32CCBBF4-82E3-DE9C-8C79-BB5234BEB099}"/>
              </a:ext>
            </a:extLst>
          </p:cNvPr>
          <p:cNvSpPr txBox="1"/>
          <p:nvPr/>
        </p:nvSpPr>
        <p:spPr>
          <a:xfrm>
            <a:off x="4823088" y="6007612"/>
            <a:ext cx="42929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ea typeface="思源黑体 CN Medium" panose="020B0600000000000000"/>
              </a:rPr>
              <a:t>OpenInsight</a:t>
            </a:r>
            <a:r>
              <a:rPr lang="en-US" altLang="zh-CN" dirty="0">
                <a:ea typeface="思源黑体 CN Medium" panose="020B0600000000000000"/>
              </a:rPr>
              <a:t> | 2026-01</a:t>
            </a:r>
            <a:endParaRPr lang="zh-CN" altLang="en-US" dirty="0">
              <a:ea typeface="思源黑体 CN Medium" panose="020B060000000000000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68D477AE-64C9-7781-BE46-C130E1AC5EDF}"/>
              </a:ext>
            </a:extLst>
          </p:cNvPr>
          <p:cNvSpPr txBox="1"/>
          <p:nvPr/>
        </p:nvSpPr>
        <p:spPr>
          <a:xfrm>
            <a:off x="2636668" y="5166138"/>
            <a:ext cx="72974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+mn-ea"/>
                <a:ea typeface="思源黑体 CN Medium" panose="020B0600000000000000"/>
              </a:rPr>
              <a:t>项目基于</a:t>
            </a:r>
            <a:r>
              <a:rPr lang="en-US" altLang="zh-CN" sz="2800" b="1" dirty="0" err="1">
                <a:solidFill>
                  <a:srgbClr val="FF0000"/>
                </a:solidFill>
                <a:latin typeface="+mn-ea"/>
                <a:ea typeface="思源黑体 CN Medium" panose="020B0600000000000000"/>
              </a:rPr>
              <a:t>OpenDigger</a:t>
            </a:r>
            <a:r>
              <a:rPr lang="zh-CN" altLang="en-US" sz="2800" b="1" dirty="0">
                <a:solidFill>
                  <a:srgbClr val="FF0000"/>
                </a:solidFill>
                <a:latin typeface="+mn-ea"/>
                <a:ea typeface="思源黑体 CN Medium" panose="020B0600000000000000"/>
              </a:rPr>
              <a:t>提供的数据进行开发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2326958" y="2602230"/>
            <a:ext cx="1402080" cy="82994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400"/>
            <a:r>
              <a:rPr lang="zh-CN" altLang="en-US" sz="480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</a:rPr>
              <a:t>目录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2459991" y="3396615"/>
            <a:ext cx="1137285" cy="3987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defTabSz="914400"/>
            <a:r>
              <a:rPr lang="en-US" altLang="zh-CN" sz="200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</a:rPr>
              <a:t>Content</a:t>
            </a:r>
          </a:p>
        </p:txBody>
      </p:sp>
      <p:sp>
        <p:nvSpPr>
          <p:cNvPr id="8" name="矩形 7"/>
          <p:cNvSpPr/>
          <p:nvPr/>
        </p:nvSpPr>
        <p:spPr>
          <a:xfrm>
            <a:off x="5710555" y="1972566"/>
            <a:ext cx="217551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2</a:t>
            </a:r>
            <a:r>
              <a:rPr lang="en-US" altLang="zh-CN" sz="4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核心创新</a:t>
            </a:r>
            <a:endParaRPr lang="en-US" altLang="zh-CN" sz="2000" b="1" dirty="0">
              <a:solidFill>
                <a:schemeClr val="bg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710555" y="3490014"/>
            <a:ext cx="217551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4</a:t>
            </a:r>
            <a:r>
              <a:rPr lang="en-US" altLang="zh-CN" sz="4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设计方案</a:t>
            </a:r>
            <a:endParaRPr lang="en-US" altLang="zh-CN" sz="2000" dirty="0">
              <a:solidFill>
                <a:schemeClr val="bg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710554" y="4299576"/>
            <a:ext cx="247465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5</a:t>
            </a:r>
            <a:r>
              <a:rPr lang="en-US" altLang="zh-CN" sz="4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未来展望</a:t>
            </a:r>
            <a:endParaRPr lang="en-US" altLang="zh-CN" sz="2000" dirty="0">
              <a:solidFill>
                <a:schemeClr val="bg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710555" y="1203666"/>
            <a:ext cx="277436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1</a:t>
            </a:r>
            <a:r>
              <a:rPr lang="en-US" altLang="zh-CN" sz="4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项目背景</a:t>
            </a:r>
            <a:endParaRPr lang="en-US" altLang="zh-CN" sz="2000" b="1" dirty="0">
              <a:solidFill>
                <a:schemeClr val="bg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10555" y="2720975"/>
            <a:ext cx="3169285" cy="706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3</a:t>
            </a:r>
            <a:r>
              <a:rPr lang="en-US" altLang="zh-CN" sz="4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 </a:t>
            </a:r>
            <a:r>
              <a:rPr lang="zh-CN" altLang="en-US" sz="2000" b="1" dirty="0">
                <a:solidFill>
                  <a:schemeClr val="bg1"/>
                </a:solidFill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技术架构与挑战</a:t>
            </a:r>
            <a:endParaRPr lang="en-US" altLang="zh-CN" sz="2000" b="1" dirty="0">
              <a:solidFill>
                <a:schemeClr val="bg1"/>
              </a:solidFill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3520982" y="2725355"/>
            <a:ext cx="4869982" cy="752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1 </a:t>
            </a:r>
            <a:r>
              <a:rPr lang="zh-CN" altLang="en-US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项目背景</a:t>
            </a:r>
            <a:endParaRPr lang="en-US" altLang="zh-CN" sz="3200" b="1" dirty="0">
              <a:solidFill>
                <a:schemeClr val="bg1"/>
              </a:solidFill>
              <a:latin typeface="思源黑体 CN Bold"/>
              <a:ea typeface="思源黑体 CN 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3@4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1540370" y="2452978"/>
            <a:ext cx="3309594" cy="3175000"/>
            <a:chOff x="1030061" y="1629397"/>
            <a:chExt cx="3309594" cy="3175000"/>
          </a:xfrm>
          <a:solidFill>
            <a:srgbClr val="0070C0"/>
          </a:solidFill>
        </p:grpSpPr>
        <p:sp>
          <p:nvSpPr>
            <p:cNvPr id="3" name="手杖形箭头 99"/>
            <p:cNvSpPr/>
            <p:nvPr/>
          </p:nvSpPr>
          <p:spPr>
            <a:xfrm rot="16200000">
              <a:off x="1021158" y="1638300"/>
              <a:ext cx="1727200" cy="1709394"/>
            </a:xfrm>
            <a:prstGeom prst="uturnArrow">
              <a:avLst>
                <a:gd name="adj1" fmla="val 16085"/>
                <a:gd name="adj2" fmla="val 17199"/>
                <a:gd name="adj3" fmla="val 25743"/>
                <a:gd name="adj4" fmla="val 43750"/>
                <a:gd name="adj5" fmla="val 73514"/>
              </a:avLst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4" name="手杖形箭头 100"/>
            <p:cNvSpPr/>
            <p:nvPr/>
          </p:nvSpPr>
          <p:spPr>
            <a:xfrm rot="5400000">
              <a:off x="2621358" y="3086100"/>
              <a:ext cx="1727200" cy="1709394"/>
            </a:xfrm>
            <a:prstGeom prst="uturnArrow">
              <a:avLst>
                <a:gd name="adj1" fmla="val 16085"/>
                <a:gd name="adj2" fmla="val 17199"/>
                <a:gd name="adj3" fmla="val 25743"/>
                <a:gd name="adj4" fmla="val 43750"/>
                <a:gd name="adj5" fmla="val 73514"/>
              </a:avLst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6812987" y="2452978"/>
            <a:ext cx="3309594" cy="3175000"/>
            <a:chOff x="4801961" y="1629397"/>
            <a:chExt cx="3309594" cy="3175000"/>
          </a:xfrm>
          <a:solidFill>
            <a:srgbClr val="F18276"/>
          </a:solidFill>
        </p:grpSpPr>
        <p:sp>
          <p:nvSpPr>
            <p:cNvPr id="8" name="手杖形箭头 102"/>
            <p:cNvSpPr/>
            <p:nvPr/>
          </p:nvSpPr>
          <p:spPr>
            <a:xfrm rot="16200000">
              <a:off x="4793058" y="1638300"/>
              <a:ext cx="1727200" cy="1709394"/>
            </a:xfrm>
            <a:prstGeom prst="uturnArrow">
              <a:avLst>
                <a:gd name="adj1" fmla="val 16085"/>
                <a:gd name="adj2" fmla="val 17199"/>
                <a:gd name="adj3" fmla="val 25743"/>
                <a:gd name="adj4" fmla="val 43750"/>
                <a:gd name="adj5" fmla="val 73514"/>
              </a:avLst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n-ea"/>
              </a:endParaRPr>
            </a:p>
          </p:txBody>
        </p:sp>
        <p:sp>
          <p:nvSpPr>
            <p:cNvPr id="9" name="手杖形箭头 103"/>
            <p:cNvSpPr/>
            <p:nvPr/>
          </p:nvSpPr>
          <p:spPr>
            <a:xfrm rot="5400000">
              <a:off x="6393258" y="3086100"/>
              <a:ext cx="1727200" cy="1709394"/>
            </a:xfrm>
            <a:prstGeom prst="uturnArrow">
              <a:avLst>
                <a:gd name="adj1" fmla="val 16085"/>
                <a:gd name="adj2" fmla="val 17199"/>
                <a:gd name="adj3" fmla="val 25743"/>
                <a:gd name="adj4" fmla="val 43750"/>
                <a:gd name="adj5" fmla="val 73514"/>
              </a:avLst>
            </a:prstGeom>
            <a:grpFill/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+mn-ea"/>
              </a:endParaRPr>
            </a:p>
          </p:txBody>
        </p:sp>
      </p:grpSp>
      <p:sp>
        <p:nvSpPr>
          <p:cNvPr id="16" name="TextBox 3073"/>
          <p:cNvSpPr txBox="1"/>
          <p:nvPr/>
        </p:nvSpPr>
        <p:spPr>
          <a:xfrm>
            <a:off x="2761835" y="1907096"/>
            <a:ext cx="2617179" cy="1895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292929"/>
                </a:solidFill>
                <a:latin typeface="+mn-ea"/>
                <a:cs typeface="思源黑体 CN" panose="020B0500000000000000" charset="-122"/>
              </a:rPr>
              <a:t>开源项目数据分散、结构不统一</a:t>
            </a:r>
            <a:endParaRPr lang="en-US" altLang="zh-CN" sz="1600" dirty="0">
              <a:solidFill>
                <a:srgbClr val="292929"/>
              </a:solidFill>
              <a:latin typeface="+mn-ea"/>
              <a:cs typeface="思源黑体 CN" panose="020B0500000000000000" charset="-122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292929"/>
                </a:solidFill>
                <a:latin typeface="+mn-ea"/>
                <a:cs typeface="思源黑体 CN" panose="020B0500000000000000" charset="-122"/>
              </a:rPr>
              <a:t>star</a:t>
            </a:r>
            <a:r>
              <a:rPr lang="zh-CN" altLang="en-US" sz="1600" dirty="0">
                <a:solidFill>
                  <a:srgbClr val="292929"/>
                </a:solidFill>
                <a:latin typeface="+mn-ea"/>
                <a:cs typeface="思源黑体 CN" panose="020B0500000000000000" charset="-122"/>
              </a:rPr>
              <a:t>和</a:t>
            </a:r>
            <a:r>
              <a:rPr lang="en-US" altLang="zh-CN" sz="1600" dirty="0">
                <a:solidFill>
                  <a:srgbClr val="292929"/>
                </a:solidFill>
                <a:latin typeface="+mn-ea"/>
                <a:cs typeface="思源黑体 CN" panose="020B0500000000000000" charset="-122"/>
              </a:rPr>
              <a:t>fork</a:t>
            </a:r>
            <a:r>
              <a:rPr lang="zh-CN" altLang="en-US" sz="1600" dirty="0">
                <a:solidFill>
                  <a:srgbClr val="292929"/>
                </a:solidFill>
                <a:latin typeface="+mn-ea"/>
                <a:cs typeface="思源黑体 CN" panose="020B0500000000000000" charset="-122"/>
              </a:rPr>
              <a:t>等指标数容易被操纵，无法真实反映社区活跃度和健康度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cs typeface="思源黑体 CN" panose="020B0500000000000000" charset="-122"/>
            </a:endParaRPr>
          </a:p>
        </p:txBody>
      </p:sp>
      <p:sp>
        <p:nvSpPr>
          <p:cNvPr id="18" name="TextBox 3073"/>
          <p:cNvSpPr txBox="1"/>
          <p:nvPr/>
        </p:nvSpPr>
        <p:spPr>
          <a:xfrm>
            <a:off x="8174256" y="2286656"/>
            <a:ext cx="3172167" cy="15258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292929"/>
                </a:solidFill>
                <a:latin typeface="+mn-ea"/>
              </a:rPr>
              <a:t>构建一个智能化、自动化、可扩展的开源项目洞察分析平台</a:t>
            </a:r>
            <a:endParaRPr lang="en-US" altLang="zh-CN" sz="1600" dirty="0">
              <a:solidFill>
                <a:srgbClr val="292929"/>
              </a:solidFill>
              <a:latin typeface="+mn-ea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292929"/>
                </a:solidFill>
                <a:latin typeface="+mn-ea"/>
              </a:rPr>
              <a:t>实现：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数据获取</a:t>
            </a:r>
            <a:r>
              <a:rPr lang="en-US" altLang="zh-CN" sz="1600" dirty="0">
                <a:solidFill>
                  <a:srgbClr val="292929"/>
                </a:solidFill>
                <a:latin typeface="+mn-ea"/>
                <a:sym typeface="Wingdings" panose="05000000000000000000" pitchFamily="2" charset="2"/>
              </a:rPr>
              <a:t>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清洗</a:t>
            </a:r>
            <a:r>
              <a:rPr lang="en-US" altLang="zh-CN" sz="1600" dirty="0">
                <a:solidFill>
                  <a:srgbClr val="292929"/>
                </a:solidFill>
                <a:latin typeface="+mn-ea"/>
                <a:sym typeface="Wingdings" panose="05000000000000000000" pitchFamily="2" charset="2"/>
              </a:rPr>
              <a:t>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指标计算</a:t>
            </a:r>
            <a:r>
              <a:rPr lang="en-US" altLang="zh-CN" sz="1600" dirty="0">
                <a:solidFill>
                  <a:srgbClr val="292929"/>
                </a:solidFill>
                <a:latin typeface="+mn-ea"/>
                <a:sym typeface="Wingdings" panose="05000000000000000000" pitchFamily="2" charset="2"/>
              </a:rPr>
              <a:t>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可视化</a:t>
            </a:r>
            <a:r>
              <a:rPr lang="en-US" altLang="zh-CN" sz="1600" dirty="0">
                <a:solidFill>
                  <a:srgbClr val="292929"/>
                </a:solidFill>
                <a:latin typeface="+mn-ea"/>
                <a:sym typeface="Wingdings" panose="05000000000000000000" pitchFamily="2" charset="2"/>
              </a:rPr>
              <a:t></a:t>
            </a:r>
            <a:r>
              <a:rPr lang="zh-CN" altLang="en-US" sz="1600" dirty="0">
                <a:solidFill>
                  <a:srgbClr val="FF0000"/>
                </a:solidFill>
                <a:latin typeface="+mn-ea"/>
                <a:sym typeface="Wingdings" panose="05000000000000000000" pitchFamily="2" charset="2"/>
              </a:rPr>
              <a:t>洞察分析</a:t>
            </a:r>
            <a:endParaRPr lang="en-US" altLang="zh-CN" sz="1600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146036" y="5824303"/>
            <a:ext cx="176843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+mn-ea"/>
              </a:rPr>
              <a:t>背景与痛点</a:t>
            </a:r>
          </a:p>
        </p:txBody>
      </p:sp>
      <p:sp>
        <p:nvSpPr>
          <p:cNvPr id="22" name="TextBox 3073"/>
          <p:cNvSpPr txBox="1"/>
          <p:nvPr/>
        </p:nvSpPr>
        <p:spPr>
          <a:xfrm>
            <a:off x="977208" y="4304396"/>
            <a:ext cx="2521919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292929"/>
                </a:solidFill>
                <a:latin typeface="+mn-ea"/>
              </a:rPr>
              <a:t>缺乏科学指标体系</a:t>
            </a:r>
            <a:endParaRPr lang="en-US" altLang="zh-CN" sz="1600" dirty="0">
              <a:solidFill>
                <a:srgbClr val="292929"/>
              </a:solidFill>
              <a:latin typeface="+mn-ea"/>
            </a:endParaRPr>
          </a:p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292929"/>
                </a:solidFill>
                <a:latin typeface="+mn-ea"/>
              </a:rPr>
              <a:t>企业选型难，高校研究难，缺乏量化依据</a:t>
            </a:r>
            <a:endParaRPr lang="zh-CN" altLang="en-US" sz="16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667684" y="5824303"/>
            <a:ext cx="1402080" cy="4603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solidFill>
                  <a:srgbClr val="F18276"/>
                </a:solidFill>
                <a:latin typeface="+mn-ea"/>
              </a:rPr>
              <a:t>项目目标</a:t>
            </a:r>
          </a:p>
        </p:txBody>
      </p:sp>
      <p:sp>
        <p:nvSpPr>
          <p:cNvPr id="24" name="TextBox 3073"/>
          <p:cNvSpPr txBox="1"/>
          <p:nvPr/>
        </p:nvSpPr>
        <p:spPr>
          <a:xfrm>
            <a:off x="6096000" y="4578254"/>
            <a:ext cx="2763608" cy="1156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292929"/>
                </a:solidFill>
                <a:latin typeface="+mn-ea"/>
              </a:rPr>
              <a:t>为开发者、企业、高校提供统一的开源项目评价体系</a:t>
            </a:r>
            <a:endParaRPr lang="en-US" altLang="zh-CN" sz="1600" dirty="0">
              <a:solidFill>
                <a:srgbClr val="292929"/>
              </a:solidFill>
              <a:latin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890780" y="2685014"/>
            <a:ext cx="2127505" cy="7523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2 </a:t>
            </a:r>
            <a:r>
              <a:rPr lang="zh-CN" altLang="en-US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核心创新</a:t>
            </a:r>
            <a:endParaRPr lang="zh-CN" altLang="en-US" sz="2400" b="1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72CE8-82CB-FA8E-BB0C-7F98093A5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66F1098-4143-E9D8-40E8-E465713B1539}"/>
              </a:ext>
            </a:extLst>
          </p:cNvPr>
          <p:cNvSpPr txBox="1"/>
          <p:nvPr/>
        </p:nvSpPr>
        <p:spPr>
          <a:xfrm>
            <a:off x="548640" y="1179195"/>
            <a:ext cx="2961005" cy="379730"/>
          </a:xfrm>
          <a:prstGeom prst="rect">
            <a:avLst/>
          </a:prstGeom>
        </p:spPr>
        <p:txBody>
          <a:bodyPr lIns="0" tIns="41148" rIns="0" bIns="41148" anchor="ctr"/>
          <a:lstStyle>
            <a:lvl1pPr lvl="0" algn="ctr" defTabSz="914400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/>
                <a:ea typeface="Roboto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指标权重设计说明</a:t>
            </a:r>
            <a:endParaRPr sz="2800" b="1" dirty="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31CC4213-0B49-2E8C-5BD7-2F547BE654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0D26FC1E-98E6-4A27-3CF0-ACCCDC4A48B6}"/>
              </a:ext>
            </a:extLst>
          </p:cNvPr>
          <p:cNvSpPr/>
          <p:nvPr/>
        </p:nvSpPr>
        <p:spPr>
          <a:xfrm>
            <a:off x="9704909" y="1083920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sz="1400">
              <a:solidFill>
                <a:srgbClr val="E9716F"/>
              </a:solidFill>
              <a:latin typeface="方正兰亭中粗黑_GBK"/>
              <a:ea typeface="方正兰亭中粗黑_GBK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8565C2A-ED93-AD0B-6F63-734C6F9F33F1}"/>
              </a:ext>
            </a:extLst>
          </p:cNvPr>
          <p:cNvSpPr txBox="1"/>
          <p:nvPr/>
        </p:nvSpPr>
        <p:spPr>
          <a:xfrm>
            <a:off x="2029142" y="2320743"/>
            <a:ext cx="8913180" cy="3727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i="0" dirty="0">
                <a:effectLst/>
                <a:latin typeface="+mn-ea"/>
              </a:rPr>
              <a:t>基于现有指标体系的改进</a:t>
            </a:r>
            <a:r>
              <a:rPr lang="zh-CN" altLang="en-US" sz="1600" b="0" i="0" dirty="0">
                <a:effectLst/>
                <a:latin typeface="+mn-ea"/>
              </a:rPr>
              <a:t>：理论方面，权数分配参考了</a:t>
            </a:r>
            <a:r>
              <a:rPr lang="en-US" altLang="zh-CN" sz="1600" b="0" i="0" dirty="0" err="1">
                <a:solidFill>
                  <a:srgbClr val="FF0000"/>
                </a:solidFill>
                <a:effectLst/>
                <a:latin typeface="+mn-ea"/>
              </a:rPr>
              <a:t>Xlab</a:t>
            </a:r>
            <a:r>
              <a:rPr lang="zh-CN" altLang="en-US" sz="1600" b="0" i="0" dirty="0">
                <a:solidFill>
                  <a:srgbClr val="FF0000"/>
                </a:solidFill>
                <a:effectLst/>
                <a:latin typeface="+mn-ea"/>
              </a:rPr>
              <a:t>开放实验室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赵生宇博士</a:t>
            </a:r>
            <a:r>
              <a:rPr lang="zh-CN" altLang="en-US" sz="1600" b="0" i="0" dirty="0">
                <a:effectLst/>
                <a:latin typeface="+mn-ea"/>
              </a:rPr>
              <a:t>的</a:t>
            </a:r>
            <a:r>
              <a:rPr lang="zh-CN" altLang="en-US" sz="1600" b="0" i="0" dirty="0">
                <a:solidFill>
                  <a:srgbClr val="062743"/>
                </a:solidFill>
                <a:effectLst/>
                <a:latin typeface="+mn-ea"/>
                <a:hlinkClick r:id="rId3"/>
              </a:rPr>
              <a:t>如何评价一个开源项目</a:t>
            </a:r>
            <a:r>
              <a:rPr lang="en-US" altLang="zh-CN" sz="1600" b="0" i="0" dirty="0">
                <a:solidFill>
                  <a:srgbClr val="062743"/>
                </a:solidFill>
                <a:effectLst/>
                <a:latin typeface="+mn-ea"/>
                <a:hlinkClick r:id="rId3"/>
              </a:rPr>
              <a:t>——</a:t>
            </a:r>
            <a:r>
              <a:rPr lang="zh-CN" altLang="en-US" sz="1600" b="0" i="0" dirty="0">
                <a:solidFill>
                  <a:srgbClr val="062743"/>
                </a:solidFill>
                <a:effectLst/>
                <a:latin typeface="+mn-ea"/>
                <a:hlinkClick r:id="rId3"/>
              </a:rPr>
              <a:t>活跃度</a:t>
            </a:r>
            <a:r>
              <a:rPr lang="zh-CN" altLang="en-US" sz="1600" b="0" i="0" dirty="0">
                <a:solidFill>
                  <a:srgbClr val="062743"/>
                </a:solidFill>
                <a:effectLst/>
                <a:latin typeface="+mn-ea"/>
              </a:rPr>
              <a:t>文章以及开源项目的</a:t>
            </a:r>
            <a:r>
              <a:rPr lang="en-US" altLang="zh-CN" sz="1600" b="0" i="0" dirty="0" err="1">
                <a:solidFill>
                  <a:srgbClr val="062743"/>
                </a:solidFill>
                <a:effectLst/>
                <a:latin typeface="+mn-ea"/>
                <a:hlinkClick r:id="rId4"/>
              </a:rPr>
              <a:t>Gitee</a:t>
            </a:r>
            <a:r>
              <a:rPr lang="zh-CN" altLang="en-US" sz="1600" b="0" i="0" dirty="0">
                <a:solidFill>
                  <a:srgbClr val="062743"/>
                </a:solidFill>
                <a:effectLst/>
                <a:latin typeface="+mn-ea"/>
                <a:hlinkClick r:id="rId4"/>
              </a:rPr>
              <a:t>指数</a:t>
            </a:r>
            <a:r>
              <a:rPr lang="zh-CN" altLang="en-US" sz="1600" b="0" i="0" dirty="0">
                <a:effectLst/>
                <a:latin typeface="+mn-ea"/>
              </a:rPr>
              <a:t>，并结合项目实际情况进行了必要的调整和优化。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i="0" dirty="0">
                <a:effectLst/>
                <a:latin typeface="+mn-ea"/>
              </a:rPr>
              <a:t>数据相关性分析</a:t>
            </a:r>
            <a:r>
              <a:rPr lang="zh-CN" altLang="en-US" sz="1600" b="0" i="0" dirty="0">
                <a:effectLst/>
                <a:latin typeface="+mn-ea"/>
              </a:rPr>
              <a:t>：通过对日志数据进行深入分析，使用</a:t>
            </a:r>
            <a:r>
              <a:rPr lang="en-US" altLang="zh-CN" sz="1600" b="0" i="0" dirty="0">
                <a:effectLst/>
                <a:latin typeface="+mn-ea"/>
              </a:rPr>
              <a:t>Python</a:t>
            </a:r>
            <a:r>
              <a:rPr lang="zh-CN" altLang="en-US" sz="1600" b="0" i="0" dirty="0">
                <a:effectLst/>
                <a:latin typeface="+mn-ea"/>
              </a:rPr>
              <a:t>等数据分析工具对各指标之间的相关性进行了量化评估，帮助识别出哪些指标是相互独立的，哪些指标可能存在重叠或冗余。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i="0" dirty="0">
                <a:effectLst/>
                <a:latin typeface="+mn-ea"/>
              </a:rPr>
              <a:t>指标相关图分析</a:t>
            </a:r>
            <a:r>
              <a:rPr lang="zh-CN" altLang="en-US" sz="1600" b="0" i="0" dirty="0">
                <a:effectLst/>
                <a:latin typeface="+mn-ea"/>
              </a:rPr>
              <a:t>：利用</a:t>
            </a:r>
            <a:r>
              <a:rPr lang="en-US" altLang="zh-CN" sz="1600" b="0" i="0" dirty="0">
                <a:effectLst/>
                <a:latin typeface="+mn-ea"/>
              </a:rPr>
              <a:t>Python</a:t>
            </a:r>
            <a:r>
              <a:rPr lang="zh-CN" altLang="en-US" sz="1600" b="0" i="0" dirty="0">
                <a:effectLst/>
                <a:latin typeface="+mn-ea"/>
              </a:rPr>
              <a:t>的数据分析库，绘制了指标相关图，直观地展示了不同指标之间的相关性强度。</a:t>
            </a:r>
            <a:endParaRPr lang="en-US" altLang="zh-CN" sz="1600" b="0" i="0" dirty="0">
              <a:effectLst/>
              <a:latin typeface="+mn-ea"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b="1" i="0" dirty="0">
                <a:effectLst/>
                <a:latin typeface="+mn-ea"/>
              </a:rPr>
              <a:t>迭代优化</a:t>
            </a:r>
            <a:r>
              <a:rPr lang="zh-CN" altLang="en-US" sz="1600" b="0" i="0" dirty="0">
                <a:effectLst/>
                <a:latin typeface="+mn-ea"/>
              </a:rPr>
              <a:t>：权数分配是一个</a:t>
            </a:r>
            <a:r>
              <a:rPr lang="zh-CN" altLang="en-US" sz="1600" b="0" i="0" dirty="0">
                <a:solidFill>
                  <a:srgbClr val="FF0000"/>
                </a:solidFill>
                <a:effectLst/>
                <a:latin typeface="+mn-ea"/>
              </a:rPr>
              <a:t>动态调整</a:t>
            </a:r>
            <a:r>
              <a:rPr lang="zh-CN" altLang="en-US" sz="1600" b="0" i="0" dirty="0">
                <a:effectLst/>
                <a:latin typeface="+mn-ea"/>
              </a:rPr>
              <a:t>的过程。</a:t>
            </a:r>
            <a:r>
              <a:rPr lang="zh-CN" altLang="en-US" sz="1600" dirty="0">
                <a:latin typeface="+mn-ea"/>
              </a:rPr>
              <a:t>后续</a:t>
            </a:r>
            <a:r>
              <a:rPr lang="zh-CN" altLang="en-US" sz="1600" b="0" i="0" dirty="0">
                <a:effectLst/>
                <a:latin typeface="+mn-ea"/>
              </a:rPr>
              <a:t>将根据项目进展和反馈，定期回顾和调整权数分配，以确保评估体系的持续有效性和适应性。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2637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A87026F-08DC-6ACB-5E28-C399F3EA7A3F}"/>
              </a:ext>
            </a:extLst>
          </p:cNvPr>
          <p:cNvSpPr txBox="1"/>
          <p:nvPr/>
        </p:nvSpPr>
        <p:spPr>
          <a:xfrm>
            <a:off x="347998" y="1162975"/>
            <a:ext cx="3311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ea typeface="思源黑体 CN Medium" panose="020B0600000000000000"/>
              </a:rPr>
              <a:t>2.1 </a:t>
            </a:r>
            <a:r>
              <a:rPr lang="zh-CN" altLang="en-US" sz="2800" b="1" dirty="0">
                <a:ea typeface="思源黑体 CN Medium" panose="020B0600000000000000"/>
              </a:rPr>
              <a:t>创新指标体系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2117466-DA40-A005-6E2C-5D2D923F4D5E}"/>
              </a:ext>
            </a:extLst>
          </p:cNvPr>
          <p:cNvSpPr txBox="1"/>
          <p:nvPr/>
        </p:nvSpPr>
        <p:spPr>
          <a:xfrm>
            <a:off x="7111014" y="2530136"/>
            <a:ext cx="3923930" cy="293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参考</a:t>
            </a:r>
            <a:r>
              <a:rPr lang="en-US" altLang="zh-CN" b="1" dirty="0" err="1">
                <a:latin typeface="+mn-ea"/>
              </a:rPr>
              <a:t>Gitee</a:t>
            </a:r>
            <a:r>
              <a:rPr lang="zh-CN" altLang="en-US" b="1" dirty="0">
                <a:latin typeface="+mn-ea"/>
              </a:rPr>
              <a:t>指数</a:t>
            </a:r>
            <a:r>
              <a:rPr lang="zh-CN" altLang="en-US" dirty="0">
                <a:latin typeface="+mn-ea"/>
              </a:rPr>
              <a:t>引进</a:t>
            </a:r>
            <a:r>
              <a:rPr lang="zh-CN" altLang="en-US" b="1" dirty="0">
                <a:latin typeface="+mn-ea"/>
              </a:rPr>
              <a:t>影响力、社区反应、开发者活跃度、发展趋势</a:t>
            </a:r>
            <a:r>
              <a:rPr lang="zh-CN" altLang="en-US" dirty="0">
                <a:latin typeface="+mn-ea"/>
              </a:rPr>
              <a:t>四维</a:t>
            </a:r>
            <a:r>
              <a:rPr lang="en-US" altLang="zh-CN" dirty="0" err="1">
                <a:latin typeface="+mn-ea"/>
              </a:rPr>
              <a:t>Github</a:t>
            </a:r>
            <a:r>
              <a:rPr lang="zh-CN" altLang="en-US" dirty="0">
                <a:latin typeface="+mn-ea"/>
              </a:rPr>
              <a:t>指数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业内较少的</a:t>
            </a:r>
            <a:r>
              <a:rPr lang="en-US" altLang="zh-CN" b="1" dirty="0">
                <a:latin typeface="+mn-ea"/>
              </a:rPr>
              <a:t>PREI</a:t>
            </a:r>
            <a:r>
              <a:rPr lang="zh-CN" altLang="en-US" b="1" dirty="0">
                <a:latin typeface="+mn-ea"/>
              </a:rPr>
              <a:t>（</a:t>
            </a:r>
            <a:r>
              <a:rPr lang="en-US" altLang="zh-CN" b="1" dirty="0">
                <a:latin typeface="+mn-ea"/>
              </a:rPr>
              <a:t>PR</a:t>
            </a:r>
            <a:r>
              <a:rPr lang="zh-CN" altLang="en-US" b="1" dirty="0">
                <a:latin typeface="+mn-ea"/>
              </a:rPr>
              <a:t>处理效率指数）</a:t>
            </a:r>
            <a:endParaRPr lang="en-US" altLang="zh-CN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指标处理采用：多重归一化</a:t>
            </a:r>
            <a:r>
              <a:rPr lang="en-US" altLang="zh-CN" dirty="0">
                <a:latin typeface="+mn-ea"/>
              </a:rPr>
              <a:t>+</a:t>
            </a:r>
            <a:r>
              <a:rPr lang="zh-CN" altLang="en-US" dirty="0">
                <a:latin typeface="+mn-ea"/>
              </a:rPr>
              <a:t>平滑</a:t>
            </a:r>
            <a:r>
              <a:rPr lang="en-US" altLang="zh-CN" dirty="0">
                <a:latin typeface="+mn-ea"/>
              </a:rPr>
              <a:t>+</a:t>
            </a:r>
            <a:r>
              <a:rPr lang="zh-CN" altLang="en-US" dirty="0">
                <a:latin typeface="+mn-ea"/>
              </a:rPr>
              <a:t>功效系数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科学性强、区分度高、可解释性好</a:t>
            </a:r>
          </a:p>
        </p:txBody>
      </p:sp>
      <p:pic>
        <p:nvPicPr>
          <p:cNvPr id="36" name="图片 35" descr="图形用户界面&#10;&#10;AI 生成的内容可能不正确。">
            <a:extLst>
              <a:ext uri="{FF2B5EF4-FFF2-40B4-BE49-F238E27FC236}">
                <a16:creationId xmlns:a16="http://schemas.microsoft.com/office/drawing/2014/main" id="{852526DD-2E3E-6531-DA82-4ADBAE827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725" y="2228295"/>
            <a:ext cx="6903289" cy="4230428"/>
          </a:xfrm>
          <a:prstGeom prst="rect">
            <a:avLst/>
          </a:prstGeom>
        </p:spPr>
      </p:pic>
      <p:sp>
        <p:nvSpPr>
          <p:cNvPr id="49" name="文本框 48">
            <a:extLst>
              <a:ext uri="{FF2B5EF4-FFF2-40B4-BE49-F238E27FC236}">
                <a16:creationId xmlns:a16="http://schemas.microsoft.com/office/drawing/2014/main" id="{E7507C58-C3BF-32C4-4BF5-A1690CF73ACE}"/>
              </a:ext>
            </a:extLst>
          </p:cNvPr>
          <p:cNvSpPr txBox="1"/>
          <p:nvPr/>
        </p:nvSpPr>
        <p:spPr>
          <a:xfrm>
            <a:off x="7457242" y="5788556"/>
            <a:ext cx="3799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latin typeface="+mn-ea"/>
              </a:rPr>
              <a:t>注：聚合指标权重是参考赵生宇博士的文章</a:t>
            </a:r>
            <a:r>
              <a:rPr lang="en-US" altLang="zh-CN" sz="1200" b="1" dirty="0">
                <a:latin typeface="+mn-ea"/>
              </a:rPr>
              <a:t>——</a:t>
            </a:r>
            <a:r>
              <a:rPr lang="zh-CN" altLang="en-US" sz="1200" b="1" dirty="0">
                <a:latin typeface="+mn-ea"/>
              </a:rPr>
              <a:t>如何评价一个开源项目以及其他资料综合确定的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28356-F113-60D5-E332-3943C6399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6BCC4D1-E26B-6F9A-609A-CAA9EAF16BA5}"/>
              </a:ext>
            </a:extLst>
          </p:cNvPr>
          <p:cNvSpPr txBox="1"/>
          <p:nvPr/>
        </p:nvSpPr>
        <p:spPr>
          <a:xfrm>
            <a:off x="692457" y="1296140"/>
            <a:ext cx="3311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ea typeface="思源黑体 CN Medium" panose="020B0600000000000000"/>
              </a:rPr>
              <a:t>2.1 </a:t>
            </a:r>
            <a:r>
              <a:rPr lang="zh-CN" altLang="en-US" sz="2800" b="1" dirty="0">
                <a:ea typeface="思源黑体 CN Medium" panose="020B0600000000000000"/>
              </a:rPr>
              <a:t>创新指标体系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1F3273D-4DC8-A424-87D4-3788D5C1DAF7}"/>
              </a:ext>
            </a:extLst>
          </p:cNvPr>
          <p:cNvSpPr txBox="1"/>
          <p:nvPr/>
        </p:nvSpPr>
        <p:spPr>
          <a:xfrm>
            <a:off x="7111014" y="2530136"/>
            <a:ext cx="3923930" cy="2956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参考</a:t>
            </a:r>
            <a:r>
              <a:rPr lang="en-US" altLang="zh-CN" b="1" dirty="0" err="1">
                <a:latin typeface="+mn-ea"/>
              </a:rPr>
              <a:t>Gitee</a:t>
            </a:r>
            <a:r>
              <a:rPr lang="zh-CN" altLang="en-US" b="1" dirty="0">
                <a:latin typeface="+mn-ea"/>
              </a:rPr>
              <a:t>指数</a:t>
            </a:r>
            <a:r>
              <a:rPr lang="zh-CN" altLang="en-US" dirty="0">
                <a:latin typeface="+mn-ea"/>
              </a:rPr>
              <a:t>引进</a:t>
            </a:r>
            <a:r>
              <a:rPr lang="zh-CN" altLang="en-US" b="1" dirty="0">
                <a:latin typeface="+mn-ea"/>
              </a:rPr>
              <a:t>影响力、社区反应、开发者活跃度、发展趋势</a:t>
            </a:r>
            <a:r>
              <a:rPr lang="zh-CN" altLang="en-US" dirty="0">
                <a:latin typeface="+mn-ea"/>
              </a:rPr>
              <a:t>四维</a:t>
            </a:r>
            <a:r>
              <a:rPr lang="en-US" altLang="zh-CN" dirty="0" err="1">
                <a:latin typeface="+mn-ea"/>
              </a:rPr>
              <a:t>Github</a:t>
            </a:r>
            <a:r>
              <a:rPr lang="zh-CN" altLang="en-US" dirty="0">
                <a:latin typeface="+mn-ea"/>
              </a:rPr>
              <a:t>指数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业内较少的</a:t>
            </a:r>
            <a:r>
              <a:rPr lang="en-US" altLang="zh-CN" b="1" dirty="0">
                <a:latin typeface="+mn-ea"/>
              </a:rPr>
              <a:t>PREI</a:t>
            </a:r>
            <a:r>
              <a:rPr lang="zh-CN" altLang="en-US" b="1" dirty="0">
                <a:latin typeface="+mn-ea"/>
              </a:rPr>
              <a:t>（</a:t>
            </a:r>
            <a:r>
              <a:rPr lang="en-US" altLang="zh-CN" b="1" dirty="0">
                <a:latin typeface="+mn-ea"/>
              </a:rPr>
              <a:t>PR</a:t>
            </a:r>
            <a:r>
              <a:rPr lang="zh-CN" altLang="en-US" b="1" dirty="0">
                <a:latin typeface="+mn-ea"/>
              </a:rPr>
              <a:t>处理效率指数）</a:t>
            </a:r>
            <a:endParaRPr lang="en-US" altLang="zh-CN" b="1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指标处理采用：多重归一化</a:t>
            </a:r>
            <a:r>
              <a:rPr lang="en-US" altLang="zh-CN" dirty="0">
                <a:latin typeface="+mn-ea"/>
              </a:rPr>
              <a:t>+</a:t>
            </a:r>
            <a:r>
              <a:rPr lang="zh-CN" altLang="en-US" dirty="0">
                <a:latin typeface="+mn-ea"/>
              </a:rPr>
              <a:t>平滑</a:t>
            </a:r>
            <a:r>
              <a:rPr lang="en-US" altLang="zh-CN" dirty="0">
                <a:latin typeface="+mn-ea"/>
              </a:rPr>
              <a:t>+</a:t>
            </a:r>
            <a:r>
              <a:rPr lang="zh-CN" altLang="en-US" dirty="0">
                <a:latin typeface="+mn-ea"/>
              </a:rPr>
              <a:t>功效系数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科学性强、区分度高、可解释性好</a:t>
            </a:r>
          </a:p>
        </p:txBody>
      </p:sp>
      <p:pic>
        <p:nvPicPr>
          <p:cNvPr id="4" name="图片 3" descr="图形用户界面&#10;&#10;AI 生成的内容可能不正确。">
            <a:extLst>
              <a:ext uri="{FF2B5EF4-FFF2-40B4-BE49-F238E27FC236}">
                <a16:creationId xmlns:a16="http://schemas.microsoft.com/office/drawing/2014/main" id="{6A27EA35-9054-9517-9913-031A34AD1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792" y="2643620"/>
            <a:ext cx="6842222" cy="2729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3207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C6497-EB5E-C901-F4DF-48961453A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31DB1FF-405D-B6E1-2CC4-8895F12686B3}"/>
              </a:ext>
            </a:extLst>
          </p:cNvPr>
          <p:cNvSpPr txBox="1"/>
          <p:nvPr/>
        </p:nvSpPr>
        <p:spPr>
          <a:xfrm>
            <a:off x="692457" y="1296140"/>
            <a:ext cx="3311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ea typeface="思源黑体 CN Medium" panose="020B0600000000000000"/>
              </a:rPr>
              <a:t>2.2 </a:t>
            </a:r>
            <a:r>
              <a:rPr lang="zh-CN" altLang="en-US" sz="2800" b="1" dirty="0">
                <a:ea typeface="思源黑体 CN Medium" panose="020B0600000000000000"/>
              </a:rPr>
              <a:t>双层</a:t>
            </a:r>
            <a:r>
              <a:rPr lang="en-US" altLang="zh-CN" sz="2800" b="1" dirty="0">
                <a:ea typeface="思源黑体 CN Medium" panose="020B0600000000000000"/>
              </a:rPr>
              <a:t>ETL</a:t>
            </a:r>
            <a:r>
              <a:rPr lang="zh-CN" altLang="en-US" sz="2800" b="1" dirty="0">
                <a:ea typeface="思源黑体 CN Medium" panose="020B0600000000000000"/>
              </a:rPr>
              <a:t>能力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AF9CCB-B306-8573-71AD-7A7D68F124F4}"/>
              </a:ext>
            </a:extLst>
          </p:cNvPr>
          <p:cNvSpPr txBox="1"/>
          <p:nvPr/>
        </p:nvSpPr>
        <p:spPr>
          <a:xfrm>
            <a:off x="692457" y="2361460"/>
            <a:ext cx="4216894" cy="2104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单项目</a:t>
            </a:r>
            <a:r>
              <a:rPr lang="en-US" altLang="zh-CN" b="1" dirty="0">
                <a:latin typeface="+mn-ea"/>
              </a:rPr>
              <a:t>ETL</a:t>
            </a:r>
            <a:r>
              <a:rPr lang="zh-CN" altLang="en-US" b="1" dirty="0">
                <a:latin typeface="+mn-ea"/>
              </a:rPr>
              <a:t>：</a:t>
            </a:r>
            <a:r>
              <a:rPr lang="zh-CN" altLang="en-US" dirty="0">
                <a:latin typeface="+mn-ea"/>
              </a:rPr>
              <a:t>实时处理新增项目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+mn-ea"/>
              </a:rPr>
              <a:t>整体</a:t>
            </a:r>
            <a:r>
              <a:rPr lang="en-US" altLang="zh-CN" b="1" dirty="0">
                <a:latin typeface="+mn-ea"/>
              </a:rPr>
              <a:t>ETL</a:t>
            </a:r>
            <a:r>
              <a:rPr lang="zh-CN" altLang="en-US" b="1" dirty="0">
                <a:latin typeface="+mn-ea"/>
              </a:rPr>
              <a:t>：</a:t>
            </a:r>
            <a:r>
              <a:rPr lang="zh-CN" altLang="en-US" dirty="0">
                <a:latin typeface="+mn-ea"/>
              </a:rPr>
              <a:t>自动化批量处理</a:t>
            </a:r>
            <a:r>
              <a:rPr lang="en-US" altLang="zh-CN" dirty="0">
                <a:latin typeface="+mn-ea"/>
              </a:rPr>
              <a:t>Top300</a:t>
            </a:r>
            <a:r>
              <a:rPr lang="zh-CN" altLang="en-US" dirty="0">
                <a:latin typeface="+mn-ea"/>
              </a:rPr>
              <a:t>项目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考虑数据缺失与时间跨度问题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支持</a:t>
            </a:r>
            <a:r>
              <a:rPr lang="en-US" altLang="zh-CN" dirty="0">
                <a:latin typeface="+mn-ea"/>
              </a:rPr>
              <a:t>baseline</a:t>
            </a:r>
            <a:r>
              <a:rPr lang="zh-CN" altLang="en-US" dirty="0">
                <a:latin typeface="+mn-ea"/>
              </a:rPr>
              <a:t>固定</a:t>
            </a:r>
            <a:r>
              <a:rPr lang="en-US" altLang="zh-CN" dirty="0">
                <a:latin typeface="+mn-ea"/>
              </a:rPr>
              <a:t>/</a:t>
            </a:r>
            <a:r>
              <a:rPr lang="zh-CN" altLang="en-US" dirty="0">
                <a:latin typeface="+mn-ea"/>
              </a:rPr>
              <a:t>更新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478C5F9-A45E-9BC2-0AEB-3CFCE6B3FD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9351" y="1642369"/>
            <a:ext cx="6840101" cy="3730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83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78461-882D-6B7F-9607-4C90DA370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2F2C58F-78F5-D90C-2E86-ADDF18BB6F9C}"/>
              </a:ext>
            </a:extLst>
          </p:cNvPr>
          <p:cNvSpPr txBox="1"/>
          <p:nvPr/>
        </p:nvSpPr>
        <p:spPr>
          <a:xfrm>
            <a:off x="692457" y="1296140"/>
            <a:ext cx="5592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ea typeface="思源黑体 CN Medium" panose="020B0600000000000000"/>
              </a:rPr>
              <a:t>2.3 </a:t>
            </a:r>
            <a:r>
              <a:rPr lang="zh-CN" altLang="en-US" sz="2800" b="1" dirty="0">
                <a:ea typeface="思源黑体 CN Medium" panose="020B0600000000000000"/>
              </a:rPr>
              <a:t>可配置时间窗口 </a:t>
            </a:r>
            <a:r>
              <a:rPr lang="en-US" altLang="zh-CN" sz="2800" b="1" dirty="0">
                <a:ea typeface="思源黑体 CN Medium" panose="020B0600000000000000"/>
              </a:rPr>
              <a:t>+ </a:t>
            </a:r>
            <a:r>
              <a:rPr lang="zh-CN" altLang="en-US" sz="2800" b="1" dirty="0">
                <a:ea typeface="思源黑体 CN Medium" panose="020B0600000000000000"/>
              </a:rPr>
              <a:t>自动调度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D102922-669B-D187-1E3C-1341BAEAB825}"/>
              </a:ext>
            </a:extLst>
          </p:cNvPr>
          <p:cNvSpPr txBox="1"/>
          <p:nvPr/>
        </p:nvSpPr>
        <p:spPr>
          <a:xfrm>
            <a:off x="692457" y="2361460"/>
            <a:ext cx="4216894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+mn-ea"/>
              </a:rPr>
              <a:t>后台提供：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时间范围配置（如</a:t>
            </a:r>
            <a:r>
              <a:rPr lang="en-US" altLang="zh-CN" dirty="0">
                <a:latin typeface="+mn-ea"/>
              </a:rPr>
              <a:t>2021-01~2025-10</a:t>
            </a:r>
            <a:r>
              <a:rPr lang="zh-CN" altLang="en-US" dirty="0">
                <a:latin typeface="+mn-ea"/>
              </a:rPr>
              <a:t>）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手动执行整体</a:t>
            </a:r>
            <a:r>
              <a:rPr lang="en-US" altLang="zh-CN" dirty="0">
                <a:latin typeface="+mn-ea"/>
              </a:rPr>
              <a:t>ETL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定时自动执行</a:t>
            </a:r>
            <a:r>
              <a:rPr lang="en-US" altLang="zh-CN" dirty="0">
                <a:latin typeface="+mn-ea"/>
              </a:rPr>
              <a:t>ETL</a:t>
            </a:r>
            <a:r>
              <a:rPr lang="zh-CN" altLang="en-US" dirty="0">
                <a:latin typeface="+mn-ea"/>
              </a:rPr>
              <a:t>（每月）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保证系统高可用、可维护、可扩展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dirty="0">
              <a:latin typeface="+mn-ea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83CD70-E4A6-0187-8324-13D7F4152D6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181" y="2050742"/>
            <a:ext cx="6288569" cy="343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3076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4E38D-2C96-E2B1-61DB-1E8776EF0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A4293AD-B5B2-4A00-83FC-CCBEBCAD502E}"/>
              </a:ext>
            </a:extLst>
          </p:cNvPr>
          <p:cNvSpPr txBox="1"/>
          <p:nvPr/>
        </p:nvSpPr>
        <p:spPr>
          <a:xfrm>
            <a:off x="692457" y="1296140"/>
            <a:ext cx="3977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ea typeface="思源黑体 CN Medium" panose="020B0600000000000000"/>
              </a:rPr>
              <a:t>2.4 </a:t>
            </a:r>
            <a:r>
              <a:rPr lang="zh-CN" altLang="en-US" sz="2800" b="1" dirty="0">
                <a:ea typeface="思源黑体 CN Medium" panose="020B0600000000000000"/>
              </a:rPr>
              <a:t>数据缺失值填充策略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2F70708-AAEA-8DD9-EDE1-84366CBA0AA1}"/>
              </a:ext>
            </a:extLst>
          </p:cNvPr>
          <p:cNvSpPr txBox="1"/>
          <p:nvPr/>
        </p:nvSpPr>
        <p:spPr>
          <a:xfrm>
            <a:off x="683581" y="2707689"/>
            <a:ext cx="4838330" cy="1710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起始缺失</a:t>
            </a:r>
            <a:r>
              <a:rPr lang="en-US" altLang="zh-CN" dirty="0">
                <a:latin typeface="+mn-ea"/>
              </a:rPr>
              <a:t>——</a:t>
            </a:r>
            <a:r>
              <a:rPr lang="zh-CN" altLang="en-US" dirty="0">
                <a:latin typeface="+mn-ea"/>
              </a:rPr>
              <a:t>前置零填充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中间缺失</a:t>
            </a:r>
            <a:r>
              <a:rPr lang="en-US" altLang="zh-CN" dirty="0">
                <a:latin typeface="+mn-ea"/>
              </a:rPr>
              <a:t>——</a:t>
            </a:r>
            <a:r>
              <a:rPr lang="zh-CN" altLang="en-US" dirty="0">
                <a:latin typeface="+mn-ea"/>
              </a:rPr>
              <a:t>前值填充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保证每个项目的时间序列完整性</a:t>
            </a:r>
            <a:endParaRPr lang="en-US" altLang="zh-CN" dirty="0"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ea"/>
              </a:rPr>
              <a:t>显著提升指标可靠性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2E2B1E4-F61B-31F0-B1BB-C4D280BC0B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9856" y="1946427"/>
            <a:ext cx="7238633" cy="3948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8547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275231" y="2685014"/>
            <a:ext cx="3358612" cy="7523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3 </a:t>
            </a:r>
            <a:r>
              <a:rPr lang="zh-CN" altLang="en-US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技术架构与挑战</a:t>
            </a:r>
            <a:endParaRPr lang="zh-CN" altLang="en-US" sz="2400" b="1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412A-0DB5-E4D0-2D59-562D541B4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25971F30-1430-3C3C-51E9-1406DF6521D0}"/>
              </a:ext>
            </a:extLst>
          </p:cNvPr>
          <p:cNvSpPr txBox="1"/>
          <p:nvPr/>
        </p:nvSpPr>
        <p:spPr>
          <a:xfrm>
            <a:off x="548640" y="1179195"/>
            <a:ext cx="2961005" cy="379730"/>
          </a:xfrm>
          <a:prstGeom prst="rect">
            <a:avLst/>
          </a:prstGeom>
        </p:spPr>
        <p:txBody>
          <a:bodyPr lIns="0" tIns="41148" rIns="0" bIns="41148" anchor="ctr"/>
          <a:lstStyle>
            <a:lvl1pPr lvl="0" algn="ctr" defTabSz="914400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/>
                <a:ea typeface="Roboto"/>
              </a:defRPr>
            </a:lvl1pPr>
          </a:lstStyle>
          <a:p>
            <a:pPr algn="l"/>
            <a:r>
              <a:rPr lang="en-US" altLang="zh-CN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3.1 </a:t>
            </a:r>
            <a:r>
              <a:rPr lang="zh-CN" altLang="en-US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技术架构</a:t>
            </a:r>
            <a:endParaRPr sz="2800" b="1" dirty="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FA013008-9683-D71C-195B-DE8C3B8EB29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grpSp>
        <p:nvGrpSpPr>
          <p:cNvPr id="4" name="组合 3">
            <a:extLst>
              <a:ext uri="{FF2B5EF4-FFF2-40B4-BE49-F238E27FC236}">
                <a16:creationId xmlns:a16="http://schemas.microsoft.com/office/drawing/2014/main" id="{270C1E7C-45A7-4646-2028-9846764F48CD}"/>
              </a:ext>
            </a:extLst>
          </p:cNvPr>
          <p:cNvGrpSpPr/>
          <p:nvPr/>
        </p:nvGrpSpPr>
        <p:grpSpPr>
          <a:xfrm>
            <a:off x="1050312" y="3275545"/>
            <a:ext cx="2470150" cy="894092"/>
            <a:chOff x="992041" y="3087287"/>
            <a:chExt cx="2470150" cy="894092"/>
          </a:xfrm>
        </p:grpSpPr>
        <p:sp>
          <p:nvSpPr>
            <p:cNvPr id="8" name="燕尾形 99">
              <a:extLst>
                <a:ext uri="{FF2B5EF4-FFF2-40B4-BE49-F238E27FC236}">
                  <a16:creationId xmlns:a16="http://schemas.microsoft.com/office/drawing/2014/main" id="{26D19AE9-CD23-BD98-DB54-79FF5D315CB0}"/>
                </a:ext>
              </a:extLst>
            </p:cNvPr>
            <p:cNvSpPr/>
            <p:nvPr/>
          </p:nvSpPr>
          <p:spPr>
            <a:xfrm>
              <a:off x="992041" y="3087287"/>
              <a:ext cx="2470150" cy="894092"/>
            </a:xfrm>
            <a:prstGeom prst="chevron">
              <a:avLst/>
            </a:prstGeom>
            <a:solidFill>
              <a:srgbClr val="2E75B6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9" name="TextBox 6">
              <a:extLst>
                <a:ext uri="{FF2B5EF4-FFF2-40B4-BE49-F238E27FC236}">
                  <a16:creationId xmlns:a16="http://schemas.microsoft.com/office/drawing/2014/main" id="{CAC27696-6A8B-C24A-384E-D78EEA029379}"/>
                </a:ext>
              </a:extLst>
            </p:cNvPr>
            <p:cNvSpPr txBox="1"/>
            <p:nvPr/>
          </p:nvSpPr>
          <p:spPr>
            <a:xfrm>
              <a:off x="1636999" y="3292152"/>
              <a:ext cx="1415772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400" dirty="0">
                  <a:solidFill>
                    <a:schemeClr val="bg1"/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项目架构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8B5AE7F-8343-4A05-3D13-92B60212C21B}"/>
              </a:ext>
            </a:extLst>
          </p:cNvPr>
          <p:cNvGrpSpPr/>
          <p:nvPr/>
        </p:nvGrpSpPr>
        <p:grpSpPr>
          <a:xfrm>
            <a:off x="3317262" y="3275545"/>
            <a:ext cx="2470150" cy="894092"/>
            <a:chOff x="3258991" y="3087287"/>
            <a:chExt cx="2470150" cy="894092"/>
          </a:xfrm>
        </p:grpSpPr>
        <p:sp>
          <p:nvSpPr>
            <p:cNvPr id="12" name="燕尾形 102">
              <a:extLst>
                <a:ext uri="{FF2B5EF4-FFF2-40B4-BE49-F238E27FC236}">
                  <a16:creationId xmlns:a16="http://schemas.microsoft.com/office/drawing/2014/main" id="{16B10005-66EB-8306-3A22-5E420F3E7052}"/>
                </a:ext>
              </a:extLst>
            </p:cNvPr>
            <p:cNvSpPr/>
            <p:nvPr/>
          </p:nvSpPr>
          <p:spPr>
            <a:xfrm>
              <a:off x="3258991" y="3087287"/>
              <a:ext cx="2470150" cy="894092"/>
            </a:xfrm>
            <a:prstGeom prst="chevron">
              <a:avLst/>
            </a:prstGeom>
            <a:solidFill>
              <a:srgbClr val="E9716F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36">
              <a:extLst>
                <a:ext uri="{FF2B5EF4-FFF2-40B4-BE49-F238E27FC236}">
                  <a16:creationId xmlns:a16="http://schemas.microsoft.com/office/drawing/2014/main" id="{D35E41DE-EAA0-E42D-2D37-D6B5B62C67B6}"/>
                </a:ext>
              </a:extLst>
            </p:cNvPr>
            <p:cNvSpPr txBox="1"/>
            <p:nvPr/>
          </p:nvSpPr>
          <p:spPr>
            <a:xfrm>
              <a:off x="3874631" y="3292152"/>
              <a:ext cx="1415772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方正兰亭中黑_GBK"/>
                  <a:ea typeface="思源黑体 CN Medium" panose="020B0600000000000000" charset="-122"/>
                </a:rPr>
                <a:t>数据处理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65C06E71-BE1A-1D2F-05F8-196812CB9239}"/>
              </a:ext>
            </a:extLst>
          </p:cNvPr>
          <p:cNvGrpSpPr/>
          <p:nvPr/>
        </p:nvGrpSpPr>
        <p:grpSpPr>
          <a:xfrm>
            <a:off x="5584212" y="3275545"/>
            <a:ext cx="2470150" cy="894092"/>
            <a:chOff x="5525941" y="3087287"/>
            <a:chExt cx="2470150" cy="894092"/>
          </a:xfrm>
        </p:grpSpPr>
        <p:sp>
          <p:nvSpPr>
            <p:cNvPr id="16" name="燕尾形 105">
              <a:extLst>
                <a:ext uri="{FF2B5EF4-FFF2-40B4-BE49-F238E27FC236}">
                  <a16:creationId xmlns:a16="http://schemas.microsoft.com/office/drawing/2014/main" id="{ED542660-BF6B-5F8B-CEEA-EBB85DBC1988}"/>
                </a:ext>
              </a:extLst>
            </p:cNvPr>
            <p:cNvSpPr/>
            <p:nvPr/>
          </p:nvSpPr>
          <p:spPr>
            <a:xfrm>
              <a:off x="5525941" y="3087287"/>
              <a:ext cx="2470150" cy="894092"/>
            </a:xfrm>
            <a:prstGeom prst="chevron">
              <a:avLst/>
            </a:prstGeom>
            <a:solidFill>
              <a:srgbClr val="2E75B6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7" name="TextBox 38">
              <a:extLst>
                <a:ext uri="{FF2B5EF4-FFF2-40B4-BE49-F238E27FC236}">
                  <a16:creationId xmlns:a16="http://schemas.microsoft.com/office/drawing/2014/main" id="{68471B9A-4B77-F0E5-E838-6D1560D1CC37}"/>
                </a:ext>
              </a:extLst>
            </p:cNvPr>
            <p:cNvSpPr txBox="1"/>
            <p:nvPr/>
          </p:nvSpPr>
          <p:spPr>
            <a:xfrm>
              <a:off x="6080045" y="3296631"/>
              <a:ext cx="1723549" cy="46166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方正兰亭中黑_GBK"/>
                  <a:ea typeface="思源黑体 CN Medium" panose="020B0600000000000000" charset="-122"/>
                </a:rPr>
                <a:t>可视化展示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1A1F0440-33E4-99F8-945E-F89B48087C90}"/>
              </a:ext>
            </a:extLst>
          </p:cNvPr>
          <p:cNvGrpSpPr/>
          <p:nvPr/>
        </p:nvGrpSpPr>
        <p:grpSpPr>
          <a:xfrm>
            <a:off x="7902640" y="3275545"/>
            <a:ext cx="2470150" cy="894092"/>
            <a:chOff x="7844369" y="3087287"/>
            <a:chExt cx="2470150" cy="894092"/>
          </a:xfrm>
        </p:grpSpPr>
        <p:sp>
          <p:nvSpPr>
            <p:cNvPr id="19" name="燕尾形 108">
              <a:extLst>
                <a:ext uri="{FF2B5EF4-FFF2-40B4-BE49-F238E27FC236}">
                  <a16:creationId xmlns:a16="http://schemas.microsoft.com/office/drawing/2014/main" id="{F203419D-299D-02E2-C31A-CB116D841F36}"/>
                </a:ext>
              </a:extLst>
            </p:cNvPr>
            <p:cNvSpPr/>
            <p:nvPr/>
          </p:nvSpPr>
          <p:spPr>
            <a:xfrm>
              <a:off x="7844369" y="3087287"/>
              <a:ext cx="2470150" cy="894092"/>
            </a:xfrm>
            <a:prstGeom prst="chevron">
              <a:avLst/>
            </a:prstGeom>
            <a:solidFill>
              <a:srgbClr val="E9716F"/>
            </a:solidFill>
            <a:ln>
              <a:noFill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0" name="TextBox 40">
              <a:extLst>
                <a:ext uri="{FF2B5EF4-FFF2-40B4-BE49-F238E27FC236}">
                  <a16:creationId xmlns:a16="http://schemas.microsoft.com/office/drawing/2014/main" id="{0487CC4B-CB63-A45E-B85B-F7920EA06DE0}"/>
                </a:ext>
              </a:extLst>
            </p:cNvPr>
            <p:cNvSpPr txBox="1"/>
            <p:nvPr/>
          </p:nvSpPr>
          <p:spPr>
            <a:xfrm>
              <a:off x="8468856" y="3284449"/>
              <a:ext cx="1485470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>
                  <a:solidFill>
                    <a:schemeClr val="bg1"/>
                  </a:solidFill>
                  <a:latin typeface="方正兰亭中黑_GBK"/>
                  <a:ea typeface="思源黑体 CN Medium" panose="020B0600000000000000" charset="-122"/>
                </a:rPr>
                <a:t>部署运行</a:t>
              </a:r>
            </a:p>
          </p:txBody>
        </p:sp>
      </p:grpSp>
      <p:sp>
        <p:nvSpPr>
          <p:cNvPr id="23" name="TextBox 3073">
            <a:extLst>
              <a:ext uri="{FF2B5EF4-FFF2-40B4-BE49-F238E27FC236}">
                <a16:creationId xmlns:a16="http://schemas.microsoft.com/office/drawing/2014/main" id="{80B7CF25-8D0B-D7E3-1FF5-9849451675F0}"/>
              </a:ext>
            </a:extLst>
          </p:cNvPr>
          <p:cNvSpPr txBox="1"/>
          <p:nvPr/>
        </p:nvSpPr>
        <p:spPr>
          <a:xfrm>
            <a:off x="2830195" y="4634865"/>
            <a:ext cx="3099435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 fontAlgn="auto">
              <a:lnSpc>
                <a:spcPct val="150000"/>
              </a:lnSpc>
            </a:pPr>
            <a:r>
              <a:rPr lang="zh-CN" altLang="en-US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前端</a:t>
            </a:r>
            <a:r>
              <a:rPr lang="en-US" altLang="zh-CN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:Vue3+TS+Echarts+Pinia</a:t>
            </a:r>
            <a:endParaRPr lang="zh-CN" altLang="en-US" sz="1400" dirty="0">
              <a:solidFill>
                <a:srgbClr val="2E75B6"/>
              </a:solidFill>
              <a:latin typeface="+mn-ea"/>
              <a:cs typeface="思源黑体 CN" panose="020B05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后端</a:t>
            </a:r>
            <a:r>
              <a:rPr lang="en-US" altLang="zh-CN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:Node+Express+MySQL+PM2</a:t>
            </a:r>
            <a:endParaRPr lang="zh-CN" altLang="en-US" sz="1400" dirty="0">
              <a:solidFill>
                <a:srgbClr val="2E75B6"/>
              </a:solidFill>
              <a:latin typeface="+mn-ea"/>
              <a:cs typeface="思源黑体 CN" panose="020B0500000000000000" charset="-122"/>
            </a:endParaRPr>
          </a:p>
          <a:p>
            <a:pPr indent="0" algn="just" fontAlgn="auto">
              <a:lnSpc>
                <a:spcPct val="150000"/>
              </a:lnSpc>
            </a:pPr>
            <a:r>
              <a:rPr lang="zh-CN" altLang="en-US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开发规范：</a:t>
            </a:r>
            <a:r>
              <a:rPr lang="en-US" altLang="zh-CN" sz="1400" dirty="0" err="1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Eslint</a:t>
            </a:r>
            <a:r>
              <a:rPr lang="zh-CN" altLang="en-US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、</a:t>
            </a:r>
            <a:r>
              <a:rPr lang="en-US" altLang="zh-CN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Prettier</a:t>
            </a:r>
            <a:r>
              <a:rPr lang="zh-CN" altLang="en-US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、Commitlint、Stylelint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F30506B3-1751-E441-4811-8342223B7DE9}"/>
              </a:ext>
            </a:extLst>
          </p:cNvPr>
          <p:cNvGrpSpPr/>
          <p:nvPr/>
        </p:nvGrpSpPr>
        <p:grpSpPr>
          <a:xfrm>
            <a:off x="1483923" y="4169637"/>
            <a:ext cx="1274435" cy="1127198"/>
            <a:chOff x="1933652" y="3981379"/>
            <a:chExt cx="1274435" cy="1127198"/>
          </a:xfrm>
          <a:solidFill>
            <a:srgbClr val="2E75B6"/>
          </a:solidFill>
        </p:grpSpPr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4A7D6577-D352-36B4-E2D2-5FE64F333167}"/>
                </a:ext>
              </a:extLst>
            </p:cNvPr>
            <p:cNvCxnSpPr/>
            <p:nvPr/>
          </p:nvCxnSpPr>
          <p:spPr>
            <a:xfrm>
              <a:off x="1933652" y="3981379"/>
              <a:ext cx="0" cy="1039491"/>
            </a:xfrm>
            <a:prstGeom prst="line">
              <a:avLst/>
            </a:prstGeom>
            <a:grpFill/>
            <a:ln w="19050">
              <a:solidFill>
                <a:srgbClr val="2E75B6"/>
              </a:solidFill>
              <a:prstDash val="dash"/>
              <a:miter/>
            </a:ln>
          </p:spPr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563410F2-32E2-DDC3-9563-0581E225A958}"/>
                </a:ext>
              </a:extLst>
            </p:cNvPr>
            <p:cNvCxnSpPr/>
            <p:nvPr/>
          </p:nvCxnSpPr>
          <p:spPr>
            <a:xfrm flipH="1">
              <a:off x="1933653" y="5020870"/>
              <a:ext cx="1142922" cy="0"/>
            </a:xfrm>
            <a:prstGeom prst="line">
              <a:avLst/>
            </a:prstGeom>
            <a:grpFill/>
            <a:ln w="19050">
              <a:solidFill>
                <a:srgbClr val="2E75B6"/>
              </a:solidFill>
              <a:prstDash val="dash"/>
              <a:miter/>
            </a:ln>
          </p:spPr>
        </p:cxnSp>
        <p:sp>
          <p:nvSpPr>
            <p:cNvPr id="27" name="等腰三角形 26">
              <a:extLst>
                <a:ext uri="{FF2B5EF4-FFF2-40B4-BE49-F238E27FC236}">
                  <a16:creationId xmlns:a16="http://schemas.microsoft.com/office/drawing/2014/main" id="{24434923-4DA5-E941-562C-A3D6B82B9656}"/>
                </a:ext>
              </a:extLst>
            </p:cNvPr>
            <p:cNvSpPr/>
            <p:nvPr/>
          </p:nvSpPr>
          <p:spPr>
            <a:xfrm rot="5400000">
              <a:off x="3058193" y="4958682"/>
              <a:ext cx="168276" cy="131513"/>
            </a:xfrm>
            <a:prstGeom prst="triangle">
              <a:avLst/>
            </a:prstGeom>
            <a:grpFill/>
            <a:ln w="12700">
              <a:solidFill>
                <a:srgbClr val="2E75B6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D7BE56D0-550B-DD69-8BDB-789FABF65A30}"/>
              </a:ext>
            </a:extLst>
          </p:cNvPr>
          <p:cNvGrpSpPr/>
          <p:nvPr/>
        </p:nvGrpSpPr>
        <p:grpSpPr>
          <a:xfrm rot="10800000" flipH="1">
            <a:off x="3701437" y="2125650"/>
            <a:ext cx="1274435" cy="1127198"/>
            <a:chOff x="1933652" y="3981379"/>
            <a:chExt cx="1274435" cy="1127198"/>
          </a:xfrm>
          <a:solidFill>
            <a:srgbClr val="E9716F"/>
          </a:solidFill>
        </p:grpSpPr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id="{1BCD3DDC-E758-36D0-5510-F3ACA0CC9C8F}"/>
                </a:ext>
              </a:extLst>
            </p:cNvPr>
            <p:cNvCxnSpPr/>
            <p:nvPr/>
          </p:nvCxnSpPr>
          <p:spPr>
            <a:xfrm>
              <a:off x="1933652" y="3981379"/>
              <a:ext cx="0" cy="1039491"/>
            </a:xfrm>
            <a:prstGeom prst="line">
              <a:avLst/>
            </a:prstGeom>
            <a:grpFill/>
            <a:ln w="19050">
              <a:solidFill>
                <a:srgbClr val="E9716F"/>
              </a:solidFill>
              <a:prstDash val="dash"/>
              <a:miter/>
            </a:ln>
          </p:spPr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CDBFE1E2-FE13-3EDF-8B78-78D1669B277A}"/>
                </a:ext>
              </a:extLst>
            </p:cNvPr>
            <p:cNvCxnSpPr/>
            <p:nvPr/>
          </p:nvCxnSpPr>
          <p:spPr>
            <a:xfrm flipH="1">
              <a:off x="1933653" y="5020870"/>
              <a:ext cx="1142922" cy="0"/>
            </a:xfrm>
            <a:prstGeom prst="line">
              <a:avLst/>
            </a:prstGeom>
            <a:grpFill/>
            <a:ln w="19050">
              <a:solidFill>
                <a:srgbClr val="E9716F"/>
              </a:solidFill>
              <a:prstDash val="dash"/>
              <a:miter/>
            </a:ln>
          </p:spPr>
        </p:cxnSp>
        <p:sp>
          <p:nvSpPr>
            <p:cNvPr id="31" name="等腰三角形 30">
              <a:extLst>
                <a:ext uri="{FF2B5EF4-FFF2-40B4-BE49-F238E27FC236}">
                  <a16:creationId xmlns:a16="http://schemas.microsoft.com/office/drawing/2014/main" id="{376B2893-353B-F682-FC53-E0DCBB8C2894}"/>
                </a:ext>
              </a:extLst>
            </p:cNvPr>
            <p:cNvSpPr/>
            <p:nvPr/>
          </p:nvSpPr>
          <p:spPr>
            <a:xfrm rot="5400000">
              <a:off x="3058193" y="4958682"/>
              <a:ext cx="168276" cy="131513"/>
            </a:xfrm>
            <a:prstGeom prst="triangle">
              <a:avLst/>
            </a:prstGeom>
            <a:grpFill/>
            <a:ln w="12700">
              <a:solidFill>
                <a:srgbClr val="E9716F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sp>
        <p:nvSpPr>
          <p:cNvPr id="34" name="TextBox 3073">
            <a:extLst>
              <a:ext uri="{FF2B5EF4-FFF2-40B4-BE49-F238E27FC236}">
                <a16:creationId xmlns:a16="http://schemas.microsoft.com/office/drawing/2014/main" id="{A63BAB88-0E06-ADA6-ACE7-18E18058CAD4}"/>
              </a:ext>
            </a:extLst>
          </p:cNvPr>
          <p:cNvSpPr txBox="1"/>
          <p:nvPr/>
        </p:nvSpPr>
        <p:spPr>
          <a:xfrm>
            <a:off x="4973891" y="1522827"/>
            <a:ext cx="2359894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dirty="0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 </a:t>
            </a:r>
            <a:r>
              <a:rPr sz="1400" dirty="0" err="1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使用</a:t>
            </a:r>
            <a:r>
              <a:rPr sz="1400" dirty="0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 Python </a:t>
            </a:r>
            <a:r>
              <a:rPr sz="1400" dirty="0" err="1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对数据文件进行分类、重命名、</a:t>
            </a:r>
            <a:r>
              <a:rPr lang="en-US" sz="1400" dirty="0" err="1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json</a:t>
            </a:r>
            <a:r>
              <a:rPr lang="zh-CN" altLang="en-US" sz="1400" dirty="0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转</a:t>
            </a:r>
            <a:r>
              <a:rPr lang="en-US" altLang="zh-CN" sz="1400" dirty="0" err="1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csv</a:t>
            </a:r>
            <a:r>
              <a:rPr sz="1400" dirty="0" err="1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和清洗预处理，生成可供展示的指标数据</a:t>
            </a:r>
            <a:r>
              <a:rPr sz="1400" dirty="0">
                <a:solidFill>
                  <a:srgbClr val="E9716F"/>
                </a:solidFill>
                <a:latin typeface="+mn-ea"/>
                <a:cs typeface="思源黑体 CN" panose="020B0500000000000000" charset="-122"/>
              </a:rPr>
              <a:t>。</a:t>
            </a:r>
          </a:p>
        </p:txBody>
      </p:sp>
      <p:sp>
        <p:nvSpPr>
          <p:cNvPr id="37" name="TextBox 3073">
            <a:extLst>
              <a:ext uri="{FF2B5EF4-FFF2-40B4-BE49-F238E27FC236}">
                <a16:creationId xmlns:a16="http://schemas.microsoft.com/office/drawing/2014/main" id="{AF7A4877-4A85-CFB0-A53E-68D1F74F2907}"/>
              </a:ext>
            </a:extLst>
          </p:cNvPr>
          <p:cNvSpPr txBox="1"/>
          <p:nvPr/>
        </p:nvSpPr>
        <p:spPr>
          <a:xfrm>
            <a:off x="7516548" y="4717048"/>
            <a:ext cx="2361261" cy="899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 </a:t>
            </a:r>
            <a:r>
              <a:rPr sz="1400" dirty="0" err="1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使用</a:t>
            </a:r>
            <a:r>
              <a:rPr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 Vue.js </a:t>
            </a:r>
            <a:r>
              <a:rPr sz="1400" dirty="0" err="1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搭建大屏可视化页面，结合</a:t>
            </a:r>
            <a:r>
              <a:rPr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 </a:t>
            </a:r>
            <a:r>
              <a:rPr sz="1400" dirty="0" err="1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Echarts</a:t>
            </a:r>
            <a:r>
              <a:rPr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 </a:t>
            </a:r>
            <a:r>
              <a:rPr sz="1400" dirty="0" err="1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展示和分析数据库中的数据</a:t>
            </a:r>
            <a:r>
              <a:rPr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rPr>
              <a:t>。</a:t>
            </a: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00E30CBA-6CCE-3E92-ED00-99A3E5ED0511}"/>
              </a:ext>
            </a:extLst>
          </p:cNvPr>
          <p:cNvGrpSpPr/>
          <p:nvPr/>
        </p:nvGrpSpPr>
        <p:grpSpPr>
          <a:xfrm>
            <a:off x="6157565" y="4169637"/>
            <a:ext cx="1274435" cy="1127198"/>
            <a:chOff x="1933652" y="3981379"/>
            <a:chExt cx="1274435" cy="1127198"/>
          </a:xfrm>
          <a:solidFill>
            <a:srgbClr val="2E75B6"/>
          </a:solidFill>
        </p:grpSpPr>
        <p:cxnSp>
          <p:nvCxnSpPr>
            <p:cNvPr id="39" name="直接连接符 38">
              <a:extLst>
                <a:ext uri="{FF2B5EF4-FFF2-40B4-BE49-F238E27FC236}">
                  <a16:creationId xmlns:a16="http://schemas.microsoft.com/office/drawing/2014/main" id="{3D24E968-6BC9-E7DF-F97B-C7DDA4A0DE31}"/>
                </a:ext>
              </a:extLst>
            </p:cNvPr>
            <p:cNvCxnSpPr/>
            <p:nvPr/>
          </p:nvCxnSpPr>
          <p:spPr>
            <a:xfrm>
              <a:off x="1933652" y="3981379"/>
              <a:ext cx="0" cy="1039491"/>
            </a:xfrm>
            <a:prstGeom prst="line">
              <a:avLst/>
            </a:prstGeom>
            <a:grpFill/>
            <a:ln w="19050">
              <a:solidFill>
                <a:srgbClr val="2E75B6"/>
              </a:solidFill>
              <a:prstDash val="dash"/>
              <a:miter/>
            </a:ln>
          </p:spPr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BBB2E367-6DB7-E333-9DF2-268FA0E66B7D}"/>
                </a:ext>
              </a:extLst>
            </p:cNvPr>
            <p:cNvCxnSpPr/>
            <p:nvPr/>
          </p:nvCxnSpPr>
          <p:spPr>
            <a:xfrm flipH="1">
              <a:off x="1933653" y="5020870"/>
              <a:ext cx="1142922" cy="0"/>
            </a:xfrm>
            <a:prstGeom prst="line">
              <a:avLst/>
            </a:prstGeom>
            <a:grpFill/>
            <a:ln w="19050">
              <a:solidFill>
                <a:srgbClr val="2E75B6"/>
              </a:solidFill>
              <a:prstDash val="dash"/>
              <a:miter/>
            </a:ln>
          </p:spPr>
        </p:cxnSp>
        <p:sp>
          <p:nvSpPr>
            <p:cNvPr id="41" name="等腰三角形 40">
              <a:extLst>
                <a:ext uri="{FF2B5EF4-FFF2-40B4-BE49-F238E27FC236}">
                  <a16:creationId xmlns:a16="http://schemas.microsoft.com/office/drawing/2014/main" id="{E045BE08-2DD2-ED9D-C090-183193EB7E6A}"/>
                </a:ext>
              </a:extLst>
            </p:cNvPr>
            <p:cNvSpPr/>
            <p:nvPr/>
          </p:nvSpPr>
          <p:spPr>
            <a:xfrm rot="5400000">
              <a:off x="3058193" y="4958682"/>
              <a:ext cx="168276" cy="131513"/>
            </a:xfrm>
            <a:prstGeom prst="triangle">
              <a:avLst/>
            </a:prstGeom>
            <a:grpFill/>
            <a:ln w="12700">
              <a:solidFill>
                <a:srgbClr val="2E75B6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F5C1BC5-944D-C213-7BD9-0E8EEE4930B7}"/>
              </a:ext>
            </a:extLst>
          </p:cNvPr>
          <p:cNvGrpSpPr/>
          <p:nvPr/>
        </p:nvGrpSpPr>
        <p:grpSpPr>
          <a:xfrm rot="10800000" flipH="1">
            <a:off x="8410126" y="1932932"/>
            <a:ext cx="858858" cy="1319915"/>
            <a:chOff x="1933652" y="3981379"/>
            <a:chExt cx="1274435" cy="1127198"/>
          </a:xfrm>
          <a:solidFill>
            <a:srgbClr val="E9716F"/>
          </a:solidFill>
        </p:grpSpPr>
        <p:cxnSp>
          <p:nvCxnSpPr>
            <p:cNvPr id="43" name="直接连接符 42">
              <a:extLst>
                <a:ext uri="{FF2B5EF4-FFF2-40B4-BE49-F238E27FC236}">
                  <a16:creationId xmlns:a16="http://schemas.microsoft.com/office/drawing/2014/main" id="{2E42E5B0-E003-E4AF-A336-32E4AB48DC04}"/>
                </a:ext>
              </a:extLst>
            </p:cNvPr>
            <p:cNvCxnSpPr/>
            <p:nvPr/>
          </p:nvCxnSpPr>
          <p:spPr>
            <a:xfrm>
              <a:off x="1933652" y="3981379"/>
              <a:ext cx="0" cy="1039491"/>
            </a:xfrm>
            <a:prstGeom prst="line">
              <a:avLst/>
            </a:prstGeom>
            <a:grpFill/>
            <a:ln w="19050">
              <a:solidFill>
                <a:srgbClr val="E9716F"/>
              </a:solidFill>
              <a:prstDash val="dash"/>
              <a:miter/>
            </a:ln>
          </p:spPr>
        </p:cxnSp>
        <p:cxnSp>
          <p:nvCxnSpPr>
            <p:cNvPr id="44" name="直接连接符 43">
              <a:extLst>
                <a:ext uri="{FF2B5EF4-FFF2-40B4-BE49-F238E27FC236}">
                  <a16:creationId xmlns:a16="http://schemas.microsoft.com/office/drawing/2014/main" id="{9A9D4CDA-00F5-4989-47A3-A80657196DE5}"/>
                </a:ext>
              </a:extLst>
            </p:cNvPr>
            <p:cNvCxnSpPr/>
            <p:nvPr/>
          </p:nvCxnSpPr>
          <p:spPr>
            <a:xfrm flipH="1">
              <a:off x="1933653" y="5020870"/>
              <a:ext cx="1142922" cy="0"/>
            </a:xfrm>
            <a:prstGeom prst="line">
              <a:avLst/>
            </a:prstGeom>
            <a:grpFill/>
            <a:ln w="19050">
              <a:solidFill>
                <a:srgbClr val="E9716F"/>
              </a:solidFill>
              <a:prstDash val="dash"/>
              <a:miter/>
            </a:ln>
          </p:spPr>
        </p:cxnSp>
        <p:sp>
          <p:nvSpPr>
            <p:cNvPr id="45" name="等腰三角形 44">
              <a:extLst>
                <a:ext uri="{FF2B5EF4-FFF2-40B4-BE49-F238E27FC236}">
                  <a16:creationId xmlns:a16="http://schemas.microsoft.com/office/drawing/2014/main" id="{42B48948-3CD3-CD56-C87C-FDBE5A35CD94}"/>
                </a:ext>
              </a:extLst>
            </p:cNvPr>
            <p:cNvSpPr/>
            <p:nvPr/>
          </p:nvSpPr>
          <p:spPr>
            <a:xfrm rot="5400000">
              <a:off x="3058193" y="4958682"/>
              <a:ext cx="168276" cy="131513"/>
            </a:xfrm>
            <a:prstGeom prst="triangle">
              <a:avLst/>
            </a:prstGeom>
            <a:grpFill/>
            <a:ln w="12700">
              <a:solidFill>
                <a:srgbClr val="E9716F"/>
              </a:solidFill>
              <a:prstDash val="solid"/>
              <a:miter/>
            </a:ln>
          </p:spPr>
          <p:txBody>
            <a:bodyPr anchor="ctr"/>
            <a:lstStyle/>
            <a:p>
              <a:pPr algn="ctr"/>
              <a:endParaRPr lang="zh-CN" altLang="en-US">
                <a:solidFill>
                  <a:schemeClr val="lt1"/>
                </a:solidFill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C46A9DF7-523E-1D0C-67D7-9664A705FEDC}"/>
              </a:ext>
            </a:extLst>
          </p:cNvPr>
          <p:cNvGrpSpPr/>
          <p:nvPr/>
        </p:nvGrpSpPr>
        <p:grpSpPr>
          <a:xfrm>
            <a:off x="9326143" y="1083920"/>
            <a:ext cx="2607953" cy="1403527"/>
            <a:chOff x="9218343" y="1639272"/>
            <a:chExt cx="2607953" cy="1403527"/>
          </a:xfrm>
        </p:grpSpPr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A459426B-C19F-2DBC-31C9-7B7267FA61F2}"/>
                </a:ext>
              </a:extLst>
            </p:cNvPr>
            <p:cNvSpPr/>
            <p:nvPr/>
          </p:nvSpPr>
          <p:spPr>
            <a:xfrm>
              <a:off x="9597109" y="1639272"/>
              <a:ext cx="184731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endParaRPr lang="zh-CN" altLang="en-US" sz="1400">
                <a:solidFill>
                  <a:srgbClr val="E9716F"/>
                </a:solidFill>
                <a:latin typeface="方正兰亭中粗黑_GBK"/>
                <a:ea typeface="方正兰亭中粗黑_GBK"/>
              </a:endParaRPr>
            </a:p>
          </p:txBody>
        </p:sp>
        <p:sp>
          <p:nvSpPr>
            <p:cNvPr id="48" name="TextBox 3073">
              <a:extLst>
                <a:ext uri="{FF2B5EF4-FFF2-40B4-BE49-F238E27FC236}">
                  <a16:creationId xmlns:a16="http://schemas.microsoft.com/office/drawing/2014/main" id="{AE6FF773-53C2-F48C-685C-649CD6AFE2FD}"/>
                </a:ext>
              </a:extLst>
            </p:cNvPr>
            <p:cNvSpPr txBox="1"/>
            <p:nvPr/>
          </p:nvSpPr>
          <p:spPr>
            <a:xfrm>
              <a:off x="9218343" y="1874399"/>
              <a:ext cx="2607953" cy="11684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25000"/>
                </a:lnSpc>
              </a:pPr>
              <a:r>
                <a:rPr sz="1400" dirty="0">
                  <a:solidFill>
                    <a:srgbClr val="E9716F"/>
                  </a:solidFill>
                  <a:latin typeface="+mn-ea"/>
                  <a:cs typeface="思源黑体 CN" panose="020B0500000000000000" charset="-122"/>
                </a:rPr>
                <a:t> </a:t>
              </a:r>
              <a:r>
                <a:rPr sz="1400" dirty="0" err="1">
                  <a:solidFill>
                    <a:srgbClr val="E9716F"/>
                  </a:solidFill>
                  <a:latin typeface="+mn-ea"/>
                  <a:cs typeface="思源黑体 CN" panose="020B0500000000000000" charset="-122"/>
                </a:rPr>
                <a:t>使用</a:t>
              </a:r>
              <a:r>
                <a:rPr sz="1400" dirty="0">
                  <a:solidFill>
                    <a:srgbClr val="E9716F"/>
                  </a:solidFill>
                  <a:latin typeface="+mn-ea"/>
                  <a:cs typeface="思源黑体 CN" panose="020B0500000000000000" charset="-122"/>
                </a:rPr>
                <a:t> Nginx </a:t>
              </a:r>
              <a:r>
                <a:rPr sz="1400" dirty="0" err="1">
                  <a:solidFill>
                    <a:srgbClr val="E9716F"/>
                  </a:solidFill>
                  <a:latin typeface="+mn-ea"/>
                  <a:cs typeface="思源黑体 CN" panose="020B0500000000000000" charset="-122"/>
                </a:rPr>
                <a:t>作为</a:t>
              </a:r>
              <a:r>
                <a:rPr sz="1400" dirty="0">
                  <a:solidFill>
                    <a:srgbClr val="E9716F"/>
                  </a:solidFill>
                  <a:latin typeface="+mn-ea"/>
                  <a:cs typeface="思源黑体 CN" panose="020B0500000000000000" charset="-122"/>
                </a:rPr>
                <a:t> Web </a:t>
              </a:r>
              <a:r>
                <a:rPr sz="1400" dirty="0" err="1">
                  <a:solidFill>
                    <a:srgbClr val="E9716F"/>
                  </a:solidFill>
                  <a:latin typeface="+mn-ea"/>
                  <a:cs typeface="思源黑体 CN" panose="020B0500000000000000" charset="-122"/>
                </a:rPr>
                <a:t>服务器，将静态资源部署到云服务器上，通过反向代理实现大屏服务的公网访问</a:t>
              </a:r>
              <a:r>
                <a:rPr sz="1400" dirty="0">
                  <a:solidFill>
                    <a:srgbClr val="E9716F"/>
                  </a:solidFill>
                  <a:latin typeface="+mn-ea"/>
                  <a:cs typeface="思源黑体 CN" panose="020B0500000000000000" charset="-122"/>
                </a:rPr>
                <a:t>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05273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709920" y="1454150"/>
            <a:ext cx="254000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Source Han Sans CN Regular"/>
                <a:ea typeface="Source Han Sans CN Regular"/>
              </a:rPr>
              <a:t>主内容：20pt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709920" y="1993265"/>
            <a:ext cx="2540000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Source Han Sans CN Regular"/>
                <a:ea typeface="Source Han Sans CN Regular"/>
              </a:rPr>
              <a:t>文字：</a:t>
            </a:r>
            <a:r>
              <a:rPr lang="en-US" altLang="zh-CN" sz="1600">
                <a:solidFill>
                  <a:schemeClr val="bg1"/>
                </a:solidFill>
                <a:latin typeface="Source Han Sans CN Regular"/>
                <a:ea typeface="Source Han Sans CN Regular"/>
              </a:rPr>
              <a:t>16</a:t>
            </a:r>
            <a:r>
              <a:rPr lang="zh-CN" altLang="en-US" sz="1600">
                <a:solidFill>
                  <a:schemeClr val="bg1"/>
                </a:solidFill>
                <a:latin typeface="Source Han Sans CN Regular"/>
                <a:ea typeface="Source Han Sans CN Regular"/>
              </a:rPr>
              <a:t>pt</a:t>
            </a:r>
          </a:p>
        </p:txBody>
      </p:sp>
      <p:pic>
        <p:nvPicPr>
          <p:cNvPr id="6" name="图片 5" descr="资源 3@4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02285" y="1183005"/>
            <a:ext cx="2897863" cy="523220"/>
          </a:xfrm>
          <a:prstGeom prst="rect">
            <a:avLst/>
          </a:prstGeom>
          <a:ln w="12700">
            <a:prstDash val="solid"/>
            <a:miter/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2800" b="1" dirty="0">
                <a:latin typeface="思源黑体 CN Medium" panose="020B0600000000000000" charset="-122"/>
                <a:ea typeface="思源黑体 CN Medium" panose="020B0600000000000000" charset="-122"/>
              </a:rPr>
              <a:t>3.2 </a:t>
            </a:r>
            <a:r>
              <a:rPr lang="zh-CN" altLang="zh-CN" sz="2800" b="1" dirty="0">
                <a:latin typeface="思源黑体 CN Medium" panose="020B0600000000000000" charset="-122"/>
                <a:ea typeface="思源黑体 CN Medium" panose="020B0600000000000000" charset="-122"/>
              </a:rPr>
              <a:t>技术</a:t>
            </a:r>
            <a:r>
              <a:rPr lang="zh-CN" altLang="en-US" sz="2800" b="1" dirty="0">
                <a:latin typeface="思源黑体 CN Medium" panose="020B0600000000000000" charset="-122"/>
                <a:ea typeface="思源黑体 CN Medium" panose="020B0600000000000000" charset="-122"/>
              </a:rPr>
              <a:t>挑战</a:t>
            </a:r>
            <a:endParaRPr lang="zh-CN" altLang="zh-CN" sz="2800" b="1" dirty="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" name="对角圆角矩形 31"/>
          <p:cNvSpPr/>
          <p:nvPr/>
        </p:nvSpPr>
        <p:spPr>
          <a:xfrm>
            <a:off x="4182309" y="2022708"/>
            <a:ext cx="1698620" cy="1698620"/>
          </a:xfrm>
          <a:prstGeom prst="round2DiagRect">
            <a:avLst/>
          </a:prstGeom>
          <a:solidFill>
            <a:srgbClr val="E971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对角圆角矩形 32"/>
          <p:cNvSpPr/>
          <p:nvPr/>
        </p:nvSpPr>
        <p:spPr>
          <a:xfrm rot="5400000">
            <a:off x="6127236" y="2022708"/>
            <a:ext cx="1698620" cy="1698620"/>
          </a:xfrm>
          <a:prstGeom prst="round2Diag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对角圆角矩形 33"/>
          <p:cNvSpPr/>
          <p:nvPr/>
        </p:nvSpPr>
        <p:spPr>
          <a:xfrm rot="5400000">
            <a:off x="4182309" y="3832240"/>
            <a:ext cx="1698620" cy="1698620"/>
          </a:xfrm>
          <a:prstGeom prst="round2Diag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对角圆角矩形 34"/>
          <p:cNvSpPr/>
          <p:nvPr/>
        </p:nvSpPr>
        <p:spPr>
          <a:xfrm rot="10800000">
            <a:off x="6127237" y="3832240"/>
            <a:ext cx="1698620" cy="1698620"/>
          </a:xfrm>
          <a:prstGeom prst="round2DiagRect">
            <a:avLst/>
          </a:prstGeom>
          <a:solidFill>
            <a:srgbClr val="E971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177"/>
          <p:cNvSpPr txBox="1"/>
          <p:nvPr/>
        </p:nvSpPr>
        <p:spPr>
          <a:xfrm>
            <a:off x="4320564" y="2320053"/>
            <a:ext cx="13822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charset="-122"/>
                <a:ea typeface="方正兰亭中粗黑_GBK" panose="02000000000000000000" pitchFamily="2" charset="-122"/>
              </a:rPr>
              <a:t>数据处理挑战</a:t>
            </a:r>
          </a:p>
        </p:txBody>
      </p:sp>
      <p:sp>
        <p:nvSpPr>
          <p:cNvPr id="14" name="TextBox 193"/>
          <p:cNvSpPr txBox="1"/>
          <p:nvPr/>
        </p:nvSpPr>
        <p:spPr>
          <a:xfrm>
            <a:off x="6624602" y="4386777"/>
            <a:ext cx="1067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方正兰亭中粗黑_GBK" panose="02000000000000000000" pitchFamily="2" charset="-122"/>
                <a:ea typeface="方正兰亭中粗黑_GBK" panose="02000000000000000000" pitchFamily="2" charset="-122"/>
              </a:rPr>
              <a:t>可视化性能</a:t>
            </a:r>
          </a:p>
        </p:txBody>
      </p:sp>
      <p:sp>
        <p:nvSpPr>
          <p:cNvPr id="16" name="TextBox 3073"/>
          <p:cNvSpPr txBox="1"/>
          <p:nvPr/>
        </p:nvSpPr>
        <p:spPr>
          <a:xfrm>
            <a:off x="8249920" y="3916669"/>
            <a:ext cx="2798523" cy="987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Top300 X 58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个月 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X 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多指标 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= 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数据量大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图表类型多，需实时交互</a:t>
            </a:r>
          </a:p>
        </p:txBody>
      </p:sp>
      <p:sp>
        <p:nvSpPr>
          <p:cNvPr id="18" name="TextBox 3073"/>
          <p:cNvSpPr txBox="1"/>
          <p:nvPr/>
        </p:nvSpPr>
        <p:spPr>
          <a:xfrm>
            <a:off x="8223414" y="2022708"/>
            <a:ext cx="2673349" cy="1910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单项目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&amp;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整体项目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ETL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需共享逻辑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just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数据更新频繁，需稳定可重复执行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just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调度失败需可追溯、可恢复</a:t>
            </a:r>
          </a:p>
        </p:txBody>
      </p:sp>
      <p:sp>
        <p:nvSpPr>
          <p:cNvPr id="20" name="TextBox 3073"/>
          <p:cNvSpPr txBox="1"/>
          <p:nvPr/>
        </p:nvSpPr>
        <p:spPr>
          <a:xfrm>
            <a:off x="698291" y="2072485"/>
            <a:ext cx="3381513" cy="19109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多源异构结构：</a:t>
            </a:r>
            <a:r>
              <a:rPr lang="en-US" altLang="zh-CN" sz="1600" dirty="0" err="1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json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、月度数据、时间序列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时间跨度覆盖广，数据不齐全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部分指标缺失严重，需统一修复策略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2" name="TextBox 3073"/>
          <p:cNvSpPr txBox="1"/>
          <p:nvPr/>
        </p:nvSpPr>
        <p:spPr>
          <a:xfrm>
            <a:off x="698291" y="4033872"/>
            <a:ext cx="3209391" cy="1295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多维指标、多次归一化、多级组合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趋势计算采用月度环比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功效系数映射提升可理解度</a:t>
            </a:r>
            <a:endParaRPr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6608755" y="2493143"/>
            <a:ext cx="10555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黑体 CN Medium" panose="020B0600000000000000" charset="-122"/>
                <a:ea typeface="方正兰亭中粗黑_GBK"/>
              </a:rPr>
              <a:t>ETL</a:t>
            </a:r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charset="-122"/>
                <a:ea typeface="方正兰亭中粗黑_GBK"/>
              </a:rPr>
              <a:t>系统工程化</a:t>
            </a:r>
            <a:endParaRPr lang="en-US" altLang="zh-CN" sz="2000" dirty="0">
              <a:solidFill>
                <a:schemeClr val="bg1"/>
              </a:solidFill>
              <a:latin typeface="思源黑体 CN Medium" panose="020B0600000000000000" charset="-122"/>
              <a:ea typeface="方正兰亭中粗黑_GBK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520107" y="4198496"/>
            <a:ext cx="11210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a typeface="方正兰亭中粗黑_GBK"/>
              </a:rPr>
              <a:t>指标体系计算复杂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4" presetClass="entr" presetSubtype="5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4" presetClass="entr" presetSubtype="5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4" presetClass="entr" presetSubtype="5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4" presetClass="entr" presetSubtype="5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/>
      <p:bldP spid="14" grpId="0"/>
      <p:bldP spid="16" grpId="0"/>
      <p:bldP spid="18" grpId="0"/>
      <p:bldP spid="20" grpId="0"/>
      <p:bldP spid="22" grpId="0"/>
      <p:bldP spid="23" grpId="0"/>
      <p:bldP spid="2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AE0B0-D131-06D1-7915-E290FFF46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9F34757-212C-3F50-84CA-6762BEDAB1A8}"/>
              </a:ext>
            </a:extLst>
          </p:cNvPr>
          <p:cNvSpPr txBox="1"/>
          <p:nvPr/>
        </p:nvSpPr>
        <p:spPr>
          <a:xfrm>
            <a:off x="5709920" y="1454150"/>
            <a:ext cx="2540000" cy="3987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Source Han Sans CN Regular"/>
                <a:ea typeface="Source Han Sans CN Regular"/>
              </a:rPr>
              <a:t>主内容：20pt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629E7A9-D2D1-CED8-4F02-4D540532E764}"/>
              </a:ext>
            </a:extLst>
          </p:cNvPr>
          <p:cNvSpPr txBox="1"/>
          <p:nvPr/>
        </p:nvSpPr>
        <p:spPr>
          <a:xfrm>
            <a:off x="5709920" y="1993265"/>
            <a:ext cx="2540000" cy="3371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zh-CN" altLang="en-US" sz="1600">
                <a:solidFill>
                  <a:schemeClr val="bg1"/>
                </a:solidFill>
                <a:latin typeface="Source Han Sans CN Regular"/>
                <a:ea typeface="Source Han Sans CN Regular"/>
              </a:rPr>
              <a:t>文字：</a:t>
            </a:r>
            <a:r>
              <a:rPr lang="en-US" altLang="zh-CN" sz="1600">
                <a:solidFill>
                  <a:schemeClr val="bg1"/>
                </a:solidFill>
                <a:latin typeface="Source Han Sans CN Regular"/>
                <a:ea typeface="Source Han Sans CN Regular"/>
              </a:rPr>
              <a:t>16</a:t>
            </a:r>
            <a:r>
              <a:rPr lang="zh-CN" altLang="en-US" sz="1600">
                <a:solidFill>
                  <a:schemeClr val="bg1"/>
                </a:solidFill>
                <a:latin typeface="Source Han Sans CN Regular"/>
                <a:ea typeface="Source Han Sans CN Regular"/>
              </a:rPr>
              <a:t>pt</a:t>
            </a:r>
          </a:p>
        </p:txBody>
      </p:sp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E32BFBC0-B6A5-DDFD-5770-E9EF25D4D6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17BD54B-2993-9199-2277-5FC554B3BF3F}"/>
              </a:ext>
            </a:extLst>
          </p:cNvPr>
          <p:cNvSpPr txBox="1"/>
          <p:nvPr/>
        </p:nvSpPr>
        <p:spPr>
          <a:xfrm>
            <a:off x="502285" y="1183005"/>
            <a:ext cx="2880107" cy="523220"/>
          </a:xfrm>
          <a:prstGeom prst="rect">
            <a:avLst/>
          </a:prstGeom>
          <a:ln w="12700">
            <a:prstDash val="solid"/>
            <a:miter/>
          </a:ln>
        </p:spPr>
        <p:txBody>
          <a:bodyPr wrap="square">
            <a:spAutoFit/>
          </a:bodyPr>
          <a:lstStyle/>
          <a:p>
            <a:pPr lvl="0"/>
            <a:r>
              <a:rPr lang="en-US" altLang="zh-CN" sz="2800" b="1" dirty="0">
                <a:latin typeface="思源黑体 CN Medium" panose="020B0600000000000000" charset="-122"/>
                <a:ea typeface="思源黑体 CN Medium" panose="020B0600000000000000" charset="-122"/>
              </a:rPr>
              <a:t>3.3 </a:t>
            </a:r>
            <a:r>
              <a:rPr lang="zh-CN" altLang="en-US" sz="2800" b="1" dirty="0">
                <a:latin typeface="思源黑体 CN Medium" panose="020B0600000000000000" charset="-122"/>
                <a:ea typeface="思源黑体 CN Medium" panose="020B0600000000000000" charset="-122"/>
              </a:rPr>
              <a:t>解决方案</a:t>
            </a:r>
            <a:endParaRPr lang="zh-CN" altLang="zh-CN" sz="2800" b="1" dirty="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" name="对角圆角矩形 31">
            <a:extLst>
              <a:ext uri="{FF2B5EF4-FFF2-40B4-BE49-F238E27FC236}">
                <a16:creationId xmlns:a16="http://schemas.microsoft.com/office/drawing/2014/main" id="{10BB6D42-53F6-48F7-72DD-B2F66D78A791}"/>
              </a:ext>
            </a:extLst>
          </p:cNvPr>
          <p:cNvSpPr/>
          <p:nvPr/>
        </p:nvSpPr>
        <p:spPr>
          <a:xfrm>
            <a:off x="4182309" y="2022708"/>
            <a:ext cx="1698620" cy="1698620"/>
          </a:xfrm>
          <a:prstGeom prst="round2DiagRect">
            <a:avLst/>
          </a:prstGeom>
          <a:solidFill>
            <a:srgbClr val="E971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对角圆角矩形 32">
            <a:extLst>
              <a:ext uri="{FF2B5EF4-FFF2-40B4-BE49-F238E27FC236}">
                <a16:creationId xmlns:a16="http://schemas.microsoft.com/office/drawing/2014/main" id="{2D1093F7-A651-2517-AFD2-EA9684F41405}"/>
              </a:ext>
            </a:extLst>
          </p:cNvPr>
          <p:cNvSpPr/>
          <p:nvPr/>
        </p:nvSpPr>
        <p:spPr>
          <a:xfrm rot="5400000">
            <a:off x="6127236" y="2022708"/>
            <a:ext cx="1698620" cy="1698620"/>
          </a:xfrm>
          <a:prstGeom prst="round2Diag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对角圆角矩形 33">
            <a:extLst>
              <a:ext uri="{FF2B5EF4-FFF2-40B4-BE49-F238E27FC236}">
                <a16:creationId xmlns:a16="http://schemas.microsoft.com/office/drawing/2014/main" id="{8D9F3304-023E-DF70-92AF-8B1F75008F34}"/>
              </a:ext>
            </a:extLst>
          </p:cNvPr>
          <p:cNvSpPr/>
          <p:nvPr/>
        </p:nvSpPr>
        <p:spPr>
          <a:xfrm rot="5400000">
            <a:off x="4182309" y="3832240"/>
            <a:ext cx="1698620" cy="1698620"/>
          </a:xfrm>
          <a:prstGeom prst="round2DiagRect">
            <a:avLst/>
          </a:prstGeom>
          <a:solidFill>
            <a:srgbClr val="2E75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对角圆角矩形 34">
            <a:extLst>
              <a:ext uri="{FF2B5EF4-FFF2-40B4-BE49-F238E27FC236}">
                <a16:creationId xmlns:a16="http://schemas.microsoft.com/office/drawing/2014/main" id="{4285C812-08AB-E861-E240-EA95F83CF826}"/>
              </a:ext>
            </a:extLst>
          </p:cNvPr>
          <p:cNvSpPr/>
          <p:nvPr/>
        </p:nvSpPr>
        <p:spPr>
          <a:xfrm rot="10800000">
            <a:off x="6127237" y="3832240"/>
            <a:ext cx="1698620" cy="1698620"/>
          </a:xfrm>
          <a:prstGeom prst="round2DiagRect">
            <a:avLst/>
          </a:prstGeom>
          <a:solidFill>
            <a:srgbClr val="E971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TextBox 177">
            <a:extLst>
              <a:ext uri="{FF2B5EF4-FFF2-40B4-BE49-F238E27FC236}">
                <a16:creationId xmlns:a16="http://schemas.microsoft.com/office/drawing/2014/main" id="{E03068F8-777D-C37B-AF24-77B64F6996A3}"/>
              </a:ext>
            </a:extLst>
          </p:cNvPr>
          <p:cNvSpPr txBox="1"/>
          <p:nvPr/>
        </p:nvSpPr>
        <p:spPr>
          <a:xfrm>
            <a:off x="4320564" y="2320053"/>
            <a:ext cx="13822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charset="-122"/>
                <a:ea typeface="方正兰亭中粗黑_GBK" panose="02000000000000000000" pitchFamily="2" charset="-122"/>
              </a:rPr>
              <a:t>数据处理挑战</a:t>
            </a:r>
          </a:p>
        </p:txBody>
      </p:sp>
      <p:sp>
        <p:nvSpPr>
          <p:cNvPr id="14" name="TextBox 193">
            <a:extLst>
              <a:ext uri="{FF2B5EF4-FFF2-40B4-BE49-F238E27FC236}">
                <a16:creationId xmlns:a16="http://schemas.microsoft.com/office/drawing/2014/main" id="{CAC50FE4-1395-20BE-611C-6316140AE434}"/>
              </a:ext>
            </a:extLst>
          </p:cNvPr>
          <p:cNvSpPr txBox="1"/>
          <p:nvPr/>
        </p:nvSpPr>
        <p:spPr>
          <a:xfrm>
            <a:off x="6624602" y="4386777"/>
            <a:ext cx="106711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latin typeface="方正兰亭中粗黑_GBK" panose="02000000000000000000" pitchFamily="2" charset="-122"/>
                <a:ea typeface="方正兰亭中粗黑_GBK" panose="02000000000000000000" pitchFamily="2" charset="-122"/>
              </a:rPr>
              <a:t>可视化性能</a:t>
            </a:r>
          </a:p>
        </p:txBody>
      </p:sp>
      <p:sp>
        <p:nvSpPr>
          <p:cNvPr id="16" name="TextBox 3073">
            <a:extLst>
              <a:ext uri="{FF2B5EF4-FFF2-40B4-BE49-F238E27FC236}">
                <a16:creationId xmlns:a16="http://schemas.microsoft.com/office/drawing/2014/main" id="{C197BE7C-1527-C54C-319A-44125EB08582}"/>
              </a:ext>
            </a:extLst>
          </p:cNvPr>
          <p:cNvSpPr txBox="1"/>
          <p:nvPr/>
        </p:nvSpPr>
        <p:spPr>
          <a:xfrm>
            <a:off x="8249920" y="3916669"/>
            <a:ext cx="2798523" cy="987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按需加载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缓存机制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接口优化</a:t>
            </a:r>
          </a:p>
        </p:txBody>
      </p:sp>
      <p:sp>
        <p:nvSpPr>
          <p:cNvPr id="18" name="TextBox 3073">
            <a:extLst>
              <a:ext uri="{FF2B5EF4-FFF2-40B4-BE49-F238E27FC236}">
                <a16:creationId xmlns:a16="http://schemas.microsoft.com/office/drawing/2014/main" id="{F973B276-D9FE-0FB6-CF34-2A28A198FF5B}"/>
              </a:ext>
            </a:extLst>
          </p:cNvPr>
          <p:cNvSpPr txBox="1"/>
          <p:nvPr/>
        </p:nvSpPr>
        <p:spPr>
          <a:xfrm>
            <a:off x="8223414" y="2022708"/>
            <a:ext cx="2673349" cy="12953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构建后台管理系统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just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自动调度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just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日志记录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just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失败重跑策略</a:t>
            </a:r>
          </a:p>
        </p:txBody>
      </p:sp>
      <p:sp>
        <p:nvSpPr>
          <p:cNvPr id="20" name="TextBox 3073">
            <a:extLst>
              <a:ext uri="{FF2B5EF4-FFF2-40B4-BE49-F238E27FC236}">
                <a16:creationId xmlns:a16="http://schemas.microsoft.com/office/drawing/2014/main" id="{AFAED7E2-D02D-FFF4-203D-397016AEDBF5}"/>
              </a:ext>
            </a:extLst>
          </p:cNvPr>
          <p:cNvSpPr txBox="1"/>
          <p:nvPr/>
        </p:nvSpPr>
        <p:spPr>
          <a:xfrm>
            <a:off x="698291" y="2072485"/>
            <a:ext cx="3381513" cy="9875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裁剪规则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双补全策略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自动化合并框架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2" name="TextBox 3073">
            <a:extLst>
              <a:ext uri="{FF2B5EF4-FFF2-40B4-BE49-F238E27FC236}">
                <a16:creationId xmlns:a16="http://schemas.microsoft.com/office/drawing/2014/main" id="{B410CB4B-F101-82D1-1CBC-B9233768EB1A}"/>
              </a:ext>
            </a:extLst>
          </p:cNvPr>
          <p:cNvSpPr txBox="1"/>
          <p:nvPr/>
        </p:nvSpPr>
        <p:spPr>
          <a:xfrm>
            <a:off x="698291" y="4033872"/>
            <a:ext cx="3209391" cy="1603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altLang="zh-CN" sz="1600" dirty="0" err="1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baseline_config</a:t>
            </a: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提供全局</a:t>
            </a:r>
            <a:r>
              <a:rPr lang="en-US" altLang="zh-CN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min/max</a:t>
            </a: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思源黑体 CN" panose="020B0500000000000000" charset="-122"/>
                <a:ea typeface="思源黑体 CN" panose="020B0500000000000000" charset="-122"/>
                <a:cs typeface="思源黑体 CN" panose="020B0500000000000000" charset="-122"/>
              </a:rPr>
              <a:t>让新增项目可复用整体指标体系</a:t>
            </a:r>
            <a:endParaRPr lang="en-US" altLang="zh-CN"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  <a:p>
            <a:pPr marL="285750" indent="-285750" algn="l" fontAlgn="auto">
              <a:lnSpc>
                <a:spcPct val="125000"/>
              </a:lnSpc>
              <a:buFont typeface="Arial" panose="020B0604020202020204" pitchFamily="34" charset="0"/>
              <a:buChar char="•"/>
            </a:pPr>
            <a:endParaRPr sz="1600" dirty="0">
              <a:latin typeface="思源黑体 CN" panose="020B0500000000000000" charset="-122"/>
              <a:ea typeface="思源黑体 CN" panose="020B0500000000000000" charset="-122"/>
              <a:cs typeface="思源黑体 CN" panose="020B0500000000000000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BBFC277-AC78-24BB-23B4-471096EC03FC}"/>
              </a:ext>
            </a:extLst>
          </p:cNvPr>
          <p:cNvSpPr txBox="1"/>
          <p:nvPr/>
        </p:nvSpPr>
        <p:spPr>
          <a:xfrm>
            <a:off x="6608755" y="2493143"/>
            <a:ext cx="105559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  <a:latin typeface="思源黑体 CN Medium" panose="020B0600000000000000" charset="-122"/>
                <a:ea typeface="方正兰亭中粗黑_GBK"/>
              </a:rPr>
              <a:t>ETL</a:t>
            </a:r>
            <a:r>
              <a:rPr lang="zh-CN" altLang="en-US" sz="2000" dirty="0">
                <a:solidFill>
                  <a:schemeClr val="bg1"/>
                </a:solidFill>
                <a:latin typeface="思源黑体 CN Medium" panose="020B0600000000000000" charset="-122"/>
                <a:ea typeface="方正兰亭中粗黑_GBK"/>
              </a:rPr>
              <a:t>系统工程化</a:t>
            </a:r>
            <a:endParaRPr lang="en-US" altLang="zh-CN" sz="2000" dirty="0">
              <a:solidFill>
                <a:schemeClr val="bg1"/>
              </a:solidFill>
              <a:latin typeface="思源黑体 CN Medium" panose="020B0600000000000000" charset="-122"/>
              <a:ea typeface="方正兰亭中粗黑_GBK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BC89933-3C82-5BD6-1F01-5B524564AF72}"/>
              </a:ext>
            </a:extLst>
          </p:cNvPr>
          <p:cNvSpPr txBox="1"/>
          <p:nvPr/>
        </p:nvSpPr>
        <p:spPr>
          <a:xfrm>
            <a:off x="4520107" y="4198496"/>
            <a:ext cx="112103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  <a:ea typeface="方正兰亭中粗黑_GBK"/>
              </a:rPr>
              <a:t>指标体系计算复杂</a:t>
            </a:r>
          </a:p>
        </p:txBody>
      </p:sp>
    </p:spTree>
    <p:extLst>
      <p:ext uri="{BB962C8B-B14F-4D97-AF65-F5344CB8AC3E}">
        <p14:creationId xmlns:p14="http://schemas.microsoft.com/office/powerpoint/2010/main" val="167470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14" presetClass="entr" presetSubtype="5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4" presetClass="entr" presetSubtype="5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4" presetClass="entr" presetSubtype="5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4" presetClass="entr" presetSubtype="5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/>
      <p:bldP spid="14" grpId="0"/>
      <p:bldP spid="16" grpId="0"/>
      <p:bldP spid="18" grpId="0"/>
      <p:bldP spid="20" grpId="0"/>
      <p:bldP spid="22" grpId="0"/>
      <p:bldP spid="23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4890787" y="2685014"/>
            <a:ext cx="2127505" cy="7523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4 </a:t>
            </a:r>
            <a:r>
              <a:rPr lang="zh-CN" altLang="en-US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设计方案</a:t>
            </a:r>
            <a:endParaRPr lang="zh-CN" altLang="en-US" sz="2400" b="1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3C9E-7091-3C36-E4DD-73AB01A0B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7C0CDC7-91B8-EE25-2CD9-3B7EB8C68D35}"/>
              </a:ext>
            </a:extLst>
          </p:cNvPr>
          <p:cNvSpPr txBox="1"/>
          <p:nvPr/>
        </p:nvSpPr>
        <p:spPr>
          <a:xfrm>
            <a:off x="426127" y="1109709"/>
            <a:ext cx="3977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ea typeface="思源黑体 CN Medium" panose="020B0600000000000000"/>
              </a:rPr>
              <a:t>4.1 </a:t>
            </a:r>
            <a:r>
              <a:rPr lang="zh-CN" altLang="en-US" sz="2800" b="1" dirty="0">
                <a:ea typeface="思源黑体 CN Medium" panose="020B0600000000000000"/>
              </a:rPr>
              <a:t>系统架构图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55ADA1B-A036-E46E-DDF7-B2B70DA9C63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7982" y="1845546"/>
            <a:ext cx="9001956" cy="4910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607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1E1A6-88C5-14E9-57C7-F41F6C367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FDB6292-6816-5125-C2CC-6A2A1CD71C7D}"/>
              </a:ext>
            </a:extLst>
          </p:cNvPr>
          <p:cNvSpPr txBox="1"/>
          <p:nvPr/>
        </p:nvSpPr>
        <p:spPr>
          <a:xfrm>
            <a:off x="443882" y="1100831"/>
            <a:ext cx="397719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ea typeface="思源黑体 CN Medium" panose="020B0600000000000000"/>
              </a:rPr>
              <a:t>4.2 ETL</a:t>
            </a:r>
            <a:r>
              <a:rPr lang="zh-CN" altLang="en-US" sz="2800" b="1" dirty="0">
                <a:ea typeface="思源黑体 CN Medium" panose="020B0600000000000000"/>
              </a:rPr>
              <a:t>流程图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64E8F03-30DA-923C-A45F-F7058FF5E0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799" y="1819360"/>
            <a:ext cx="8996039" cy="4906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156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F4E82F-394E-0665-947F-B5219CAF9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E8CAD097-34D7-E74B-9BC1-114E9CB6D663}"/>
              </a:ext>
            </a:extLst>
          </p:cNvPr>
          <p:cNvSpPr txBox="1"/>
          <p:nvPr/>
        </p:nvSpPr>
        <p:spPr>
          <a:xfrm>
            <a:off x="513130" y="1083920"/>
            <a:ext cx="2961005" cy="379730"/>
          </a:xfrm>
          <a:prstGeom prst="rect">
            <a:avLst/>
          </a:prstGeom>
        </p:spPr>
        <p:txBody>
          <a:bodyPr lIns="0" tIns="41148" rIns="0" bIns="41148" anchor="ctr"/>
          <a:lstStyle>
            <a:lvl1pPr lvl="0" algn="ctr" defTabSz="914400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/>
                <a:ea typeface="Roboto"/>
              </a:defRPr>
            </a:lvl1pPr>
          </a:lstStyle>
          <a:p>
            <a:pPr algn="l"/>
            <a:r>
              <a:rPr lang="en-US" altLang="zh-CN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4.3 </a:t>
            </a:r>
            <a:r>
              <a:rPr lang="zh-CN" altLang="en-US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指标设计架构</a:t>
            </a:r>
            <a:endParaRPr sz="2800" b="1" dirty="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B02FB082-C996-FEF0-C3CA-7BB9A344628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432A1AA7-91F4-82FB-D98A-65069E26F203}"/>
              </a:ext>
            </a:extLst>
          </p:cNvPr>
          <p:cNvSpPr/>
          <p:nvPr/>
        </p:nvSpPr>
        <p:spPr>
          <a:xfrm>
            <a:off x="9704909" y="1083920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sz="1400">
              <a:solidFill>
                <a:srgbClr val="E9716F"/>
              </a:solidFill>
              <a:latin typeface="方正兰亭中粗黑_GBK"/>
              <a:ea typeface="方正兰亭中粗黑_GBK"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36B0F10E-97CA-438C-C6DE-B8ED0C88C1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2071966"/>
              </p:ext>
            </p:extLst>
          </p:nvPr>
        </p:nvGraphicFramePr>
        <p:xfrm>
          <a:off x="1146701" y="1480163"/>
          <a:ext cx="10591060" cy="5349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8212">
                  <a:extLst>
                    <a:ext uri="{9D8B030D-6E8A-4147-A177-3AD203B41FA5}">
                      <a16:colId xmlns:a16="http://schemas.microsoft.com/office/drawing/2014/main" val="2953553531"/>
                    </a:ext>
                  </a:extLst>
                </a:gridCol>
                <a:gridCol w="2118212">
                  <a:extLst>
                    <a:ext uri="{9D8B030D-6E8A-4147-A177-3AD203B41FA5}">
                      <a16:colId xmlns:a16="http://schemas.microsoft.com/office/drawing/2014/main" val="2143044925"/>
                    </a:ext>
                  </a:extLst>
                </a:gridCol>
                <a:gridCol w="2118212">
                  <a:extLst>
                    <a:ext uri="{9D8B030D-6E8A-4147-A177-3AD203B41FA5}">
                      <a16:colId xmlns:a16="http://schemas.microsoft.com/office/drawing/2014/main" val="1095202779"/>
                    </a:ext>
                  </a:extLst>
                </a:gridCol>
                <a:gridCol w="2118212">
                  <a:extLst>
                    <a:ext uri="{9D8B030D-6E8A-4147-A177-3AD203B41FA5}">
                      <a16:colId xmlns:a16="http://schemas.microsoft.com/office/drawing/2014/main" val="3583820662"/>
                    </a:ext>
                  </a:extLst>
                </a:gridCol>
                <a:gridCol w="2118212">
                  <a:extLst>
                    <a:ext uri="{9D8B030D-6E8A-4147-A177-3AD203B41FA5}">
                      <a16:colId xmlns:a16="http://schemas.microsoft.com/office/drawing/2014/main" val="2423178997"/>
                    </a:ext>
                  </a:extLst>
                </a:gridCol>
              </a:tblGrid>
              <a:tr h="47758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指标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含义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来源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大屏实现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备注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220062"/>
                  </a:ext>
                </a:extLst>
              </a:tr>
              <a:tr h="666171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Github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指数（聚合指标）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综合评估项目质量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雷达图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特征归一化处理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7552315"/>
                  </a:ext>
                </a:extLst>
              </a:tr>
              <a:tr h="1046841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项目活跃度（聚合指标）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衡量项目的整体活跃水平和参与度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b="0" i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issues_new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0" i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issue_comments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0" i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change_requests_reviews</a:t>
                      </a:r>
                      <a:r>
                        <a:rPr lang="zh-CN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400" b="0" i="0" kern="1200" dirty="0" err="1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change_requests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默认展示整体活跃度，可通过下拉选择框选择项目加入到图表里面进行对比。图表选择折线图并提供切换至柱状图、下载对比图等的功能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可选择单个项目，实现与整体活跃度进行对比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2922647"/>
                  </a:ext>
                </a:extLst>
              </a:tr>
              <a:tr h="1046841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开发者活跃度（聚合指标）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体现开源项目维护人员响应和解决问题的能力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change_request_response_time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issue_response_time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change_request_resolution_duration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issue_resolution_duration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分页无限滚动虚拟列表排序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解决数据过多造成卡顿加载慢等问题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0258968"/>
                  </a:ext>
                </a:extLst>
              </a:tr>
              <a:tr h="477580"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OpenRank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体现开源项目的全域影响力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openrank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可通过下拉选择框选择项目加入到图表里面进行对比。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可选择单个项目，实现与整体</a:t>
                      </a:r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OpenRank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进行对比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2576258"/>
                  </a:ext>
                </a:extLst>
              </a:tr>
              <a:tr h="477580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关注度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为评估项目的可持续性和成长潜力提供参考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stars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、</a:t>
                      </a:r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technical_fork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折线图展示体现增长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可选择单个项目，实现与整体关注度进行对比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9214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5059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7A914-0FE3-A7DB-A729-CC1CC8B6E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72CE8D9-7394-2ABB-3859-905C4F1AC1B4}"/>
              </a:ext>
            </a:extLst>
          </p:cNvPr>
          <p:cNvSpPr txBox="1"/>
          <p:nvPr/>
        </p:nvSpPr>
        <p:spPr>
          <a:xfrm>
            <a:off x="548640" y="1179195"/>
            <a:ext cx="8115966" cy="379730"/>
          </a:xfrm>
          <a:prstGeom prst="rect">
            <a:avLst/>
          </a:prstGeom>
        </p:spPr>
        <p:txBody>
          <a:bodyPr lIns="0" tIns="41148" rIns="0" bIns="41148" anchor="ctr"/>
          <a:lstStyle>
            <a:lvl1pPr lvl="0" algn="ctr" defTabSz="914400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/>
                <a:ea typeface="Roboto"/>
              </a:defRPr>
            </a:lvl1pPr>
          </a:lstStyle>
          <a:p>
            <a:pPr algn="l"/>
            <a:r>
              <a:rPr lang="en-US" altLang="zh-CN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4.4 </a:t>
            </a:r>
            <a:r>
              <a:rPr lang="zh-CN" altLang="en-US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指标权数分配（</a:t>
            </a:r>
            <a:r>
              <a:rPr lang="en-US" altLang="zh-CN" sz="2800" b="1" dirty="0" err="1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Github</a:t>
            </a:r>
            <a:r>
              <a:rPr lang="zh-CN" altLang="en-US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指数、</a:t>
            </a:r>
            <a:r>
              <a:rPr lang="en-US" altLang="zh-CN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PREI</a:t>
            </a:r>
            <a:r>
              <a:rPr lang="zh-CN" altLang="en-US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见</a:t>
            </a:r>
            <a:r>
              <a:rPr lang="en-US" altLang="zh-CN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2.1</a:t>
            </a:r>
            <a:r>
              <a:rPr lang="zh-CN" altLang="en-US" sz="2800" b="1" dirty="0">
                <a:solidFill>
                  <a:schemeClr val="tx1"/>
                </a:solidFill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）</a:t>
            </a:r>
            <a:endParaRPr sz="2800" b="1" dirty="0">
              <a:solidFill>
                <a:schemeClr val="tx1"/>
              </a:solidFill>
              <a:latin typeface="思源黑体 CN Medium" panose="020B0600000000000000" pitchFamily="34" charset="-122"/>
              <a:ea typeface="思源黑体 CN Medium" panose="020B0600000000000000" pitchFamily="34" charset="-122"/>
            </a:endParaRPr>
          </a:p>
        </p:txBody>
      </p:sp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400CCE3A-D27C-57B2-2D36-427F6BEFE6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sp>
        <p:nvSpPr>
          <p:cNvPr id="47" name="矩形 46">
            <a:extLst>
              <a:ext uri="{FF2B5EF4-FFF2-40B4-BE49-F238E27FC236}">
                <a16:creationId xmlns:a16="http://schemas.microsoft.com/office/drawing/2014/main" id="{AD2E4CC0-AB66-31BD-BAEB-16F3EC366B7A}"/>
              </a:ext>
            </a:extLst>
          </p:cNvPr>
          <p:cNvSpPr/>
          <p:nvPr/>
        </p:nvSpPr>
        <p:spPr>
          <a:xfrm>
            <a:off x="9704909" y="1083920"/>
            <a:ext cx="1847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zh-CN" altLang="en-US" sz="1400">
              <a:solidFill>
                <a:srgbClr val="E9716F"/>
              </a:solidFill>
              <a:latin typeface="方正兰亭中粗黑_GBK"/>
              <a:ea typeface="方正兰亭中粗黑_GBK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4EA5284-4317-3FF3-BD0D-773C3AD1D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745" y="1987184"/>
            <a:ext cx="4979800" cy="17575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6F7E90B-0FDF-8E39-BA98-D45FD5F26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1900" y="1808406"/>
            <a:ext cx="3578960" cy="211513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884BDB23-5485-B185-2830-C70A334A05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871" y="4625726"/>
            <a:ext cx="4870880" cy="1534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036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3@4x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grpSp>
        <p:nvGrpSpPr>
          <p:cNvPr id="18" name="组合 17"/>
          <p:cNvGrpSpPr/>
          <p:nvPr/>
        </p:nvGrpSpPr>
        <p:grpSpPr>
          <a:xfrm>
            <a:off x="5967941" y="2744132"/>
            <a:ext cx="1184492" cy="993840"/>
            <a:chOff x="6142753" y="2439326"/>
            <a:chExt cx="1184492" cy="993840"/>
          </a:xfrm>
        </p:grpSpPr>
        <p:grpSp>
          <p:nvGrpSpPr>
            <p:cNvPr id="19" name="组合 18"/>
            <p:cNvGrpSpPr/>
            <p:nvPr/>
          </p:nvGrpSpPr>
          <p:grpSpPr>
            <a:xfrm>
              <a:off x="6438208" y="2439326"/>
              <a:ext cx="373402" cy="357114"/>
              <a:chOff x="6042259" y="5362013"/>
              <a:chExt cx="464982" cy="444699"/>
            </a:xfrm>
            <a:solidFill>
              <a:schemeClr val="bg1"/>
            </a:solidFill>
          </p:grpSpPr>
          <p:sp>
            <p:nvSpPr>
              <p:cNvPr id="21" name="Freeform 25"/>
              <p:cNvSpPr/>
              <p:nvPr/>
            </p:nvSpPr>
            <p:spPr>
              <a:xfrm>
                <a:off x="6212692" y="5681688"/>
                <a:ext cx="125025" cy="125024"/>
              </a:xfrm>
              <a:custGeom>
                <a:avLst/>
                <a:gdLst>
                  <a:gd name="T0" fmla="*/ 206 w 413"/>
                  <a:gd name="T1" fmla="*/ 413 h 413"/>
                  <a:gd name="T2" fmla="*/ 0 w 413"/>
                  <a:gd name="T3" fmla="*/ 0 h 413"/>
                  <a:gd name="T4" fmla="*/ 413 w 413"/>
                  <a:gd name="T5" fmla="*/ 0 h 413"/>
                  <a:gd name="T6" fmla="*/ 206 w 413"/>
                  <a:gd name="T7" fmla="*/ 413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025" h="125024">
                    <a:moveTo>
                      <a:pt x="62361" y="125024"/>
                    </a:moveTo>
                    <a:lnTo>
                      <a:pt x="0" y="0"/>
                    </a:lnTo>
                    <a:lnTo>
                      <a:pt x="125025" y="0"/>
                    </a:lnTo>
                    <a:lnTo>
                      <a:pt x="62361" y="1250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任意多边形 32"/>
              <p:cNvSpPr>
                <a:spLocks noChangeArrowheads="1"/>
              </p:cNvSpPr>
              <p:nvPr/>
            </p:nvSpPr>
            <p:spPr>
              <a:xfrm>
                <a:off x="6042259" y="5362013"/>
                <a:ext cx="464982" cy="338443"/>
              </a:xfrm>
              <a:custGeom>
                <a:avLst/>
                <a:gdLst>
                  <a:gd name="connsiteX0" fmla="*/ 290196 w 2438400"/>
                  <a:gd name="connsiteY0" fmla="*/ 0 h 1774825"/>
                  <a:gd name="connsiteX1" fmla="*/ 2151973 w 2438400"/>
                  <a:gd name="connsiteY1" fmla="*/ 0 h 1774825"/>
                  <a:gd name="connsiteX2" fmla="*/ 2438400 w 2438400"/>
                  <a:gd name="connsiteY2" fmla="*/ 286384 h 1774825"/>
                  <a:gd name="connsiteX3" fmla="*/ 2438400 w 2438400"/>
                  <a:gd name="connsiteY3" fmla="*/ 1484673 h 1774825"/>
                  <a:gd name="connsiteX4" fmla="*/ 2151973 w 2438400"/>
                  <a:gd name="connsiteY4" fmla="*/ 1774825 h 1774825"/>
                  <a:gd name="connsiteX5" fmla="*/ 290196 w 2438400"/>
                  <a:gd name="connsiteY5" fmla="*/ 1774825 h 1774825"/>
                  <a:gd name="connsiteX6" fmla="*/ 0 w 2438400"/>
                  <a:gd name="connsiteY6" fmla="*/ 1484673 h 1774825"/>
                  <a:gd name="connsiteX7" fmla="*/ 0 w 2438400"/>
                  <a:gd name="connsiteY7" fmla="*/ 286384 h 1774825"/>
                  <a:gd name="connsiteX8" fmla="*/ 290196 w 2438400"/>
                  <a:gd name="connsiteY8" fmla="*/ 0 h 1774825"/>
                  <a:gd name="connsiteX9" fmla="*/ 471488 w 2438400"/>
                  <a:gd name="connsiteY9" fmla="*/ 425450 h 1774825"/>
                  <a:gd name="connsiteX10" fmla="*/ 471488 w 2438400"/>
                  <a:gd name="connsiteY10" fmla="*/ 598488 h 1774825"/>
                  <a:gd name="connsiteX11" fmla="*/ 1971676 w 2438400"/>
                  <a:gd name="connsiteY11" fmla="*/ 598488 h 1774825"/>
                  <a:gd name="connsiteX12" fmla="*/ 1971676 w 2438400"/>
                  <a:gd name="connsiteY12" fmla="*/ 425450 h 1774825"/>
                  <a:gd name="connsiteX13" fmla="*/ 471488 w 2438400"/>
                  <a:gd name="connsiteY13" fmla="*/ 425450 h 1774825"/>
                  <a:gd name="connsiteX14" fmla="*/ 471488 w 2438400"/>
                  <a:gd name="connsiteY14" fmla="*/ 801688 h 1774825"/>
                  <a:gd name="connsiteX15" fmla="*/ 471488 w 2438400"/>
                  <a:gd name="connsiteY15" fmla="*/ 971551 h 1774825"/>
                  <a:gd name="connsiteX16" fmla="*/ 1971676 w 2438400"/>
                  <a:gd name="connsiteY16" fmla="*/ 971551 h 1774825"/>
                  <a:gd name="connsiteX17" fmla="*/ 1971676 w 2438400"/>
                  <a:gd name="connsiteY17" fmla="*/ 801688 h 1774825"/>
                  <a:gd name="connsiteX18" fmla="*/ 471488 w 2438400"/>
                  <a:gd name="connsiteY18" fmla="*/ 801688 h 1774825"/>
                  <a:gd name="connsiteX19" fmla="*/ 471488 w 2438400"/>
                  <a:gd name="connsiteY19" fmla="*/ 1174750 h 1774825"/>
                  <a:gd name="connsiteX20" fmla="*/ 471488 w 2438400"/>
                  <a:gd name="connsiteY20" fmla="*/ 1347788 h 1774825"/>
                  <a:gd name="connsiteX21" fmla="*/ 1971676 w 2438400"/>
                  <a:gd name="connsiteY21" fmla="*/ 1347788 h 1774825"/>
                  <a:gd name="connsiteX22" fmla="*/ 1971676 w 2438400"/>
                  <a:gd name="connsiteY22" fmla="*/ 1174750 h 1774825"/>
                  <a:gd name="connsiteX23" fmla="*/ 471488 w 2438400"/>
                  <a:gd name="connsiteY23" fmla="*/ 1174750 h 177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64982" h="338443">
                    <a:moveTo>
                      <a:pt x="55338" y="0"/>
                    </a:moveTo>
                    <a:cubicBezTo>
                      <a:pt x="410363" y="0"/>
                      <a:pt x="410363" y="0"/>
                      <a:pt x="410363" y="0"/>
                    </a:cubicBezTo>
                    <a:cubicBezTo>
                      <a:pt x="440547" y="0"/>
                      <a:pt x="464982" y="24431"/>
                      <a:pt x="464982" y="54611"/>
                    </a:cubicBezTo>
                    <a:lnTo>
                      <a:pt x="464982" y="283114"/>
                    </a:lnTo>
                    <a:cubicBezTo>
                      <a:pt x="464982" y="314012"/>
                      <a:pt x="440547" y="338443"/>
                      <a:pt x="410363" y="338443"/>
                    </a:cubicBezTo>
                    <a:cubicBezTo>
                      <a:pt x="55338" y="338443"/>
                      <a:pt x="55338" y="338443"/>
                      <a:pt x="55338" y="338443"/>
                    </a:cubicBezTo>
                    <a:cubicBezTo>
                      <a:pt x="25154" y="338443"/>
                      <a:pt x="0" y="314012"/>
                      <a:pt x="0" y="283114"/>
                    </a:cubicBezTo>
                    <a:cubicBezTo>
                      <a:pt x="0" y="54611"/>
                      <a:pt x="0" y="54611"/>
                      <a:pt x="0" y="54611"/>
                    </a:cubicBezTo>
                    <a:cubicBezTo>
                      <a:pt x="0" y="24431"/>
                      <a:pt x="25154" y="0"/>
                      <a:pt x="55338" y="0"/>
                    </a:cubicBezTo>
                    <a:close/>
                    <a:moveTo>
                      <a:pt x="89909" y="81129"/>
                    </a:moveTo>
                    <a:lnTo>
                      <a:pt x="89909" y="114126"/>
                    </a:lnTo>
                    <a:lnTo>
                      <a:pt x="375982" y="114126"/>
                    </a:lnTo>
                    <a:lnTo>
                      <a:pt x="375982" y="81129"/>
                    </a:lnTo>
                    <a:lnTo>
                      <a:pt x="89909" y="81129"/>
                    </a:lnTo>
                    <a:close/>
                    <a:moveTo>
                      <a:pt x="89909" y="152875"/>
                    </a:moveTo>
                    <a:lnTo>
                      <a:pt x="89909" y="185266"/>
                    </a:lnTo>
                    <a:lnTo>
                      <a:pt x="375982" y="185266"/>
                    </a:lnTo>
                    <a:lnTo>
                      <a:pt x="375982" y="152875"/>
                    </a:lnTo>
                    <a:lnTo>
                      <a:pt x="89909" y="152875"/>
                    </a:lnTo>
                    <a:close/>
                    <a:moveTo>
                      <a:pt x="89909" y="224014"/>
                    </a:moveTo>
                    <a:lnTo>
                      <a:pt x="89909" y="257011"/>
                    </a:lnTo>
                    <a:lnTo>
                      <a:pt x="375982" y="257011"/>
                    </a:lnTo>
                    <a:lnTo>
                      <a:pt x="375982" y="224014"/>
                    </a:lnTo>
                    <a:lnTo>
                      <a:pt x="89909" y="2240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" name="矩形 19"/>
            <p:cNvSpPr/>
            <p:nvPr/>
          </p:nvSpPr>
          <p:spPr>
            <a:xfrm>
              <a:off x="6142753" y="2848391"/>
              <a:ext cx="11844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思源黑体 CN Medium" panose="020B0600000000000000" charset="-122"/>
                  <a:ea typeface="方正兰亭中黑_GBK"/>
                </a:rPr>
                <a:t>数据处理和展示</a:t>
              </a: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027142" y="4039269"/>
            <a:ext cx="800219" cy="850564"/>
            <a:chOff x="5145854" y="3625488"/>
            <a:chExt cx="800219" cy="850564"/>
          </a:xfrm>
        </p:grpSpPr>
        <p:grpSp>
          <p:nvGrpSpPr>
            <p:cNvPr id="24" name="Group 18"/>
            <p:cNvGrpSpPr>
              <a:grpSpLocks noChangeAspect="1"/>
            </p:cNvGrpSpPr>
            <p:nvPr/>
          </p:nvGrpSpPr>
          <p:grpSpPr bwMode="auto">
            <a:xfrm>
              <a:off x="5355142" y="3625488"/>
              <a:ext cx="385124" cy="333775"/>
              <a:chOff x="3525" y="1887"/>
              <a:chExt cx="630" cy="546"/>
            </a:xfrm>
            <a:solidFill>
              <a:schemeClr val="bg1"/>
            </a:solidFill>
            <a:effectLst/>
          </p:grpSpPr>
          <p:sp>
            <p:nvSpPr>
              <p:cNvPr id="26" name="Freeform 19"/>
              <p:cNvSpPr/>
              <p:nvPr/>
            </p:nvSpPr>
            <p:spPr>
              <a:xfrm>
                <a:off x="3623" y="2117"/>
                <a:ext cx="129" cy="227"/>
              </a:xfrm>
              <a:custGeom>
                <a:avLst/>
                <a:gdLst>
                  <a:gd name="T0" fmla="*/ 4 w 54"/>
                  <a:gd name="T1" fmla="*/ 95 h 95"/>
                  <a:gd name="T2" fmla="*/ 49 w 54"/>
                  <a:gd name="T3" fmla="*/ 95 h 95"/>
                  <a:gd name="T4" fmla="*/ 54 w 54"/>
                  <a:gd name="T5" fmla="*/ 90 h 95"/>
                  <a:gd name="T6" fmla="*/ 54 w 54"/>
                  <a:gd name="T7" fmla="*/ 4 h 95"/>
                  <a:gd name="T8" fmla="*/ 49 w 54"/>
                  <a:gd name="T9" fmla="*/ 0 h 95"/>
                  <a:gd name="T10" fmla="*/ 4 w 54"/>
                  <a:gd name="T11" fmla="*/ 0 h 95"/>
                  <a:gd name="T12" fmla="*/ 0 w 54"/>
                  <a:gd name="T13" fmla="*/ 4 h 95"/>
                  <a:gd name="T14" fmla="*/ 0 w 54"/>
                  <a:gd name="T15" fmla="*/ 90 h 95"/>
                  <a:gd name="T16" fmla="*/ 4 w 54"/>
                  <a:gd name="T17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227">
                    <a:moveTo>
                      <a:pt x="10" y="227"/>
                    </a:moveTo>
                    <a:cubicBezTo>
                      <a:pt x="117" y="227"/>
                      <a:pt x="117" y="227"/>
                      <a:pt x="117" y="227"/>
                    </a:cubicBezTo>
                    <a:cubicBezTo>
                      <a:pt x="124" y="227"/>
                      <a:pt x="129" y="222"/>
                      <a:pt x="129" y="215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22"/>
                      <a:pt x="5" y="227"/>
                      <a:pt x="10" y="2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Freeform 20"/>
              <p:cNvSpPr/>
              <p:nvPr/>
            </p:nvSpPr>
            <p:spPr>
              <a:xfrm>
                <a:off x="3809" y="2033"/>
                <a:ext cx="129" cy="311"/>
              </a:xfrm>
              <a:custGeom>
                <a:avLst/>
                <a:gdLst>
                  <a:gd name="T0" fmla="*/ 5 w 54"/>
                  <a:gd name="T1" fmla="*/ 130 h 130"/>
                  <a:gd name="T2" fmla="*/ 50 w 54"/>
                  <a:gd name="T3" fmla="*/ 130 h 130"/>
                  <a:gd name="T4" fmla="*/ 54 w 54"/>
                  <a:gd name="T5" fmla="*/ 125 h 130"/>
                  <a:gd name="T6" fmla="*/ 54 w 54"/>
                  <a:gd name="T7" fmla="*/ 5 h 130"/>
                  <a:gd name="T8" fmla="*/ 50 w 54"/>
                  <a:gd name="T9" fmla="*/ 0 h 130"/>
                  <a:gd name="T10" fmla="*/ 5 w 54"/>
                  <a:gd name="T11" fmla="*/ 0 h 130"/>
                  <a:gd name="T12" fmla="*/ 0 w 54"/>
                  <a:gd name="T13" fmla="*/ 5 h 130"/>
                  <a:gd name="T14" fmla="*/ 0 w 54"/>
                  <a:gd name="T15" fmla="*/ 125 h 130"/>
                  <a:gd name="T16" fmla="*/ 5 w 54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11">
                    <a:moveTo>
                      <a:pt x="12" y="311"/>
                    </a:moveTo>
                    <a:cubicBezTo>
                      <a:pt x="119" y="311"/>
                      <a:pt x="119" y="311"/>
                      <a:pt x="119" y="311"/>
                    </a:cubicBezTo>
                    <a:cubicBezTo>
                      <a:pt x="124" y="311"/>
                      <a:pt x="129" y="306"/>
                      <a:pt x="129" y="299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9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299"/>
                      <a:pt x="0" y="299"/>
                      <a:pt x="0" y="299"/>
                    </a:cubicBezTo>
                    <a:cubicBezTo>
                      <a:pt x="0" y="306"/>
                      <a:pt x="5" y="311"/>
                      <a:pt x="12" y="3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Freeform 21"/>
              <p:cNvSpPr/>
              <p:nvPr/>
            </p:nvSpPr>
            <p:spPr>
              <a:xfrm>
                <a:off x="3997" y="1964"/>
                <a:ext cx="129" cy="380"/>
              </a:xfrm>
              <a:custGeom>
                <a:avLst/>
                <a:gdLst>
                  <a:gd name="T0" fmla="*/ 4 w 54"/>
                  <a:gd name="T1" fmla="*/ 159 h 159"/>
                  <a:gd name="T2" fmla="*/ 49 w 54"/>
                  <a:gd name="T3" fmla="*/ 159 h 159"/>
                  <a:gd name="T4" fmla="*/ 54 w 54"/>
                  <a:gd name="T5" fmla="*/ 154 h 159"/>
                  <a:gd name="T6" fmla="*/ 54 w 54"/>
                  <a:gd name="T7" fmla="*/ 5 h 159"/>
                  <a:gd name="T8" fmla="*/ 49 w 54"/>
                  <a:gd name="T9" fmla="*/ 0 h 159"/>
                  <a:gd name="T10" fmla="*/ 4 w 54"/>
                  <a:gd name="T11" fmla="*/ 0 h 159"/>
                  <a:gd name="T12" fmla="*/ 0 w 54"/>
                  <a:gd name="T13" fmla="*/ 5 h 159"/>
                  <a:gd name="T14" fmla="*/ 0 w 54"/>
                  <a:gd name="T15" fmla="*/ 154 h 159"/>
                  <a:gd name="T16" fmla="*/ 4 w 54"/>
                  <a:gd name="T17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80">
                    <a:moveTo>
                      <a:pt x="10" y="380"/>
                    </a:moveTo>
                    <a:cubicBezTo>
                      <a:pt x="117" y="380"/>
                      <a:pt x="117" y="380"/>
                      <a:pt x="117" y="380"/>
                    </a:cubicBezTo>
                    <a:cubicBezTo>
                      <a:pt x="124" y="380"/>
                      <a:pt x="129" y="375"/>
                      <a:pt x="129" y="368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368"/>
                      <a:pt x="0" y="368"/>
                      <a:pt x="0" y="368"/>
                    </a:cubicBezTo>
                    <a:cubicBezTo>
                      <a:pt x="0" y="375"/>
                      <a:pt x="5" y="380"/>
                      <a:pt x="10" y="3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Freeform 22"/>
              <p:cNvSpPr/>
              <p:nvPr/>
            </p:nvSpPr>
            <p:spPr>
              <a:xfrm>
                <a:off x="3525" y="1887"/>
                <a:ext cx="630" cy="546"/>
              </a:xfrm>
              <a:custGeom>
                <a:avLst/>
                <a:gdLst>
                  <a:gd name="T0" fmla="*/ 253 w 264"/>
                  <a:gd name="T1" fmla="*/ 206 h 228"/>
                  <a:gd name="T2" fmla="*/ 23 w 264"/>
                  <a:gd name="T3" fmla="*/ 206 h 228"/>
                  <a:gd name="T4" fmla="*/ 22 w 264"/>
                  <a:gd name="T5" fmla="*/ 206 h 228"/>
                  <a:gd name="T6" fmla="*/ 22 w 264"/>
                  <a:gd name="T7" fmla="*/ 11 h 228"/>
                  <a:gd name="T8" fmla="*/ 11 w 264"/>
                  <a:gd name="T9" fmla="*/ 0 h 228"/>
                  <a:gd name="T10" fmla="*/ 0 w 264"/>
                  <a:gd name="T11" fmla="*/ 11 h 228"/>
                  <a:gd name="T12" fmla="*/ 0 w 264"/>
                  <a:gd name="T13" fmla="*/ 206 h 228"/>
                  <a:gd name="T14" fmla="*/ 23 w 264"/>
                  <a:gd name="T15" fmla="*/ 228 h 228"/>
                  <a:gd name="T16" fmla="*/ 253 w 264"/>
                  <a:gd name="T17" fmla="*/ 228 h 228"/>
                  <a:gd name="T18" fmla="*/ 264 w 264"/>
                  <a:gd name="T19" fmla="*/ 217 h 228"/>
                  <a:gd name="T20" fmla="*/ 253 w 264"/>
                  <a:gd name="T21" fmla="*/ 206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30" h="546">
                    <a:moveTo>
                      <a:pt x="604" y="493"/>
                    </a:moveTo>
                    <a:cubicBezTo>
                      <a:pt x="55" y="493"/>
                      <a:pt x="55" y="493"/>
                      <a:pt x="55" y="493"/>
                    </a:cubicBezTo>
                    <a:cubicBezTo>
                      <a:pt x="53" y="493"/>
                      <a:pt x="53" y="493"/>
                      <a:pt x="53" y="493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53" y="12"/>
                      <a:pt x="41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93"/>
                      <a:pt x="0" y="493"/>
                      <a:pt x="0" y="493"/>
                    </a:cubicBezTo>
                    <a:cubicBezTo>
                      <a:pt x="0" y="522"/>
                      <a:pt x="24" y="546"/>
                      <a:pt x="55" y="546"/>
                    </a:cubicBezTo>
                    <a:cubicBezTo>
                      <a:pt x="604" y="546"/>
                      <a:pt x="604" y="546"/>
                      <a:pt x="604" y="546"/>
                    </a:cubicBezTo>
                    <a:cubicBezTo>
                      <a:pt x="618" y="546"/>
                      <a:pt x="630" y="534"/>
                      <a:pt x="630" y="520"/>
                    </a:cubicBezTo>
                    <a:cubicBezTo>
                      <a:pt x="630" y="505"/>
                      <a:pt x="618" y="493"/>
                      <a:pt x="604" y="4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5" name="矩形 24"/>
            <p:cNvSpPr/>
            <p:nvPr/>
          </p:nvSpPr>
          <p:spPr>
            <a:xfrm>
              <a:off x="5145854" y="4137498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数据源</a:t>
              </a: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6248591" y="4704544"/>
            <a:ext cx="1005403" cy="868051"/>
            <a:chOff x="6423403" y="4399738"/>
            <a:chExt cx="1005403" cy="868051"/>
          </a:xfrm>
        </p:grpSpPr>
        <p:sp>
          <p:nvSpPr>
            <p:cNvPr id="31" name="Freeform 18"/>
            <p:cNvSpPr>
              <a:spLocks noEditPoints="1"/>
            </p:cNvSpPr>
            <p:nvPr/>
          </p:nvSpPr>
          <p:spPr>
            <a:xfrm>
              <a:off x="6739622" y="4399738"/>
              <a:ext cx="371762" cy="370579"/>
            </a:xfrm>
            <a:custGeom>
              <a:avLst/>
              <a:gdLst>
                <a:gd name="T0" fmla="*/ 52 w 341"/>
                <a:gd name="T1" fmla="*/ 0 h 340"/>
                <a:gd name="T2" fmla="*/ 289 w 341"/>
                <a:gd name="T3" fmla="*/ 0 h 340"/>
                <a:gd name="T4" fmla="*/ 341 w 341"/>
                <a:gd name="T5" fmla="*/ 51 h 340"/>
                <a:gd name="T6" fmla="*/ 341 w 341"/>
                <a:gd name="T7" fmla="*/ 289 h 340"/>
                <a:gd name="T8" fmla="*/ 289 w 341"/>
                <a:gd name="T9" fmla="*/ 340 h 340"/>
                <a:gd name="T10" fmla="*/ 52 w 341"/>
                <a:gd name="T11" fmla="*/ 340 h 340"/>
                <a:gd name="T12" fmla="*/ 0 w 341"/>
                <a:gd name="T13" fmla="*/ 289 h 340"/>
                <a:gd name="T14" fmla="*/ 0 w 341"/>
                <a:gd name="T15" fmla="*/ 51 h 340"/>
                <a:gd name="T16" fmla="*/ 52 w 341"/>
                <a:gd name="T17" fmla="*/ 0 h 340"/>
                <a:gd name="T18" fmla="*/ 71 w 341"/>
                <a:gd name="T19" fmla="*/ 37 h 340"/>
                <a:gd name="T20" fmla="*/ 38 w 341"/>
                <a:gd name="T21" fmla="*/ 70 h 340"/>
                <a:gd name="T22" fmla="*/ 38 w 341"/>
                <a:gd name="T23" fmla="*/ 269 h 340"/>
                <a:gd name="T24" fmla="*/ 71 w 341"/>
                <a:gd name="T25" fmla="*/ 302 h 340"/>
                <a:gd name="T26" fmla="*/ 270 w 341"/>
                <a:gd name="T27" fmla="*/ 302 h 340"/>
                <a:gd name="T28" fmla="*/ 303 w 341"/>
                <a:gd name="T29" fmla="*/ 269 h 340"/>
                <a:gd name="T30" fmla="*/ 303 w 341"/>
                <a:gd name="T31" fmla="*/ 70 h 340"/>
                <a:gd name="T32" fmla="*/ 270 w 341"/>
                <a:gd name="T33" fmla="*/ 37 h 340"/>
                <a:gd name="T34" fmla="*/ 71 w 341"/>
                <a:gd name="T35" fmla="*/ 37 h 340"/>
                <a:gd name="T36" fmla="*/ 170 w 341"/>
                <a:gd name="T37" fmla="*/ 244 h 340"/>
                <a:gd name="T38" fmla="*/ 157 w 341"/>
                <a:gd name="T39" fmla="*/ 258 h 340"/>
                <a:gd name="T40" fmla="*/ 157 w 341"/>
                <a:gd name="T41" fmla="*/ 283 h 340"/>
                <a:gd name="T42" fmla="*/ 170 w 341"/>
                <a:gd name="T43" fmla="*/ 296 h 340"/>
                <a:gd name="T44" fmla="*/ 184 w 341"/>
                <a:gd name="T45" fmla="*/ 283 h 340"/>
                <a:gd name="T46" fmla="*/ 184 w 341"/>
                <a:gd name="T47" fmla="*/ 258 h 340"/>
                <a:gd name="T48" fmla="*/ 170 w 341"/>
                <a:gd name="T49" fmla="*/ 244 h 340"/>
                <a:gd name="T50" fmla="*/ 245 w 341"/>
                <a:gd name="T51" fmla="*/ 170 h 340"/>
                <a:gd name="T52" fmla="*/ 259 w 341"/>
                <a:gd name="T53" fmla="*/ 183 h 340"/>
                <a:gd name="T54" fmla="*/ 284 w 341"/>
                <a:gd name="T55" fmla="*/ 183 h 340"/>
                <a:gd name="T56" fmla="*/ 297 w 341"/>
                <a:gd name="T57" fmla="*/ 170 h 340"/>
                <a:gd name="T58" fmla="*/ 284 w 341"/>
                <a:gd name="T59" fmla="*/ 156 h 340"/>
                <a:gd name="T60" fmla="*/ 259 w 341"/>
                <a:gd name="T61" fmla="*/ 156 h 340"/>
                <a:gd name="T62" fmla="*/ 245 w 341"/>
                <a:gd name="T63" fmla="*/ 170 h 340"/>
                <a:gd name="T64" fmla="*/ 170 w 341"/>
                <a:gd name="T65" fmla="*/ 43 h 340"/>
                <a:gd name="T66" fmla="*/ 157 w 341"/>
                <a:gd name="T67" fmla="*/ 57 h 340"/>
                <a:gd name="T68" fmla="*/ 157 w 341"/>
                <a:gd name="T69" fmla="*/ 82 h 340"/>
                <a:gd name="T70" fmla="*/ 170 w 341"/>
                <a:gd name="T71" fmla="*/ 95 h 340"/>
                <a:gd name="T72" fmla="*/ 184 w 341"/>
                <a:gd name="T73" fmla="*/ 82 h 340"/>
                <a:gd name="T74" fmla="*/ 184 w 341"/>
                <a:gd name="T75" fmla="*/ 57 h 340"/>
                <a:gd name="T76" fmla="*/ 170 w 341"/>
                <a:gd name="T77" fmla="*/ 43 h 340"/>
                <a:gd name="T78" fmla="*/ 189 w 341"/>
                <a:gd name="T79" fmla="*/ 172 h 340"/>
                <a:gd name="T80" fmla="*/ 217 w 341"/>
                <a:gd name="T81" fmla="*/ 143 h 340"/>
                <a:gd name="T82" fmla="*/ 217 w 341"/>
                <a:gd name="T83" fmla="*/ 125 h 340"/>
                <a:gd name="T84" fmla="*/ 199 w 341"/>
                <a:gd name="T85" fmla="*/ 125 h 340"/>
                <a:gd name="T86" fmla="*/ 173 w 341"/>
                <a:gd name="T87" fmla="*/ 152 h 340"/>
                <a:gd name="T88" fmla="*/ 170 w 341"/>
                <a:gd name="T89" fmla="*/ 152 h 340"/>
                <a:gd name="T90" fmla="*/ 166 w 341"/>
                <a:gd name="T91" fmla="*/ 152 h 340"/>
                <a:gd name="T92" fmla="*/ 114 w 341"/>
                <a:gd name="T93" fmla="*/ 98 h 340"/>
                <a:gd name="T94" fmla="*/ 101 w 341"/>
                <a:gd name="T95" fmla="*/ 98 h 340"/>
                <a:gd name="T96" fmla="*/ 100 w 341"/>
                <a:gd name="T97" fmla="*/ 111 h 340"/>
                <a:gd name="T98" fmla="*/ 153 w 341"/>
                <a:gd name="T99" fmla="*/ 165 h 340"/>
                <a:gd name="T100" fmla="*/ 152 w 341"/>
                <a:gd name="T101" fmla="*/ 170 h 340"/>
                <a:gd name="T102" fmla="*/ 170 w 341"/>
                <a:gd name="T103" fmla="*/ 188 h 340"/>
                <a:gd name="T104" fmla="*/ 189 w 341"/>
                <a:gd name="T105" fmla="*/ 172 h 340"/>
                <a:gd name="T106" fmla="*/ 44 w 341"/>
                <a:gd name="T107" fmla="*/ 170 h 340"/>
                <a:gd name="T108" fmla="*/ 57 w 341"/>
                <a:gd name="T109" fmla="*/ 183 h 340"/>
                <a:gd name="T110" fmla="*/ 82 w 341"/>
                <a:gd name="T111" fmla="*/ 183 h 340"/>
                <a:gd name="T112" fmla="*/ 96 w 341"/>
                <a:gd name="T113" fmla="*/ 170 h 340"/>
                <a:gd name="T114" fmla="*/ 82 w 341"/>
                <a:gd name="T115" fmla="*/ 156 h 340"/>
                <a:gd name="T116" fmla="*/ 57 w 341"/>
                <a:gd name="T117" fmla="*/ 156 h 340"/>
                <a:gd name="T118" fmla="*/ 44 w 341"/>
                <a:gd name="T119" fmla="*/ 17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71762" h="370579">
                  <a:moveTo>
                    <a:pt x="56691" y="0"/>
                  </a:moveTo>
                  <a:cubicBezTo>
                    <a:pt x="315071" y="0"/>
                    <a:pt x="315071" y="0"/>
                    <a:pt x="315071" y="0"/>
                  </a:cubicBezTo>
                  <a:cubicBezTo>
                    <a:pt x="346687" y="0"/>
                    <a:pt x="371762" y="25069"/>
                    <a:pt x="371762" y="55587"/>
                  </a:cubicBezTo>
                  <a:cubicBezTo>
                    <a:pt x="371762" y="314992"/>
                    <a:pt x="371762" y="314992"/>
                    <a:pt x="371762" y="314992"/>
                  </a:cubicBezTo>
                  <a:cubicBezTo>
                    <a:pt x="371762" y="345510"/>
                    <a:pt x="346687" y="370579"/>
                    <a:pt x="315071" y="370579"/>
                  </a:cubicBezTo>
                  <a:cubicBezTo>
                    <a:pt x="56691" y="370579"/>
                    <a:pt x="56691" y="370579"/>
                    <a:pt x="56691" y="370579"/>
                  </a:cubicBezTo>
                  <a:cubicBezTo>
                    <a:pt x="25075" y="370579"/>
                    <a:pt x="0" y="345510"/>
                    <a:pt x="0" y="314992"/>
                  </a:cubicBezTo>
                  <a:cubicBezTo>
                    <a:pt x="0" y="55587"/>
                    <a:pt x="0" y="55587"/>
                    <a:pt x="0" y="55587"/>
                  </a:cubicBezTo>
                  <a:cubicBezTo>
                    <a:pt x="0" y="25069"/>
                    <a:pt x="25075" y="0"/>
                    <a:pt x="56691" y="0"/>
                  </a:cubicBezTo>
                  <a:close/>
                  <a:moveTo>
                    <a:pt x="77405" y="40328"/>
                  </a:moveTo>
                  <a:cubicBezTo>
                    <a:pt x="57781" y="40328"/>
                    <a:pt x="41428" y="56677"/>
                    <a:pt x="41428" y="76296"/>
                  </a:cubicBezTo>
                  <a:cubicBezTo>
                    <a:pt x="41428" y="293193"/>
                    <a:pt x="41428" y="293193"/>
                    <a:pt x="41428" y="293193"/>
                  </a:cubicBezTo>
                  <a:cubicBezTo>
                    <a:pt x="41428" y="313902"/>
                    <a:pt x="57781" y="329161"/>
                    <a:pt x="77405" y="329161"/>
                  </a:cubicBezTo>
                  <a:cubicBezTo>
                    <a:pt x="294357" y="329161"/>
                    <a:pt x="294357" y="329161"/>
                    <a:pt x="294357" y="329161"/>
                  </a:cubicBezTo>
                  <a:cubicBezTo>
                    <a:pt x="313981" y="329161"/>
                    <a:pt x="330334" y="313902"/>
                    <a:pt x="330334" y="293193"/>
                  </a:cubicBezTo>
                  <a:cubicBezTo>
                    <a:pt x="330334" y="76296"/>
                    <a:pt x="330334" y="76296"/>
                    <a:pt x="330334" y="76296"/>
                  </a:cubicBezTo>
                  <a:cubicBezTo>
                    <a:pt x="330334" y="56677"/>
                    <a:pt x="313981" y="40328"/>
                    <a:pt x="294357" y="40328"/>
                  </a:cubicBezTo>
                  <a:cubicBezTo>
                    <a:pt x="77405" y="40328"/>
                    <a:pt x="77405" y="40328"/>
                    <a:pt x="77405" y="40328"/>
                  </a:cubicBezTo>
                  <a:close/>
                  <a:moveTo>
                    <a:pt x="185336" y="265945"/>
                  </a:moveTo>
                  <a:cubicBezTo>
                    <a:pt x="177704" y="265945"/>
                    <a:pt x="171163" y="273574"/>
                    <a:pt x="171163" y="281204"/>
                  </a:cubicBezTo>
                  <a:cubicBezTo>
                    <a:pt x="171163" y="308453"/>
                    <a:pt x="171163" y="308453"/>
                    <a:pt x="171163" y="308453"/>
                  </a:cubicBezTo>
                  <a:cubicBezTo>
                    <a:pt x="171163" y="316082"/>
                    <a:pt x="177704" y="322622"/>
                    <a:pt x="185336" y="322622"/>
                  </a:cubicBezTo>
                  <a:cubicBezTo>
                    <a:pt x="194058" y="322622"/>
                    <a:pt x="200599" y="316082"/>
                    <a:pt x="200599" y="308453"/>
                  </a:cubicBezTo>
                  <a:cubicBezTo>
                    <a:pt x="200599" y="281204"/>
                    <a:pt x="200599" y="281204"/>
                    <a:pt x="200599" y="281204"/>
                  </a:cubicBezTo>
                  <a:cubicBezTo>
                    <a:pt x="200599" y="273574"/>
                    <a:pt x="194058" y="265945"/>
                    <a:pt x="185336" y="265945"/>
                  </a:cubicBezTo>
                  <a:close/>
                  <a:moveTo>
                    <a:pt x="267102" y="185290"/>
                  </a:moveTo>
                  <a:cubicBezTo>
                    <a:pt x="267102" y="192919"/>
                    <a:pt x="273643" y="199459"/>
                    <a:pt x="282365" y="199459"/>
                  </a:cubicBezTo>
                  <a:cubicBezTo>
                    <a:pt x="309620" y="199459"/>
                    <a:pt x="309620" y="199459"/>
                    <a:pt x="309620" y="199459"/>
                  </a:cubicBezTo>
                  <a:cubicBezTo>
                    <a:pt x="317251" y="199459"/>
                    <a:pt x="323793" y="192919"/>
                    <a:pt x="323793" y="185290"/>
                  </a:cubicBezTo>
                  <a:cubicBezTo>
                    <a:pt x="323793" y="176570"/>
                    <a:pt x="317251" y="170030"/>
                    <a:pt x="309620" y="170030"/>
                  </a:cubicBezTo>
                  <a:cubicBezTo>
                    <a:pt x="282365" y="170030"/>
                    <a:pt x="282365" y="170030"/>
                    <a:pt x="282365" y="170030"/>
                  </a:cubicBezTo>
                  <a:cubicBezTo>
                    <a:pt x="273643" y="170030"/>
                    <a:pt x="267102" y="176570"/>
                    <a:pt x="267102" y="185290"/>
                  </a:cubicBezTo>
                  <a:close/>
                  <a:moveTo>
                    <a:pt x="185336" y="46867"/>
                  </a:moveTo>
                  <a:cubicBezTo>
                    <a:pt x="177704" y="46867"/>
                    <a:pt x="171163" y="53407"/>
                    <a:pt x="171163" y="62126"/>
                  </a:cubicBezTo>
                  <a:cubicBezTo>
                    <a:pt x="171163" y="89375"/>
                    <a:pt x="171163" y="89375"/>
                    <a:pt x="171163" y="89375"/>
                  </a:cubicBezTo>
                  <a:cubicBezTo>
                    <a:pt x="171163" y="97005"/>
                    <a:pt x="177704" y="103544"/>
                    <a:pt x="185336" y="103544"/>
                  </a:cubicBezTo>
                  <a:cubicBezTo>
                    <a:pt x="194058" y="103544"/>
                    <a:pt x="200599" y="97005"/>
                    <a:pt x="200599" y="89375"/>
                  </a:cubicBezTo>
                  <a:cubicBezTo>
                    <a:pt x="200599" y="62126"/>
                    <a:pt x="200599" y="62126"/>
                    <a:pt x="200599" y="62126"/>
                  </a:cubicBezTo>
                  <a:cubicBezTo>
                    <a:pt x="200599" y="53407"/>
                    <a:pt x="194058" y="46867"/>
                    <a:pt x="185336" y="46867"/>
                  </a:cubicBezTo>
                  <a:close/>
                  <a:moveTo>
                    <a:pt x="206050" y="187469"/>
                  </a:moveTo>
                  <a:cubicBezTo>
                    <a:pt x="236576" y="155861"/>
                    <a:pt x="236576" y="155861"/>
                    <a:pt x="236576" y="155861"/>
                  </a:cubicBezTo>
                  <a:cubicBezTo>
                    <a:pt x="242027" y="150411"/>
                    <a:pt x="242027" y="141692"/>
                    <a:pt x="236576" y="136242"/>
                  </a:cubicBezTo>
                  <a:cubicBezTo>
                    <a:pt x="231125" y="130793"/>
                    <a:pt x="222403" y="130793"/>
                    <a:pt x="216952" y="136242"/>
                  </a:cubicBezTo>
                  <a:cubicBezTo>
                    <a:pt x="188607" y="165671"/>
                    <a:pt x="188607" y="165671"/>
                    <a:pt x="188607" y="165671"/>
                  </a:cubicBezTo>
                  <a:cubicBezTo>
                    <a:pt x="187516" y="165671"/>
                    <a:pt x="186426" y="165671"/>
                    <a:pt x="185336" y="165671"/>
                  </a:cubicBezTo>
                  <a:cubicBezTo>
                    <a:pt x="184246" y="165671"/>
                    <a:pt x="183155" y="165671"/>
                    <a:pt x="180975" y="165671"/>
                  </a:cubicBezTo>
                  <a:cubicBezTo>
                    <a:pt x="124284" y="106814"/>
                    <a:pt x="124284" y="106814"/>
                    <a:pt x="124284" y="106814"/>
                  </a:cubicBezTo>
                  <a:cubicBezTo>
                    <a:pt x="119923" y="102454"/>
                    <a:pt x="113382" y="102454"/>
                    <a:pt x="110111" y="106814"/>
                  </a:cubicBezTo>
                  <a:cubicBezTo>
                    <a:pt x="105750" y="110084"/>
                    <a:pt x="105750" y="116623"/>
                    <a:pt x="109021" y="120983"/>
                  </a:cubicBezTo>
                  <a:cubicBezTo>
                    <a:pt x="166802" y="179840"/>
                    <a:pt x="166802" y="179840"/>
                    <a:pt x="166802" y="179840"/>
                  </a:cubicBezTo>
                  <a:cubicBezTo>
                    <a:pt x="165712" y="182020"/>
                    <a:pt x="165712" y="183110"/>
                    <a:pt x="165712" y="185290"/>
                  </a:cubicBezTo>
                  <a:cubicBezTo>
                    <a:pt x="165712" y="196189"/>
                    <a:pt x="174434" y="204908"/>
                    <a:pt x="185336" y="204908"/>
                  </a:cubicBezTo>
                  <a:cubicBezTo>
                    <a:pt x="196238" y="204908"/>
                    <a:pt x="204960" y="197279"/>
                    <a:pt x="206050" y="187469"/>
                  </a:cubicBezTo>
                  <a:close/>
                  <a:moveTo>
                    <a:pt x="47969" y="185290"/>
                  </a:moveTo>
                  <a:cubicBezTo>
                    <a:pt x="47969" y="192919"/>
                    <a:pt x="54511" y="199459"/>
                    <a:pt x="62142" y="199459"/>
                  </a:cubicBezTo>
                  <a:cubicBezTo>
                    <a:pt x="89397" y="199459"/>
                    <a:pt x="89397" y="199459"/>
                    <a:pt x="89397" y="199459"/>
                  </a:cubicBezTo>
                  <a:cubicBezTo>
                    <a:pt x="98119" y="199459"/>
                    <a:pt x="104660" y="192919"/>
                    <a:pt x="104660" y="185290"/>
                  </a:cubicBezTo>
                  <a:cubicBezTo>
                    <a:pt x="104660" y="176570"/>
                    <a:pt x="98119" y="170030"/>
                    <a:pt x="89397" y="170030"/>
                  </a:cubicBezTo>
                  <a:cubicBezTo>
                    <a:pt x="62142" y="170030"/>
                    <a:pt x="62142" y="170030"/>
                    <a:pt x="62142" y="170030"/>
                  </a:cubicBezTo>
                  <a:cubicBezTo>
                    <a:pt x="54511" y="170030"/>
                    <a:pt x="47969" y="176570"/>
                    <a:pt x="47969" y="1852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6423403" y="4929235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页面布局</a:t>
              </a: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8414EFA7-CA72-8976-38BA-ED173EBA9D56}"/>
              </a:ext>
            </a:extLst>
          </p:cNvPr>
          <p:cNvSpPr txBox="1"/>
          <p:nvPr/>
        </p:nvSpPr>
        <p:spPr>
          <a:xfrm>
            <a:off x="2045014" y="2139740"/>
            <a:ext cx="8407154" cy="4466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+mn-ea"/>
              </a:rPr>
              <a:t>完整的开源项目评价体系落地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实现</a:t>
            </a:r>
            <a:r>
              <a:rPr lang="en-US" altLang="zh-CN" sz="1600" dirty="0" err="1">
                <a:solidFill>
                  <a:srgbClr val="FF0000"/>
                </a:solidFill>
                <a:latin typeface="+mn-ea"/>
              </a:rPr>
              <a:t>Github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指数</a:t>
            </a:r>
            <a:r>
              <a:rPr lang="zh-CN" altLang="en-US" sz="1600" dirty="0">
                <a:latin typeface="+mn-ea"/>
              </a:rPr>
              <a:t>与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PREI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指数</a:t>
            </a:r>
            <a:r>
              <a:rPr lang="zh-CN" altLang="en-US" sz="1600" dirty="0">
                <a:latin typeface="+mn-ea"/>
              </a:rPr>
              <a:t>的计算，支持项目影响力、社区活跃度与处理效率的量化评价。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+mn-ea"/>
              </a:rPr>
              <a:t>动态可扩展的 </a:t>
            </a:r>
            <a:r>
              <a:rPr lang="en-US" altLang="zh-CN" sz="1600" b="1" dirty="0">
                <a:latin typeface="+mn-ea"/>
              </a:rPr>
              <a:t>ETL </a:t>
            </a:r>
            <a:r>
              <a:rPr lang="zh-CN" altLang="en-US" sz="1600" b="1" dirty="0">
                <a:latin typeface="+mn-ea"/>
              </a:rPr>
              <a:t>能力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支持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单项目实时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ETL</a:t>
            </a:r>
            <a:r>
              <a:rPr lang="zh-CN" altLang="en-US" sz="1600" dirty="0">
                <a:latin typeface="+mn-ea"/>
              </a:rPr>
              <a:t>与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整体项目批量 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ETL</a:t>
            </a:r>
            <a:r>
              <a:rPr lang="zh-CN" altLang="en-US" sz="1600" dirty="0">
                <a:latin typeface="+mn-ea"/>
              </a:rPr>
              <a:t>，集成可配置时间窗口与自动调度机制。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+mn-ea"/>
              </a:rPr>
              <a:t>高性能可视化大屏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展示项目生态趋势、分布与对比信息，适配多设备，具备流畅的展示与交互能力。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+mn-ea"/>
              </a:rPr>
              <a:t>项目分析页提供深度洞察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支持维度拆解、趋势分析、项目对比，并具备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AI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智能分析</a:t>
            </a:r>
            <a:r>
              <a:rPr lang="zh-CN" altLang="en-US" sz="1600" dirty="0">
                <a:latin typeface="+mn-ea"/>
              </a:rPr>
              <a:t>能力。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b="1" dirty="0">
                <a:latin typeface="+mn-ea"/>
              </a:rPr>
              <a:t>完善的后台管理系统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提供 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ETL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管理</a:t>
            </a:r>
            <a:r>
              <a:rPr lang="zh-CN" altLang="en-US" sz="1600" dirty="0">
                <a:latin typeface="+mn-ea"/>
              </a:rPr>
              <a:t>、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时间跨度配置</a:t>
            </a:r>
            <a:r>
              <a:rPr lang="zh-CN" altLang="en-US" sz="1600" dirty="0">
                <a:latin typeface="+mn-ea"/>
              </a:rPr>
              <a:t>、</a:t>
            </a:r>
            <a:r>
              <a:rPr lang="en-US" altLang="zh-CN" sz="1600" dirty="0">
                <a:solidFill>
                  <a:srgbClr val="FF0000"/>
                </a:solidFill>
                <a:latin typeface="+mn-ea"/>
              </a:rPr>
              <a:t>baseline 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管理</a:t>
            </a:r>
            <a:r>
              <a:rPr lang="zh-CN" altLang="en-US" sz="1600" dirty="0">
                <a:latin typeface="+mn-ea"/>
              </a:rPr>
              <a:t>、</a:t>
            </a:r>
            <a:r>
              <a:rPr lang="zh-CN" altLang="en-US" sz="1600" dirty="0">
                <a:solidFill>
                  <a:srgbClr val="FF0000"/>
                </a:solidFill>
                <a:latin typeface="+mn-ea"/>
              </a:rPr>
              <a:t>任务监控</a:t>
            </a:r>
            <a:r>
              <a:rPr lang="zh-CN" altLang="en-US" sz="1600" dirty="0">
                <a:latin typeface="+mn-ea"/>
              </a:rPr>
              <a:t>等能力，提升系统可维护性与扩展性。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zh-CN" altLang="en-US" sz="1600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9A3066A-617B-0B7F-34A4-95C5883096D9}"/>
              </a:ext>
            </a:extLst>
          </p:cNvPr>
          <p:cNvSpPr txBox="1"/>
          <p:nvPr/>
        </p:nvSpPr>
        <p:spPr>
          <a:xfrm>
            <a:off x="674704" y="1284208"/>
            <a:ext cx="30894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4.6 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预期成果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7362D3-FA7A-86BA-85B1-EA9F34E9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4ADAC75C-FDB2-AAAB-BAFC-5757C29FE8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41743351-A6D3-C125-2B12-78E3C55BA92F}"/>
              </a:ext>
            </a:extLst>
          </p:cNvPr>
          <p:cNvGrpSpPr/>
          <p:nvPr/>
        </p:nvGrpSpPr>
        <p:grpSpPr>
          <a:xfrm>
            <a:off x="5967941" y="2744132"/>
            <a:ext cx="1184492" cy="993840"/>
            <a:chOff x="6142753" y="2439326"/>
            <a:chExt cx="1184492" cy="99384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DB552F99-FAE7-5A6A-4C85-0D88D72CE283}"/>
                </a:ext>
              </a:extLst>
            </p:cNvPr>
            <p:cNvGrpSpPr/>
            <p:nvPr/>
          </p:nvGrpSpPr>
          <p:grpSpPr>
            <a:xfrm>
              <a:off x="6438208" y="2439326"/>
              <a:ext cx="373402" cy="357114"/>
              <a:chOff x="6042259" y="5362013"/>
              <a:chExt cx="464982" cy="444699"/>
            </a:xfrm>
            <a:solidFill>
              <a:schemeClr val="bg1"/>
            </a:solidFill>
          </p:grpSpPr>
          <p:sp>
            <p:nvSpPr>
              <p:cNvPr id="21" name="Freeform 25">
                <a:extLst>
                  <a:ext uri="{FF2B5EF4-FFF2-40B4-BE49-F238E27FC236}">
                    <a16:creationId xmlns:a16="http://schemas.microsoft.com/office/drawing/2014/main" id="{E223DA77-9345-7236-881F-6B03260352C4}"/>
                  </a:ext>
                </a:extLst>
              </p:cNvPr>
              <p:cNvSpPr/>
              <p:nvPr/>
            </p:nvSpPr>
            <p:spPr>
              <a:xfrm>
                <a:off x="6212692" y="5681688"/>
                <a:ext cx="125025" cy="125024"/>
              </a:xfrm>
              <a:custGeom>
                <a:avLst/>
                <a:gdLst>
                  <a:gd name="T0" fmla="*/ 206 w 413"/>
                  <a:gd name="T1" fmla="*/ 413 h 413"/>
                  <a:gd name="T2" fmla="*/ 0 w 413"/>
                  <a:gd name="T3" fmla="*/ 0 h 413"/>
                  <a:gd name="T4" fmla="*/ 413 w 413"/>
                  <a:gd name="T5" fmla="*/ 0 h 413"/>
                  <a:gd name="T6" fmla="*/ 206 w 413"/>
                  <a:gd name="T7" fmla="*/ 413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025" h="125024">
                    <a:moveTo>
                      <a:pt x="62361" y="125024"/>
                    </a:moveTo>
                    <a:lnTo>
                      <a:pt x="0" y="0"/>
                    </a:lnTo>
                    <a:lnTo>
                      <a:pt x="125025" y="0"/>
                    </a:lnTo>
                    <a:lnTo>
                      <a:pt x="62361" y="1250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任意多边形 32">
                <a:extLst>
                  <a:ext uri="{FF2B5EF4-FFF2-40B4-BE49-F238E27FC236}">
                    <a16:creationId xmlns:a16="http://schemas.microsoft.com/office/drawing/2014/main" id="{7BDCA07E-5D58-A5D3-D830-E25A90C140BB}"/>
                  </a:ext>
                </a:extLst>
              </p:cNvPr>
              <p:cNvSpPr>
                <a:spLocks noChangeArrowheads="1"/>
              </p:cNvSpPr>
              <p:nvPr/>
            </p:nvSpPr>
            <p:spPr>
              <a:xfrm>
                <a:off x="6042259" y="5362013"/>
                <a:ext cx="464982" cy="338443"/>
              </a:xfrm>
              <a:custGeom>
                <a:avLst/>
                <a:gdLst>
                  <a:gd name="connsiteX0" fmla="*/ 290196 w 2438400"/>
                  <a:gd name="connsiteY0" fmla="*/ 0 h 1774825"/>
                  <a:gd name="connsiteX1" fmla="*/ 2151973 w 2438400"/>
                  <a:gd name="connsiteY1" fmla="*/ 0 h 1774825"/>
                  <a:gd name="connsiteX2" fmla="*/ 2438400 w 2438400"/>
                  <a:gd name="connsiteY2" fmla="*/ 286384 h 1774825"/>
                  <a:gd name="connsiteX3" fmla="*/ 2438400 w 2438400"/>
                  <a:gd name="connsiteY3" fmla="*/ 1484673 h 1774825"/>
                  <a:gd name="connsiteX4" fmla="*/ 2151973 w 2438400"/>
                  <a:gd name="connsiteY4" fmla="*/ 1774825 h 1774825"/>
                  <a:gd name="connsiteX5" fmla="*/ 290196 w 2438400"/>
                  <a:gd name="connsiteY5" fmla="*/ 1774825 h 1774825"/>
                  <a:gd name="connsiteX6" fmla="*/ 0 w 2438400"/>
                  <a:gd name="connsiteY6" fmla="*/ 1484673 h 1774825"/>
                  <a:gd name="connsiteX7" fmla="*/ 0 w 2438400"/>
                  <a:gd name="connsiteY7" fmla="*/ 286384 h 1774825"/>
                  <a:gd name="connsiteX8" fmla="*/ 290196 w 2438400"/>
                  <a:gd name="connsiteY8" fmla="*/ 0 h 1774825"/>
                  <a:gd name="connsiteX9" fmla="*/ 471488 w 2438400"/>
                  <a:gd name="connsiteY9" fmla="*/ 425450 h 1774825"/>
                  <a:gd name="connsiteX10" fmla="*/ 471488 w 2438400"/>
                  <a:gd name="connsiteY10" fmla="*/ 598488 h 1774825"/>
                  <a:gd name="connsiteX11" fmla="*/ 1971676 w 2438400"/>
                  <a:gd name="connsiteY11" fmla="*/ 598488 h 1774825"/>
                  <a:gd name="connsiteX12" fmla="*/ 1971676 w 2438400"/>
                  <a:gd name="connsiteY12" fmla="*/ 425450 h 1774825"/>
                  <a:gd name="connsiteX13" fmla="*/ 471488 w 2438400"/>
                  <a:gd name="connsiteY13" fmla="*/ 425450 h 1774825"/>
                  <a:gd name="connsiteX14" fmla="*/ 471488 w 2438400"/>
                  <a:gd name="connsiteY14" fmla="*/ 801688 h 1774825"/>
                  <a:gd name="connsiteX15" fmla="*/ 471488 w 2438400"/>
                  <a:gd name="connsiteY15" fmla="*/ 971551 h 1774825"/>
                  <a:gd name="connsiteX16" fmla="*/ 1971676 w 2438400"/>
                  <a:gd name="connsiteY16" fmla="*/ 971551 h 1774825"/>
                  <a:gd name="connsiteX17" fmla="*/ 1971676 w 2438400"/>
                  <a:gd name="connsiteY17" fmla="*/ 801688 h 1774825"/>
                  <a:gd name="connsiteX18" fmla="*/ 471488 w 2438400"/>
                  <a:gd name="connsiteY18" fmla="*/ 801688 h 1774825"/>
                  <a:gd name="connsiteX19" fmla="*/ 471488 w 2438400"/>
                  <a:gd name="connsiteY19" fmla="*/ 1174750 h 1774825"/>
                  <a:gd name="connsiteX20" fmla="*/ 471488 w 2438400"/>
                  <a:gd name="connsiteY20" fmla="*/ 1347788 h 1774825"/>
                  <a:gd name="connsiteX21" fmla="*/ 1971676 w 2438400"/>
                  <a:gd name="connsiteY21" fmla="*/ 1347788 h 1774825"/>
                  <a:gd name="connsiteX22" fmla="*/ 1971676 w 2438400"/>
                  <a:gd name="connsiteY22" fmla="*/ 1174750 h 1774825"/>
                  <a:gd name="connsiteX23" fmla="*/ 471488 w 2438400"/>
                  <a:gd name="connsiteY23" fmla="*/ 1174750 h 177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64982" h="338443">
                    <a:moveTo>
                      <a:pt x="55338" y="0"/>
                    </a:moveTo>
                    <a:cubicBezTo>
                      <a:pt x="410363" y="0"/>
                      <a:pt x="410363" y="0"/>
                      <a:pt x="410363" y="0"/>
                    </a:cubicBezTo>
                    <a:cubicBezTo>
                      <a:pt x="440547" y="0"/>
                      <a:pt x="464982" y="24431"/>
                      <a:pt x="464982" y="54611"/>
                    </a:cubicBezTo>
                    <a:lnTo>
                      <a:pt x="464982" y="283114"/>
                    </a:lnTo>
                    <a:cubicBezTo>
                      <a:pt x="464982" y="314012"/>
                      <a:pt x="440547" y="338443"/>
                      <a:pt x="410363" y="338443"/>
                    </a:cubicBezTo>
                    <a:cubicBezTo>
                      <a:pt x="55338" y="338443"/>
                      <a:pt x="55338" y="338443"/>
                      <a:pt x="55338" y="338443"/>
                    </a:cubicBezTo>
                    <a:cubicBezTo>
                      <a:pt x="25154" y="338443"/>
                      <a:pt x="0" y="314012"/>
                      <a:pt x="0" y="283114"/>
                    </a:cubicBezTo>
                    <a:cubicBezTo>
                      <a:pt x="0" y="54611"/>
                      <a:pt x="0" y="54611"/>
                      <a:pt x="0" y="54611"/>
                    </a:cubicBezTo>
                    <a:cubicBezTo>
                      <a:pt x="0" y="24431"/>
                      <a:pt x="25154" y="0"/>
                      <a:pt x="55338" y="0"/>
                    </a:cubicBezTo>
                    <a:close/>
                    <a:moveTo>
                      <a:pt x="89909" y="81129"/>
                    </a:moveTo>
                    <a:lnTo>
                      <a:pt x="89909" y="114126"/>
                    </a:lnTo>
                    <a:lnTo>
                      <a:pt x="375982" y="114126"/>
                    </a:lnTo>
                    <a:lnTo>
                      <a:pt x="375982" y="81129"/>
                    </a:lnTo>
                    <a:lnTo>
                      <a:pt x="89909" y="81129"/>
                    </a:lnTo>
                    <a:close/>
                    <a:moveTo>
                      <a:pt x="89909" y="152875"/>
                    </a:moveTo>
                    <a:lnTo>
                      <a:pt x="89909" y="185266"/>
                    </a:lnTo>
                    <a:lnTo>
                      <a:pt x="375982" y="185266"/>
                    </a:lnTo>
                    <a:lnTo>
                      <a:pt x="375982" y="152875"/>
                    </a:lnTo>
                    <a:lnTo>
                      <a:pt x="89909" y="152875"/>
                    </a:lnTo>
                    <a:close/>
                    <a:moveTo>
                      <a:pt x="89909" y="224014"/>
                    </a:moveTo>
                    <a:lnTo>
                      <a:pt x="89909" y="257011"/>
                    </a:lnTo>
                    <a:lnTo>
                      <a:pt x="375982" y="257011"/>
                    </a:lnTo>
                    <a:lnTo>
                      <a:pt x="375982" y="224014"/>
                    </a:lnTo>
                    <a:lnTo>
                      <a:pt x="89909" y="2240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0D0D195F-0909-8825-766E-EA33996D8463}"/>
                </a:ext>
              </a:extLst>
            </p:cNvPr>
            <p:cNvSpPr/>
            <p:nvPr/>
          </p:nvSpPr>
          <p:spPr>
            <a:xfrm>
              <a:off x="6142753" y="2848391"/>
              <a:ext cx="11844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思源黑体 CN Medium" panose="020B0600000000000000" charset="-122"/>
                  <a:ea typeface="方正兰亭中黑_GBK"/>
                </a:rPr>
                <a:t>数据处理和展示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58EE9366-E7C1-81CC-F2B5-02A79C5D8549}"/>
              </a:ext>
            </a:extLst>
          </p:cNvPr>
          <p:cNvGrpSpPr/>
          <p:nvPr/>
        </p:nvGrpSpPr>
        <p:grpSpPr>
          <a:xfrm>
            <a:off x="5027142" y="4039269"/>
            <a:ext cx="800219" cy="850564"/>
            <a:chOff x="5145854" y="3625488"/>
            <a:chExt cx="800219" cy="850564"/>
          </a:xfrm>
        </p:grpSpPr>
        <p:grpSp>
          <p:nvGrpSpPr>
            <p:cNvPr id="24" name="Group 18">
              <a:extLst>
                <a:ext uri="{FF2B5EF4-FFF2-40B4-BE49-F238E27FC236}">
                  <a16:creationId xmlns:a16="http://schemas.microsoft.com/office/drawing/2014/main" id="{1F19F08A-0638-5784-1C1E-E40961B03D3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355142" y="3625488"/>
              <a:ext cx="385124" cy="333775"/>
              <a:chOff x="3525" y="1887"/>
              <a:chExt cx="630" cy="546"/>
            </a:xfrm>
            <a:solidFill>
              <a:schemeClr val="bg1"/>
            </a:solidFill>
            <a:effectLst/>
          </p:grpSpPr>
          <p:sp>
            <p:nvSpPr>
              <p:cNvPr id="26" name="Freeform 19">
                <a:extLst>
                  <a:ext uri="{FF2B5EF4-FFF2-40B4-BE49-F238E27FC236}">
                    <a16:creationId xmlns:a16="http://schemas.microsoft.com/office/drawing/2014/main" id="{5EADEB4D-CC32-3DFD-31EF-D225198B25A4}"/>
                  </a:ext>
                </a:extLst>
              </p:cNvPr>
              <p:cNvSpPr/>
              <p:nvPr/>
            </p:nvSpPr>
            <p:spPr>
              <a:xfrm>
                <a:off x="3623" y="2117"/>
                <a:ext cx="129" cy="227"/>
              </a:xfrm>
              <a:custGeom>
                <a:avLst/>
                <a:gdLst>
                  <a:gd name="T0" fmla="*/ 4 w 54"/>
                  <a:gd name="T1" fmla="*/ 95 h 95"/>
                  <a:gd name="T2" fmla="*/ 49 w 54"/>
                  <a:gd name="T3" fmla="*/ 95 h 95"/>
                  <a:gd name="T4" fmla="*/ 54 w 54"/>
                  <a:gd name="T5" fmla="*/ 90 h 95"/>
                  <a:gd name="T6" fmla="*/ 54 w 54"/>
                  <a:gd name="T7" fmla="*/ 4 h 95"/>
                  <a:gd name="T8" fmla="*/ 49 w 54"/>
                  <a:gd name="T9" fmla="*/ 0 h 95"/>
                  <a:gd name="T10" fmla="*/ 4 w 54"/>
                  <a:gd name="T11" fmla="*/ 0 h 95"/>
                  <a:gd name="T12" fmla="*/ 0 w 54"/>
                  <a:gd name="T13" fmla="*/ 4 h 95"/>
                  <a:gd name="T14" fmla="*/ 0 w 54"/>
                  <a:gd name="T15" fmla="*/ 90 h 95"/>
                  <a:gd name="T16" fmla="*/ 4 w 54"/>
                  <a:gd name="T17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227">
                    <a:moveTo>
                      <a:pt x="10" y="227"/>
                    </a:moveTo>
                    <a:cubicBezTo>
                      <a:pt x="117" y="227"/>
                      <a:pt x="117" y="227"/>
                      <a:pt x="117" y="227"/>
                    </a:cubicBezTo>
                    <a:cubicBezTo>
                      <a:pt x="124" y="227"/>
                      <a:pt x="129" y="222"/>
                      <a:pt x="129" y="215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22"/>
                      <a:pt x="5" y="227"/>
                      <a:pt x="10" y="2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B33FA33F-3888-2986-BFFF-275141B26E9F}"/>
                  </a:ext>
                </a:extLst>
              </p:cNvPr>
              <p:cNvSpPr/>
              <p:nvPr/>
            </p:nvSpPr>
            <p:spPr>
              <a:xfrm>
                <a:off x="3809" y="2033"/>
                <a:ext cx="129" cy="311"/>
              </a:xfrm>
              <a:custGeom>
                <a:avLst/>
                <a:gdLst>
                  <a:gd name="T0" fmla="*/ 5 w 54"/>
                  <a:gd name="T1" fmla="*/ 130 h 130"/>
                  <a:gd name="T2" fmla="*/ 50 w 54"/>
                  <a:gd name="T3" fmla="*/ 130 h 130"/>
                  <a:gd name="T4" fmla="*/ 54 w 54"/>
                  <a:gd name="T5" fmla="*/ 125 h 130"/>
                  <a:gd name="T6" fmla="*/ 54 w 54"/>
                  <a:gd name="T7" fmla="*/ 5 h 130"/>
                  <a:gd name="T8" fmla="*/ 50 w 54"/>
                  <a:gd name="T9" fmla="*/ 0 h 130"/>
                  <a:gd name="T10" fmla="*/ 5 w 54"/>
                  <a:gd name="T11" fmla="*/ 0 h 130"/>
                  <a:gd name="T12" fmla="*/ 0 w 54"/>
                  <a:gd name="T13" fmla="*/ 5 h 130"/>
                  <a:gd name="T14" fmla="*/ 0 w 54"/>
                  <a:gd name="T15" fmla="*/ 125 h 130"/>
                  <a:gd name="T16" fmla="*/ 5 w 54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11">
                    <a:moveTo>
                      <a:pt x="12" y="311"/>
                    </a:moveTo>
                    <a:cubicBezTo>
                      <a:pt x="119" y="311"/>
                      <a:pt x="119" y="311"/>
                      <a:pt x="119" y="311"/>
                    </a:cubicBezTo>
                    <a:cubicBezTo>
                      <a:pt x="124" y="311"/>
                      <a:pt x="129" y="306"/>
                      <a:pt x="129" y="299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9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299"/>
                      <a:pt x="0" y="299"/>
                      <a:pt x="0" y="299"/>
                    </a:cubicBezTo>
                    <a:cubicBezTo>
                      <a:pt x="0" y="306"/>
                      <a:pt x="5" y="311"/>
                      <a:pt x="12" y="3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44AA1FCA-50B9-477E-EA16-12768850D060}"/>
                  </a:ext>
                </a:extLst>
              </p:cNvPr>
              <p:cNvSpPr/>
              <p:nvPr/>
            </p:nvSpPr>
            <p:spPr>
              <a:xfrm>
                <a:off x="3997" y="1964"/>
                <a:ext cx="129" cy="380"/>
              </a:xfrm>
              <a:custGeom>
                <a:avLst/>
                <a:gdLst>
                  <a:gd name="T0" fmla="*/ 4 w 54"/>
                  <a:gd name="T1" fmla="*/ 159 h 159"/>
                  <a:gd name="T2" fmla="*/ 49 w 54"/>
                  <a:gd name="T3" fmla="*/ 159 h 159"/>
                  <a:gd name="T4" fmla="*/ 54 w 54"/>
                  <a:gd name="T5" fmla="*/ 154 h 159"/>
                  <a:gd name="T6" fmla="*/ 54 w 54"/>
                  <a:gd name="T7" fmla="*/ 5 h 159"/>
                  <a:gd name="T8" fmla="*/ 49 w 54"/>
                  <a:gd name="T9" fmla="*/ 0 h 159"/>
                  <a:gd name="T10" fmla="*/ 4 w 54"/>
                  <a:gd name="T11" fmla="*/ 0 h 159"/>
                  <a:gd name="T12" fmla="*/ 0 w 54"/>
                  <a:gd name="T13" fmla="*/ 5 h 159"/>
                  <a:gd name="T14" fmla="*/ 0 w 54"/>
                  <a:gd name="T15" fmla="*/ 154 h 159"/>
                  <a:gd name="T16" fmla="*/ 4 w 54"/>
                  <a:gd name="T17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80">
                    <a:moveTo>
                      <a:pt x="10" y="380"/>
                    </a:moveTo>
                    <a:cubicBezTo>
                      <a:pt x="117" y="380"/>
                      <a:pt x="117" y="380"/>
                      <a:pt x="117" y="380"/>
                    </a:cubicBezTo>
                    <a:cubicBezTo>
                      <a:pt x="124" y="380"/>
                      <a:pt x="129" y="375"/>
                      <a:pt x="129" y="368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368"/>
                      <a:pt x="0" y="368"/>
                      <a:pt x="0" y="368"/>
                    </a:cubicBezTo>
                    <a:cubicBezTo>
                      <a:pt x="0" y="375"/>
                      <a:pt x="5" y="380"/>
                      <a:pt x="10" y="3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B28A90DA-F148-4D25-55F8-7911EA24AE34}"/>
                  </a:ext>
                </a:extLst>
              </p:cNvPr>
              <p:cNvSpPr/>
              <p:nvPr/>
            </p:nvSpPr>
            <p:spPr>
              <a:xfrm>
                <a:off x="3525" y="1887"/>
                <a:ext cx="630" cy="546"/>
              </a:xfrm>
              <a:custGeom>
                <a:avLst/>
                <a:gdLst>
                  <a:gd name="T0" fmla="*/ 253 w 264"/>
                  <a:gd name="T1" fmla="*/ 206 h 228"/>
                  <a:gd name="T2" fmla="*/ 23 w 264"/>
                  <a:gd name="T3" fmla="*/ 206 h 228"/>
                  <a:gd name="T4" fmla="*/ 22 w 264"/>
                  <a:gd name="T5" fmla="*/ 206 h 228"/>
                  <a:gd name="T6" fmla="*/ 22 w 264"/>
                  <a:gd name="T7" fmla="*/ 11 h 228"/>
                  <a:gd name="T8" fmla="*/ 11 w 264"/>
                  <a:gd name="T9" fmla="*/ 0 h 228"/>
                  <a:gd name="T10" fmla="*/ 0 w 264"/>
                  <a:gd name="T11" fmla="*/ 11 h 228"/>
                  <a:gd name="T12" fmla="*/ 0 w 264"/>
                  <a:gd name="T13" fmla="*/ 206 h 228"/>
                  <a:gd name="T14" fmla="*/ 23 w 264"/>
                  <a:gd name="T15" fmla="*/ 228 h 228"/>
                  <a:gd name="T16" fmla="*/ 253 w 264"/>
                  <a:gd name="T17" fmla="*/ 228 h 228"/>
                  <a:gd name="T18" fmla="*/ 264 w 264"/>
                  <a:gd name="T19" fmla="*/ 217 h 228"/>
                  <a:gd name="T20" fmla="*/ 253 w 264"/>
                  <a:gd name="T21" fmla="*/ 206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30" h="546">
                    <a:moveTo>
                      <a:pt x="604" y="493"/>
                    </a:moveTo>
                    <a:cubicBezTo>
                      <a:pt x="55" y="493"/>
                      <a:pt x="55" y="493"/>
                      <a:pt x="55" y="493"/>
                    </a:cubicBezTo>
                    <a:cubicBezTo>
                      <a:pt x="53" y="493"/>
                      <a:pt x="53" y="493"/>
                      <a:pt x="53" y="493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53" y="12"/>
                      <a:pt x="41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93"/>
                      <a:pt x="0" y="493"/>
                      <a:pt x="0" y="493"/>
                    </a:cubicBezTo>
                    <a:cubicBezTo>
                      <a:pt x="0" y="522"/>
                      <a:pt x="24" y="546"/>
                      <a:pt x="55" y="546"/>
                    </a:cubicBezTo>
                    <a:cubicBezTo>
                      <a:pt x="604" y="546"/>
                      <a:pt x="604" y="546"/>
                      <a:pt x="604" y="546"/>
                    </a:cubicBezTo>
                    <a:cubicBezTo>
                      <a:pt x="618" y="546"/>
                      <a:pt x="630" y="534"/>
                      <a:pt x="630" y="520"/>
                    </a:cubicBezTo>
                    <a:cubicBezTo>
                      <a:pt x="630" y="505"/>
                      <a:pt x="618" y="493"/>
                      <a:pt x="604" y="4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112DEB3-DA6D-DACA-D394-D3FDE2E2726F}"/>
                </a:ext>
              </a:extLst>
            </p:cNvPr>
            <p:cNvSpPr/>
            <p:nvPr/>
          </p:nvSpPr>
          <p:spPr>
            <a:xfrm>
              <a:off x="5145854" y="4137498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数据源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E4EFA8A-B202-5A76-8049-21C6B92C8694}"/>
              </a:ext>
            </a:extLst>
          </p:cNvPr>
          <p:cNvGrpSpPr/>
          <p:nvPr/>
        </p:nvGrpSpPr>
        <p:grpSpPr>
          <a:xfrm>
            <a:off x="6248591" y="4704544"/>
            <a:ext cx="1005403" cy="868051"/>
            <a:chOff x="6423403" y="4399738"/>
            <a:chExt cx="1005403" cy="868051"/>
          </a:xfrm>
        </p:grpSpPr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F61572D6-8A90-EEFC-2280-9E694322309C}"/>
                </a:ext>
              </a:extLst>
            </p:cNvPr>
            <p:cNvSpPr>
              <a:spLocks noEditPoints="1"/>
            </p:cNvSpPr>
            <p:nvPr/>
          </p:nvSpPr>
          <p:spPr>
            <a:xfrm>
              <a:off x="6739622" y="4399738"/>
              <a:ext cx="371762" cy="370579"/>
            </a:xfrm>
            <a:custGeom>
              <a:avLst/>
              <a:gdLst>
                <a:gd name="T0" fmla="*/ 52 w 341"/>
                <a:gd name="T1" fmla="*/ 0 h 340"/>
                <a:gd name="T2" fmla="*/ 289 w 341"/>
                <a:gd name="T3" fmla="*/ 0 h 340"/>
                <a:gd name="T4" fmla="*/ 341 w 341"/>
                <a:gd name="T5" fmla="*/ 51 h 340"/>
                <a:gd name="T6" fmla="*/ 341 w 341"/>
                <a:gd name="T7" fmla="*/ 289 h 340"/>
                <a:gd name="T8" fmla="*/ 289 w 341"/>
                <a:gd name="T9" fmla="*/ 340 h 340"/>
                <a:gd name="T10" fmla="*/ 52 w 341"/>
                <a:gd name="T11" fmla="*/ 340 h 340"/>
                <a:gd name="T12" fmla="*/ 0 w 341"/>
                <a:gd name="T13" fmla="*/ 289 h 340"/>
                <a:gd name="T14" fmla="*/ 0 w 341"/>
                <a:gd name="T15" fmla="*/ 51 h 340"/>
                <a:gd name="T16" fmla="*/ 52 w 341"/>
                <a:gd name="T17" fmla="*/ 0 h 340"/>
                <a:gd name="T18" fmla="*/ 71 w 341"/>
                <a:gd name="T19" fmla="*/ 37 h 340"/>
                <a:gd name="T20" fmla="*/ 38 w 341"/>
                <a:gd name="T21" fmla="*/ 70 h 340"/>
                <a:gd name="T22" fmla="*/ 38 w 341"/>
                <a:gd name="T23" fmla="*/ 269 h 340"/>
                <a:gd name="T24" fmla="*/ 71 w 341"/>
                <a:gd name="T25" fmla="*/ 302 h 340"/>
                <a:gd name="T26" fmla="*/ 270 w 341"/>
                <a:gd name="T27" fmla="*/ 302 h 340"/>
                <a:gd name="T28" fmla="*/ 303 w 341"/>
                <a:gd name="T29" fmla="*/ 269 h 340"/>
                <a:gd name="T30" fmla="*/ 303 w 341"/>
                <a:gd name="T31" fmla="*/ 70 h 340"/>
                <a:gd name="T32" fmla="*/ 270 w 341"/>
                <a:gd name="T33" fmla="*/ 37 h 340"/>
                <a:gd name="T34" fmla="*/ 71 w 341"/>
                <a:gd name="T35" fmla="*/ 37 h 340"/>
                <a:gd name="T36" fmla="*/ 170 w 341"/>
                <a:gd name="T37" fmla="*/ 244 h 340"/>
                <a:gd name="T38" fmla="*/ 157 w 341"/>
                <a:gd name="T39" fmla="*/ 258 h 340"/>
                <a:gd name="T40" fmla="*/ 157 w 341"/>
                <a:gd name="T41" fmla="*/ 283 h 340"/>
                <a:gd name="T42" fmla="*/ 170 w 341"/>
                <a:gd name="T43" fmla="*/ 296 h 340"/>
                <a:gd name="T44" fmla="*/ 184 w 341"/>
                <a:gd name="T45" fmla="*/ 283 h 340"/>
                <a:gd name="T46" fmla="*/ 184 w 341"/>
                <a:gd name="T47" fmla="*/ 258 h 340"/>
                <a:gd name="T48" fmla="*/ 170 w 341"/>
                <a:gd name="T49" fmla="*/ 244 h 340"/>
                <a:gd name="T50" fmla="*/ 245 w 341"/>
                <a:gd name="T51" fmla="*/ 170 h 340"/>
                <a:gd name="T52" fmla="*/ 259 w 341"/>
                <a:gd name="T53" fmla="*/ 183 h 340"/>
                <a:gd name="T54" fmla="*/ 284 w 341"/>
                <a:gd name="T55" fmla="*/ 183 h 340"/>
                <a:gd name="T56" fmla="*/ 297 w 341"/>
                <a:gd name="T57" fmla="*/ 170 h 340"/>
                <a:gd name="T58" fmla="*/ 284 w 341"/>
                <a:gd name="T59" fmla="*/ 156 h 340"/>
                <a:gd name="T60" fmla="*/ 259 w 341"/>
                <a:gd name="T61" fmla="*/ 156 h 340"/>
                <a:gd name="T62" fmla="*/ 245 w 341"/>
                <a:gd name="T63" fmla="*/ 170 h 340"/>
                <a:gd name="T64" fmla="*/ 170 w 341"/>
                <a:gd name="T65" fmla="*/ 43 h 340"/>
                <a:gd name="T66" fmla="*/ 157 w 341"/>
                <a:gd name="T67" fmla="*/ 57 h 340"/>
                <a:gd name="T68" fmla="*/ 157 w 341"/>
                <a:gd name="T69" fmla="*/ 82 h 340"/>
                <a:gd name="T70" fmla="*/ 170 w 341"/>
                <a:gd name="T71" fmla="*/ 95 h 340"/>
                <a:gd name="T72" fmla="*/ 184 w 341"/>
                <a:gd name="T73" fmla="*/ 82 h 340"/>
                <a:gd name="T74" fmla="*/ 184 w 341"/>
                <a:gd name="T75" fmla="*/ 57 h 340"/>
                <a:gd name="T76" fmla="*/ 170 w 341"/>
                <a:gd name="T77" fmla="*/ 43 h 340"/>
                <a:gd name="T78" fmla="*/ 189 w 341"/>
                <a:gd name="T79" fmla="*/ 172 h 340"/>
                <a:gd name="T80" fmla="*/ 217 w 341"/>
                <a:gd name="T81" fmla="*/ 143 h 340"/>
                <a:gd name="T82" fmla="*/ 217 w 341"/>
                <a:gd name="T83" fmla="*/ 125 h 340"/>
                <a:gd name="T84" fmla="*/ 199 w 341"/>
                <a:gd name="T85" fmla="*/ 125 h 340"/>
                <a:gd name="T86" fmla="*/ 173 w 341"/>
                <a:gd name="T87" fmla="*/ 152 h 340"/>
                <a:gd name="T88" fmla="*/ 170 w 341"/>
                <a:gd name="T89" fmla="*/ 152 h 340"/>
                <a:gd name="T90" fmla="*/ 166 w 341"/>
                <a:gd name="T91" fmla="*/ 152 h 340"/>
                <a:gd name="T92" fmla="*/ 114 w 341"/>
                <a:gd name="T93" fmla="*/ 98 h 340"/>
                <a:gd name="T94" fmla="*/ 101 w 341"/>
                <a:gd name="T95" fmla="*/ 98 h 340"/>
                <a:gd name="T96" fmla="*/ 100 w 341"/>
                <a:gd name="T97" fmla="*/ 111 h 340"/>
                <a:gd name="T98" fmla="*/ 153 w 341"/>
                <a:gd name="T99" fmla="*/ 165 h 340"/>
                <a:gd name="T100" fmla="*/ 152 w 341"/>
                <a:gd name="T101" fmla="*/ 170 h 340"/>
                <a:gd name="T102" fmla="*/ 170 w 341"/>
                <a:gd name="T103" fmla="*/ 188 h 340"/>
                <a:gd name="T104" fmla="*/ 189 w 341"/>
                <a:gd name="T105" fmla="*/ 172 h 340"/>
                <a:gd name="T106" fmla="*/ 44 w 341"/>
                <a:gd name="T107" fmla="*/ 170 h 340"/>
                <a:gd name="T108" fmla="*/ 57 w 341"/>
                <a:gd name="T109" fmla="*/ 183 h 340"/>
                <a:gd name="T110" fmla="*/ 82 w 341"/>
                <a:gd name="T111" fmla="*/ 183 h 340"/>
                <a:gd name="T112" fmla="*/ 96 w 341"/>
                <a:gd name="T113" fmla="*/ 170 h 340"/>
                <a:gd name="T114" fmla="*/ 82 w 341"/>
                <a:gd name="T115" fmla="*/ 156 h 340"/>
                <a:gd name="T116" fmla="*/ 57 w 341"/>
                <a:gd name="T117" fmla="*/ 156 h 340"/>
                <a:gd name="T118" fmla="*/ 44 w 341"/>
                <a:gd name="T119" fmla="*/ 17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71762" h="370579">
                  <a:moveTo>
                    <a:pt x="56691" y="0"/>
                  </a:moveTo>
                  <a:cubicBezTo>
                    <a:pt x="315071" y="0"/>
                    <a:pt x="315071" y="0"/>
                    <a:pt x="315071" y="0"/>
                  </a:cubicBezTo>
                  <a:cubicBezTo>
                    <a:pt x="346687" y="0"/>
                    <a:pt x="371762" y="25069"/>
                    <a:pt x="371762" y="55587"/>
                  </a:cubicBezTo>
                  <a:cubicBezTo>
                    <a:pt x="371762" y="314992"/>
                    <a:pt x="371762" y="314992"/>
                    <a:pt x="371762" y="314992"/>
                  </a:cubicBezTo>
                  <a:cubicBezTo>
                    <a:pt x="371762" y="345510"/>
                    <a:pt x="346687" y="370579"/>
                    <a:pt x="315071" y="370579"/>
                  </a:cubicBezTo>
                  <a:cubicBezTo>
                    <a:pt x="56691" y="370579"/>
                    <a:pt x="56691" y="370579"/>
                    <a:pt x="56691" y="370579"/>
                  </a:cubicBezTo>
                  <a:cubicBezTo>
                    <a:pt x="25075" y="370579"/>
                    <a:pt x="0" y="345510"/>
                    <a:pt x="0" y="314992"/>
                  </a:cubicBezTo>
                  <a:cubicBezTo>
                    <a:pt x="0" y="55587"/>
                    <a:pt x="0" y="55587"/>
                    <a:pt x="0" y="55587"/>
                  </a:cubicBezTo>
                  <a:cubicBezTo>
                    <a:pt x="0" y="25069"/>
                    <a:pt x="25075" y="0"/>
                    <a:pt x="56691" y="0"/>
                  </a:cubicBezTo>
                  <a:close/>
                  <a:moveTo>
                    <a:pt x="77405" y="40328"/>
                  </a:moveTo>
                  <a:cubicBezTo>
                    <a:pt x="57781" y="40328"/>
                    <a:pt x="41428" y="56677"/>
                    <a:pt x="41428" y="76296"/>
                  </a:cubicBezTo>
                  <a:cubicBezTo>
                    <a:pt x="41428" y="293193"/>
                    <a:pt x="41428" y="293193"/>
                    <a:pt x="41428" y="293193"/>
                  </a:cubicBezTo>
                  <a:cubicBezTo>
                    <a:pt x="41428" y="313902"/>
                    <a:pt x="57781" y="329161"/>
                    <a:pt x="77405" y="329161"/>
                  </a:cubicBezTo>
                  <a:cubicBezTo>
                    <a:pt x="294357" y="329161"/>
                    <a:pt x="294357" y="329161"/>
                    <a:pt x="294357" y="329161"/>
                  </a:cubicBezTo>
                  <a:cubicBezTo>
                    <a:pt x="313981" y="329161"/>
                    <a:pt x="330334" y="313902"/>
                    <a:pt x="330334" y="293193"/>
                  </a:cubicBezTo>
                  <a:cubicBezTo>
                    <a:pt x="330334" y="76296"/>
                    <a:pt x="330334" y="76296"/>
                    <a:pt x="330334" y="76296"/>
                  </a:cubicBezTo>
                  <a:cubicBezTo>
                    <a:pt x="330334" y="56677"/>
                    <a:pt x="313981" y="40328"/>
                    <a:pt x="294357" y="40328"/>
                  </a:cubicBezTo>
                  <a:cubicBezTo>
                    <a:pt x="77405" y="40328"/>
                    <a:pt x="77405" y="40328"/>
                    <a:pt x="77405" y="40328"/>
                  </a:cubicBezTo>
                  <a:close/>
                  <a:moveTo>
                    <a:pt x="185336" y="265945"/>
                  </a:moveTo>
                  <a:cubicBezTo>
                    <a:pt x="177704" y="265945"/>
                    <a:pt x="171163" y="273574"/>
                    <a:pt x="171163" y="281204"/>
                  </a:cubicBezTo>
                  <a:cubicBezTo>
                    <a:pt x="171163" y="308453"/>
                    <a:pt x="171163" y="308453"/>
                    <a:pt x="171163" y="308453"/>
                  </a:cubicBezTo>
                  <a:cubicBezTo>
                    <a:pt x="171163" y="316082"/>
                    <a:pt x="177704" y="322622"/>
                    <a:pt x="185336" y="322622"/>
                  </a:cubicBezTo>
                  <a:cubicBezTo>
                    <a:pt x="194058" y="322622"/>
                    <a:pt x="200599" y="316082"/>
                    <a:pt x="200599" y="308453"/>
                  </a:cubicBezTo>
                  <a:cubicBezTo>
                    <a:pt x="200599" y="281204"/>
                    <a:pt x="200599" y="281204"/>
                    <a:pt x="200599" y="281204"/>
                  </a:cubicBezTo>
                  <a:cubicBezTo>
                    <a:pt x="200599" y="273574"/>
                    <a:pt x="194058" y="265945"/>
                    <a:pt x="185336" y="265945"/>
                  </a:cubicBezTo>
                  <a:close/>
                  <a:moveTo>
                    <a:pt x="267102" y="185290"/>
                  </a:moveTo>
                  <a:cubicBezTo>
                    <a:pt x="267102" y="192919"/>
                    <a:pt x="273643" y="199459"/>
                    <a:pt x="282365" y="199459"/>
                  </a:cubicBezTo>
                  <a:cubicBezTo>
                    <a:pt x="309620" y="199459"/>
                    <a:pt x="309620" y="199459"/>
                    <a:pt x="309620" y="199459"/>
                  </a:cubicBezTo>
                  <a:cubicBezTo>
                    <a:pt x="317251" y="199459"/>
                    <a:pt x="323793" y="192919"/>
                    <a:pt x="323793" y="185290"/>
                  </a:cubicBezTo>
                  <a:cubicBezTo>
                    <a:pt x="323793" y="176570"/>
                    <a:pt x="317251" y="170030"/>
                    <a:pt x="309620" y="170030"/>
                  </a:cubicBezTo>
                  <a:cubicBezTo>
                    <a:pt x="282365" y="170030"/>
                    <a:pt x="282365" y="170030"/>
                    <a:pt x="282365" y="170030"/>
                  </a:cubicBezTo>
                  <a:cubicBezTo>
                    <a:pt x="273643" y="170030"/>
                    <a:pt x="267102" y="176570"/>
                    <a:pt x="267102" y="185290"/>
                  </a:cubicBezTo>
                  <a:close/>
                  <a:moveTo>
                    <a:pt x="185336" y="46867"/>
                  </a:moveTo>
                  <a:cubicBezTo>
                    <a:pt x="177704" y="46867"/>
                    <a:pt x="171163" y="53407"/>
                    <a:pt x="171163" y="62126"/>
                  </a:cubicBezTo>
                  <a:cubicBezTo>
                    <a:pt x="171163" y="89375"/>
                    <a:pt x="171163" y="89375"/>
                    <a:pt x="171163" y="89375"/>
                  </a:cubicBezTo>
                  <a:cubicBezTo>
                    <a:pt x="171163" y="97005"/>
                    <a:pt x="177704" y="103544"/>
                    <a:pt x="185336" y="103544"/>
                  </a:cubicBezTo>
                  <a:cubicBezTo>
                    <a:pt x="194058" y="103544"/>
                    <a:pt x="200599" y="97005"/>
                    <a:pt x="200599" y="89375"/>
                  </a:cubicBezTo>
                  <a:cubicBezTo>
                    <a:pt x="200599" y="62126"/>
                    <a:pt x="200599" y="62126"/>
                    <a:pt x="200599" y="62126"/>
                  </a:cubicBezTo>
                  <a:cubicBezTo>
                    <a:pt x="200599" y="53407"/>
                    <a:pt x="194058" y="46867"/>
                    <a:pt x="185336" y="46867"/>
                  </a:cubicBezTo>
                  <a:close/>
                  <a:moveTo>
                    <a:pt x="206050" y="187469"/>
                  </a:moveTo>
                  <a:cubicBezTo>
                    <a:pt x="236576" y="155861"/>
                    <a:pt x="236576" y="155861"/>
                    <a:pt x="236576" y="155861"/>
                  </a:cubicBezTo>
                  <a:cubicBezTo>
                    <a:pt x="242027" y="150411"/>
                    <a:pt x="242027" y="141692"/>
                    <a:pt x="236576" y="136242"/>
                  </a:cubicBezTo>
                  <a:cubicBezTo>
                    <a:pt x="231125" y="130793"/>
                    <a:pt x="222403" y="130793"/>
                    <a:pt x="216952" y="136242"/>
                  </a:cubicBezTo>
                  <a:cubicBezTo>
                    <a:pt x="188607" y="165671"/>
                    <a:pt x="188607" y="165671"/>
                    <a:pt x="188607" y="165671"/>
                  </a:cubicBezTo>
                  <a:cubicBezTo>
                    <a:pt x="187516" y="165671"/>
                    <a:pt x="186426" y="165671"/>
                    <a:pt x="185336" y="165671"/>
                  </a:cubicBezTo>
                  <a:cubicBezTo>
                    <a:pt x="184246" y="165671"/>
                    <a:pt x="183155" y="165671"/>
                    <a:pt x="180975" y="165671"/>
                  </a:cubicBezTo>
                  <a:cubicBezTo>
                    <a:pt x="124284" y="106814"/>
                    <a:pt x="124284" y="106814"/>
                    <a:pt x="124284" y="106814"/>
                  </a:cubicBezTo>
                  <a:cubicBezTo>
                    <a:pt x="119923" y="102454"/>
                    <a:pt x="113382" y="102454"/>
                    <a:pt x="110111" y="106814"/>
                  </a:cubicBezTo>
                  <a:cubicBezTo>
                    <a:pt x="105750" y="110084"/>
                    <a:pt x="105750" y="116623"/>
                    <a:pt x="109021" y="120983"/>
                  </a:cubicBezTo>
                  <a:cubicBezTo>
                    <a:pt x="166802" y="179840"/>
                    <a:pt x="166802" y="179840"/>
                    <a:pt x="166802" y="179840"/>
                  </a:cubicBezTo>
                  <a:cubicBezTo>
                    <a:pt x="165712" y="182020"/>
                    <a:pt x="165712" y="183110"/>
                    <a:pt x="165712" y="185290"/>
                  </a:cubicBezTo>
                  <a:cubicBezTo>
                    <a:pt x="165712" y="196189"/>
                    <a:pt x="174434" y="204908"/>
                    <a:pt x="185336" y="204908"/>
                  </a:cubicBezTo>
                  <a:cubicBezTo>
                    <a:pt x="196238" y="204908"/>
                    <a:pt x="204960" y="197279"/>
                    <a:pt x="206050" y="187469"/>
                  </a:cubicBezTo>
                  <a:close/>
                  <a:moveTo>
                    <a:pt x="47969" y="185290"/>
                  </a:moveTo>
                  <a:cubicBezTo>
                    <a:pt x="47969" y="192919"/>
                    <a:pt x="54511" y="199459"/>
                    <a:pt x="62142" y="199459"/>
                  </a:cubicBezTo>
                  <a:cubicBezTo>
                    <a:pt x="89397" y="199459"/>
                    <a:pt x="89397" y="199459"/>
                    <a:pt x="89397" y="199459"/>
                  </a:cubicBezTo>
                  <a:cubicBezTo>
                    <a:pt x="98119" y="199459"/>
                    <a:pt x="104660" y="192919"/>
                    <a:pt x="104660" y="185290"/>
                  </a:cubicBezTo>
                  <a:cubicBezTo>
                    <a:pt x="104660" y="176570"/>
                    <a:pt x="98119" y="170030"/>
                    <a:pt x="89397" y="170030"/>
                  </a:cubicBezTo>
                  <a:cubicBezTo>
                    <a:pt x="62142" y="170030"/>
                    <a:pt x="62142" y="170030"/>
                    <a:pt x="62142" y="170030"/>
                  </a:cubicBezTo>
                  <a:cubicBezTo>
                    <a:pt x="54511" y="170030"/>
                    <a:pt x="47969" y="176570"/>
                    <a:pt x="47969" y="1852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6F0C440A-385F-D220-8643-8C894678B2ED}"/>
                </a:ext>
              </a:extLst>
            </p:cNvPr>
            <p:cNvSpPr/>
            <p:nvPr/>
          </p:nvSpPr>
          <p:spPr>
            <a:xfrm>
              <a:off x="6423403" y="4929235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页面布局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757456B0-FF43-E814-AA4A-75DFAD02D705}"/>
              </a:ext>
            </a:extLst>
          </p:cNvPr>
          <p:cNvSpPr txBox="1"/>
          <p:nvPr/>
        </p:nvSpPr>
        <p:spPr>
          <a:xfrm>
            <a:off x="674703" y="1284208"/>
            <a:ext cx="6125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4.7 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当前实现效果</a:t>
            </a:r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——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项目搜索</a:t>
            </a:r>
          </a:p>
        </p:txBody>
      </p:sp>
      <p:pic>
        <p:nvPicPr>
          <p:cNvPr id="3" name="图片 2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A9EFC53-5E03-89C9-1ACF-0087B26A5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36" y="1990843"/>
            <a:ext cx="9562987" cy="4378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897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CBACC-8FA4-7434-FB02-F562FF22A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52783452-2930-0677-9969-C5AD44B33C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70A0172D-3EFB-4F34-A98F-FC6057A713BC}"/>
              </a:ext>
            </a:extLst>
          </p:cNvPr>
          <p:cNvGrpSpPr/>
          <p:nvPr/>
        </p:nvGrpSpPr>
        <p:grpSpPr>
          <a:xfrm>
            <a:off x="5967941" y="2744132"/>
            <a:ext cx="1184492" cy="993840"/>
            <a:chOff x="6142753" y="2439326"/>
            <a:chExt cx="1184492" cy="99384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8D46E68E-A7FA-E400-8D32-11B4A2EB6496}"/>
                </a:ext>
              </a:extLst>
            </p:cNvPr>
            <p:cNvGrpSpPr/>
            <p:nvPr/>
          </p:nvGrpSpPr>
          <p:grpSpPr>
            <a:xfrm>
              <a:off x="6438208" y="2439326"/>
              <a:ext cx="373402" cy="357114"/>
              <a:chOff x="6042259" y="5362013"/>
              <a:chExt cx="464982" cy="444699"/>
            </a:xfrm>
            <a:solidFill>
              <a:schemeClr val="bg1"/>
            </a:solidFill>
          </p:grpSpPr>
          <p:sp>
            <p:nvSpPr>
              <p:cNvPr id="21" name="Freeform 25">
                <a:extLst>
                  <a:ext uri="{FF2B5EF4-FFF2-40B4-BE49-F238E27FC236}">
                    <a16:creationId xmlns:a16="http://schemas.microsoft.com/office/drawing/2014/main" id="{AB0A2B42-7E09-F38F-5CA2-2488BC881465}"/>
                  </a:ext>
                </a:extLst>
              </p:cNvPr>
              <p:cNvSpPr/>
              <p:nvPr/>
            </p:nvSpPr>
            <p:spPr>
              <a:xfrm>
                <a:off x="6212692" y="5681688"/>
                <a:ext cx="125025" cy="125024"/>
              </a:xfrm>
              <a:custGeom>
                <a:avLst/>
                <a:gdLst>
                  <a:gd name="T0" fmla="*/ 206 w 413"/>
                  <a:gd name="T1" fmla="*/ 413 h 413"/>
                  <a:gd name="T2" fmla="*/ 0 w 413"/>
                  <a:gd name="T3" fmla="*/ 0 h 413"/>
                  <a:gd name="T4" fmla="*/ 413 w 413"/>
                  <a:gd name="T5" fmla="*/ 0 h 413"/>
                  <a:gd name="T6" fmla="*/ 206 w 413"/>
                  <a:gd name="T7" fmla="*/ 413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025" h="125024">
                    <a:moveTo>
                      <a:pt x="62361" y="125024"/>
                    </a:moveTo>
                    <a:lnTo>
                      <a:pt x="0" y="0"/>
                    </a:lnTo>
                    <a:lnTo>
                      <a:pt x="125025" y="0"/>
                    </a:lnTo>
                    <a:lnTo>
                      <a:pt x="62361" y="1250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任意多边形 32">
                <a:extLst>
                  <a:ext uri="{FF2B5EF4-FFF2-40B4-BE49-F238E27FC236}">
                    <a16:creationId xmlns:a16="http://schemas.microsoft.com/office/drawing/2014/main" id="{F3FEF2DC-B75F-E3E9-B0A6-1BC0CAD72D13}"/>
                  </a:ext>
                </a:extLst>
              </p:cNvPr>
              <p:cNvSpPr>
                <a:spLocks noChangeArrowheads="1"/>
              </p:cNvSpPr>
              <p:nvPr/>
            </p:nvSpPr>
            <p:spPr>
              <a:xfrm>
                <a:off x="6042259" y="5362013"/>
                <a:ext cx="464982" cy="338443"/>
              </a:xfrm>
              <a:custGeom>
                <a:avLst/>
                <a:gdLst>
                  <a:gd name="connsiteX0" fmla="*/ 290196 w 2438400"/>
                  <a:gd name="connsiteY0" fmla="*/ 0 h 1774825"/>
                  <a:gd name="connsiteX1" fmla="*/ 2151973 w 2438400"/>
                  <a:gd name="connsiteY1" fmla="*/ 0 h 1774825"/>
                  <a:gd name="connsiteX2" fmla="*/ 2438400 w 2438400"/>
                  <a:gd name="connsiteY2" fmla="*/ 286384 h 1774825"/>
                  <a:gd name="connsiteX3" fmla="*/ 2438400 w 2438400"/>
                  <a:gd name="connsiteY3" fmla="*/ 1484673 h 1774825"/>
                  <a:gd name="connsiteX4" fmla="*/ 2151973 w 2438400"/>
                  <a:gd name="connsiteY4" fmla="*/ 1774825 h 1774825"/>
                  <a:gd name="connsiteX5" fmla="*/ 290196 w 2438400"/>
                  <a:gd name="connsiteY5" fmla="*/ 1774825 h 1774825"/>
                  <a:gd name="connsiteX6" fmla="*/ 0 w 2438400"/>
                  <a:gd name="connsiteY6" fmla="*/ 1484673 h 1774825"/>
                  <a:gd name="connsiteX7" fmla="*/ 0 w 2438400"/>
                  <a:gd name="connsiteY7" fmla="*/ 286384 h 1774825"/>
                  <a:gd name="connsiteX8" fmla="*/ 290196 w 2438400"/>
                  <a:gd name="connsiteY8" fmla="*/ 0 h 1774825"/>
                  <a:gd name="connsiteX9" fmla="*/ 471488 w 2438400"/>
                  <a:gd name="connsiteY9" fmla="*/ 425450 h 1774825"/>
                  <a:gd name="connsiteX10" fmla="*/ 471488 w 2438400"/>
                  <a:gd name="connsiteY10" fmla="*/ 598488 h 1774825"/>
                  <a:gd name="connsiteX11" fmla="*/ 1971676 w 2438400"/>
                  <a:gd name="connsiteY11" fmla="*/ 598488 h 1774825"/>
                  <a:gd name="connsiteX12" fmla="*/ 1971676 w 2438400"/>
                  <a:gd name="connsiteY12" fmla="*/ 425450 h 1774825"/>
                  <a:gd name="connsiteX13" fmla="*/ 471488 w 2438400"/>
                  <a:gd name="connsiteY13" fmla="*/ 425450 h 1774825"/>
                  <a:gd name="connsiteX14" fmla="*/ 471488 w 2438400"/>
                  <a:gd name="connsiteY14" fmla="*/ 801688 h 1774825"/>
                  <a:gd name="connsiteX15" fmla="*/ 471488 w 2438400"/>
                  <a:gd name="connsiteY15" fmla="*/ 971551 h 1774825"/>
                  <a:gd name="connsiteX16" fmla="*/ 1971676 w 2438400"/>
                  <a:gd name="connsiteY16" fmla="*/ 971551 h 1774825"/>
                  <a:gd name="connsiteX17" fmla="*/ 1971676 w 2438400"/>
                  <a:gd name="connsiteY17" fmla="*/ 801688 h 1774825"/>
                  <a:gd name="connsiteX18" fmla="*/ 471488 w 2438400"/>
                  <a:gd name="connsiteY18" fmla="*/ 801688 h 1774825"/>
                  <a:gd name="connsiteX19" fmla="*/ 471488 w 2438400"/>
                  <a:gd name="connsiteY19" fmla="*/ 1174750 h 1774825"/>
                  <a:gd name="connsiteX20" fmla="*/ 471488 w 2438400"/>
                  <a:gd name="connsiteY20" fmla="*/ 1347788 h 1774825"/>
                  <a:gd name="connsiteX21" fmla="*/ 1971676 w 2438400"/>
                  <a:gd name="connsiteY21" fmla="*/ 1347788 h 1774825"/>
                  <a:gd name="connsiteX22" fmla="*/ 1971676 w 2438400"/>
                  <a:gd name="connsiteY22" fmla="*/ 1174750 h 1774825"/>
                  <a:gd name="connsiteX23" fmla="*/ 471488 w 2438400"/>
                  <a:gd name="connsiteY23" fmla="*/ 1174750 h 177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64982" h="338443">
                    <a:moveTo>
                      <a:pt x="55338" y="0"/>
                    </a:moveTo>
                    <a:cubicBezTo>
                      <a:pt x="410363" y="0"/>
                      <a:pt x="410363" y="0"/>
                      <a:pt x="410363" y="0"/>
                    </a:cubicBezTo>
                    <a:cubicBezTo>
                      <a:pt x="440547" y="0"/>
                      <a:pt x="464982" y="24431"/>
                      <a:pt x="464982" y="54611"/>
                    </a:cubicBezTo>
                    <a:lnTo>
                      <a:pt x="464982" y="283114"/>
                    </a:lnTo>
                    <a:cubicBezTo>
                      <a:pt x="464982" y="314012"/>
                      <a:pt x="440547" y="338443"/>
                      <a:pt x="410363" y="338443"/>
                    </a:cubicBezTo>
                    <a:cubicBezTo>
                      <a:pt x="55338" y="338443"/>
                      <a:pt x="55338" y="338443"/>
                      <a:pt x="55338" y="338443"/>
                    </a:cubicBezTo>
                    <a:cubicBezTo>
                      <a:pt x="25154" y="338443"/>
                      <a:pt x="0" y="314012"/>
                      <a:pt x="0" y="283114"/>
                    </a:cubicBezTo>
                    <a:cubicBezTo>
                      <a:pt x="0" y="54611"/>
                      <a:pt x="0" y="54611"/>
                      <a:pt x="0" y="54611"/>
                    </a:cubicBezTo>
                    <a:cubicBezTo>
                      <a:pt x="0" y="24431"/>
                      <a:pt x="25154" y="0"/>
                      <a:pt x="55338" y="0"/>
                    </a:cubicBezTo>
                    <a:close/>
                    <a:moveTo>
                      <a:pt x="89909" y="81129"/>
                    </a:moveTo>
                    <a:lnTo>
                      <a:pt x="89909" y="114126"/>
                    </a:lnTo>
                    <a:lnTo>
                      <a:pt x="375982" y="114126"/>
                    </a:lnTo>
                    <a:lnTo>
                      <a:pt x="375982" y="81129"/>
                    </a:lnTo>
                    <a:lnTo>
                      <a:pt x="89909" y="81129"/>
                    </a:lnTo>
                    <a:close/>
                    <a:moveTo>
                      <a:pt x="89909" y="152875"/>
                    </a:moveTo>
                    <a:lnTo>
                      <a:pt x="89909" y="185266"/>
                    </a:lnTo>
                    <a:lnTo>
                      <a:pt x="375982" y="185266"/>
                    </a:lnTo>
                    <a:lnTo>
                      <a:pt x="375982" y="152875"/>
                    </a:lnTo>
                    <a:lnTo>
                      <a:pt x="89909" y="152875"/>
                    </a:lnTo>
                    <a:close/>
                    <a:moveTo>
                      <a:pt x="89909" y="224014"/>
                    </a:moveTo>
                    <a:lnTo>
                      <a:pt x="89909" y="257011"/>
                    </a:lnTo>
                    <a:lnTo>
                      <a:pt x="375982" y="257011"/>
                    </a:lnTo>
                    <a:lnTo>
                      <a:pt x="375982" y="224014"/>
                    </a:lnTo>
                    <a:lnTo>
                      <a:pt x="89909" y="2240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9A249F6-7E4F-534F-4AC6-7980765472FE}"/>
                </a:ext>
              </a:extLst>
            </p:cNvPr>
            <p:cNvSpPr/>
            <p:nvPr/>
          </p:nvSpPr>
          <p:spPr>
            <a:xfrm>
              <a:off x="6142753" y="2848391"/>
              <a:ext cx="11844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思源黑体 CN Medium" panose="020B0600000000000000" charset="-122"/>
                  <a:ea typeface="方正兰亭中黑_GBK"/>
                </a:rPr>
                <a:t>数据处理和展示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0F4011B6-A511-DD71-464D-15D4E921A16F}"/>
              </a:ext>
            </a:extLst>
          </p:cNvPr>
          <p:cNvGrpSpPr/>
          <p:nvPr/>
        </p:nvGrpSpPr>
        <p:grpSpPr>
          <a:xfrm>
            <a:off x="5027142" y="4039269"/>
            <a:ext cx="800219" cy="850564"/>
            <a:chOff x="5145854" y="3625488"/>
            <a:chExt cx="800219" cy="850564"/>
          </a:xfrm>
        </p:grpSpPr>
        <p:grpSp>
          <p:nvGrpSpPr>
            <p:cNvPr id="24" name="Group 18">
              <a:extLst>
                <a:ext uri="{FF2B5EF4-FFF2-40B4-BE49-F238E27FC236}">
                  <a16:creationId xmlns:a16="http://schemas.microsoft.com/office/drawing/2014/main" id="{2C500BEF-6E55-CFA9-C676-BB284DECE9D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355142" y="3625488"/>
              <a:ext cx="385124" cy="333775"/>
              <a:chOff x="3525" y="1887"/>
              <a:chExt cx="630" cy="546"/>
            </a:xfrm>
            <a:solidFill>
              <a:schemeClr val="bg1"/>
            </a:solidFill>
            <a:effectLst/>
          </p:grpSpPr>
          <p:sp>
            <p:nvSpPr>
              <p:cNvPr id="26" name="Freeform 19">
                <a:extLst>
                  <a:ext uri="{FF2B5EF4-FFF2-40B4-BE49-F238E27FC236}">
                    <a16:creationId xmlns:a16="http://schemas.microsoft.com/office/drawing/2014/main" id="{610853E1-819B-5072-7A8A-7DC332B5ABE0}"/>
                  </a:ext>
                </a:extLst>
              </p:cNvPr>
              <p:cNvSpPr/>
              <p:nvPr/>
            </p:nvSpPr>
            <p:spPr>
              <a:xfrm>
                <a:off x="3623" y="2117"/>
                <a:ext cx="129" cy="227"/>
              </a:xfrm>
              <a:custGeom>
                <a:avLst/>
                <a:gdLst>
                  <a:gd name="T0" fmla="*/ 4 w 54"/>
                  <a:gd name="T1" fmla="*/ 95 h 95"/>
                  <a:gd name="T2" fmla="*/ 49 w 54"/>
                  <a:gd name="T3" fmla="*/ 95 h 95"/>
                  <a:gd name="T4" fmla="*/ 54 w 54"/>
                  <a:gd name="T5" fmla="*/ 90 h 95"/>
                  <a:gd name="T6" fmla="*/ 54 w 54"/>
                  <a:gd name="T7" fmla="*/ 4 h 95"/>
                  <a:gd name="T8" fmla="*/ 49 w 54"/>
                  <a:gd name="T9" fmla="*/ 0 h 95"/>
                  <a:gd name="T10" fmla="*/ 4 w 54"/>
                  <a:gd name="T11" fmla="*/ 0 h 95"/>
                  <a:gd name="T12" fmla="*/ 0 w 54"/>
                  <a:gd name="T13" fmla="*/ 4 h 95"/>
                  <a:gd name="T14" fmla="*/ 0 w 54"/>
                  <a:gd name="T15" fmla="*/ 90 h 95"/>
                  <a:gd name="T16" fmla="*/ 4 w 54"/>
                  <a:gd name="T17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227">
                    <a:moveTo>
                      <a:pt x="10" y="227"/>
                    </a:moveTo>
                    <a:cubicBezTo>
                      <a:pt x="117" y="227"/>
                      <a:pt x="117" y="227"/>
                      <a:pt x="117" y="227"/>
                    </a:cubicBezTo>
                    <a:cubicBezTo>
                      <a:pt x="124" y="227"/>
                      <a:pt x="129" y="222"/>
                      <a:pt x="129" y="215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22"/>
                      <a:pt x="5" y="227"/>
                      <a:pt x="10" y="2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D3D546B1-3CB8-80B7-347C-C387A8BFD088}"/>
                  </a:ext>
                </a:extLst>
              </p:cNvPr>
              <p:cNvSpPr/>
              <p:nvPr/>
            </p:nvSpPr>
            <p:spPr>
              <a:xfrm>
                <a:off x="3809" y="2033"/>
                <a:ext cx="129" cy="311"/>
              </a:xfrm>
              <a:custGeom>
                <a:avLst/>
                <a:gdLst>
                  <a:gd name="T0" fmla="*/ 5 w 54"/>
                  <a:gd name="T1" fmla="*/ 130 h 130"/>
                  <a:gd name="T2" fmla="*/ 50 w 54"/>
                  <a:gd name="T3" fmla="*/ 130 h 130"/>
                  <a:gd name="T4" fmla="*/ 54 w 54"/>
                  <a:gd name="T5" fmla="*/ 125 h 130"/>
                  <a:gd name="T6" fmla="*/ 54 w 54"/>
                  <a:gd name="T7" fmla="*/ 5 h 130"/>
                  <a:gd name="T8" fmla="*/ 50 w 54"/>
                  <a:gd name="T9" fmla="*/ 0 h 130"/>
                  <a:gd name="T10" fmla="*/ 5 w 54"/>
                  <a:gd name="T11" fmla="*/ 0 h 130"/>
                  <a:gd name="T12" fmla="*/ 0 w 54"/>
                  <a:gd name="T13" fmla="*/ 5 h 130"/>
                  <a:gd name="T14" fmla="*/ 0 w 54"/>
                  <a:gd name="T15" fmla="*/ 125 h 130"/>
                  <a:gd name="T16" fmla="*/ 5 w 54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11">
                    <a:moveTo>
                      <a:pt x="12" y="311"/>
                    </a:moveTo>
                    <a:cubicBezTo>
                      <a:pt x="119" y="311"/>
                      <a:pt x="119" y="311"/>
                      <a:pt x="119" y="311"/>
                    </a:cubicBezTo>
                    <a:cubicBezTo>
                      <a:pt x="124" y="311"/>
                      <a:pt x="129" y="306"/>
                      <a:pt x="129" y="299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9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299"/>
                      <a:pt x="0" y="299"/>
                      <a:pt x="0" y="299"/>
                    </a:cubicBezTo>
                    <a:cubicBezTo>
                      <a:pt x="0" y="306"/>
                      <a:pt x="5" y="311"/>
                      <a:pt x="12" y="3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30310EFF-42FD-E938-FDC3-F5C2CDEC314B}"/>
                  </a:ext>
                </a:extLst>
              </p:cNvPr>
              <p:cNvSpPr/>
              <p:nvPr/>
            </p:nvSpPr>
            <p:spPr>
              <a:xfrm>
                <a:off x="3997" y="1964"/>
                <a:ext cx="129" cy="380"/>
              </a:xfrm>
              <a:custGeom>
                <a:avLst/>
                <a:gdLst>
                  <a:gd name="T0" fmla="*/ 4 w 54"/>
                  <a:gd name="T1" fmla="*/ 159 h 159"/>
                  <a:gd name="T2" fmla="*/ 49 w 54"/>
                  <a:gd name="T3" fmla="*/ 159 h 159"/>
                  <a:gd name="T4" fmla="*/ 54 w 54"/>
                  <a:gd name="T5" fmla="*/ 154 h 159"/>
                  <a:gd name="T6" fmla="*/ 54 w 54"/>
                  <a:gd name="T7" fmla="*/ 5 h 159"/>
                  <a:gd name="T8" fmla="*/ 49 w 54"/>
                  <a:gd name="T9" fmla="*/ 0 h 159"/>
                  <a:gd name="T10" fmla="*/ 4 w 54"/>
                  <a:gd name="T11" fmla="*/ 0 h 159"/>
                  <a:gd name="T12" fmla="*/ 0 w 54"/>
                  <a:gd name="T13" fmla="*/ 5 h 159"/>
                  <a:gd name="T14" fmla="*/ 0 w 54"/>
                  <a:gd name="T15" fmla="*/ 154 h 159"/>
                  <a:gd name="T16" fmla="*/ 4 w 54"/>
                  <a:gd name="T17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80">
                    <a:moveTo>
                      <a:pt x="10" y="380"/>
                    </a:moveTo>
                    <a:cubicBezTo>
                      <a:pt x="117" y="380"/>
                      <a:pt x="117" y="380"/>
                      <a:pt x="117" y="380"/>
                    </a:cubicBezTo>
                    <a:cubicBezTo>
                      <a:pt x="124" y="380"/>
                      <a:pt x="129" y="375"/>
                      <a:pt x="129" y="368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368"/>
                      <a:pt x="0" y="368"/>
                      <a:pt x="0" y="368"/>
                    </a:cubicBezTo>
                    <a:cubicBezTo>
                      <a:pt x="0" y="375"/>
                      <a:pt x="5" y="380"/>
                      <a:pt x="10" y="3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062D6981-B3D1-73D3-D305-C312B3C0425A}"/>
                  </a:ext>
                </a:extLst>
              </p:cNvPr>
              <p:cNvSpPr/>
              <p:nvPr/>
            </p:nvSpPr>
            <p:spPr>
              <a:xfrm>
                <a:off x="3525" y="1887"/>
                <a:ext cx="630" cy="546"/>
              </a:xfrm>
              <a:custGeom>
                <a:avLst/>
                <a:gdLst>
                  <a:gd name="T0" fmla="*/ 253 w 264"/>
                  <a:gd name="T1" fmla="*/ 206 h 228"/>
                  <a:gd name="T2" fmla="*/ 23 w 264"/>
                  <a:gd name="T3" fmla="*/ 206 h 228"/>
                  <a:gd name="T4" fmla="*/ 22 w 264"/>
                  <a:gd name="T5" fmla="*/ 206 h 228"/>
                  <a:gd name="T6" fmla="*/ 22 w 264"/>
                  <a:gd name="T7" fmla="*/ 11 h 228"/>
                  <a:gd name="T8" fmla="*/ 11 w 264"/>
                  <a:gd name="T9" fmla="*/ 0 h 228"/>
                  <a:gd name="T10" fmla="*/ 0 w 264"/>
                  <a:gd name="T11" fmla="*/ 11 h 228"/>
                  <a:gd name="T12" fmla="*/ 0 w 264"/>
                  <a:gd name="T13" fmla="*/ 206 h 228"/>
                  <a:gd name="T14" fmla="*/ 23 w 264"/>
                  <a:gd name="T15" fmla="*/ 228 h 228"/>
                  <a:gd name="T16" fmla="*/ 253 w 264"/>
                  <a:gd name="T17" fmla="*/ 228 h 228"/>
                  <a:gd name="T18" fmla="*/ 264 w 264"/>
                  <a:gd name="T19" fmla="*/ 217 h 228"/>
                  <a:gd name="T20" fmla="*/ 253 w 264"/>
                  <a:gd name="T21" fmla="*/ 206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30" h="546">
                    <a:moveTo>
                      <a:pt x="604" y="493"/>
                    </a:moveTo>
                    <a:cubicBezTo>
                      <a:pt x="55" y="493"/>
                      <a:pt x="55" y="493"/>
                      <a:pt x="55" y="493"/>
                    </a:cubicBezTo>
                    <a:cubicBezTo>
                      <a:pt x="53" y="493"/>
                      <a:pt x="53" y="493"/>
                      <a:pt x="53" y="493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53" y="12"/>
                      <a:pt x="41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93"/>
                      <a:pt x="0" y="493"/>
                      <a:pt x="0" y="493"/>
                    </a:cubicBezTo>
                    <a:cubicBezTo>
                      <a:pt x="0" y="522"/>
                      <a:pt x="24" y="546"/>
                      <a:pt x="55" y="546"/>
                    </a:cubicBezTo>
                    <a:cubicBezTo>
                      <a:pt x="604" y="546"/>
                      <a:pt x="604" y="546"/>
                      <a:pt x="604" y="546"/>
                    </a:cubicBezTo>
                    <a:cubicBezTo>
                      <a:pt x="618" y="546"/>
                      <a:pt x="630" y="534"/>
                      <a:pt x="630" y="520"/>
                    </a:cubicBezTo>
                    <a:cubicBezTo>
                      <a:pt x="630" y="505"/>
                      <a:pt x="618" y="493"/>
                      <a:pt x="604" y="4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A6090734-DBB4-A9C0-4053-CBDD0CD43BD7}"/>
                </a:ext>
              </a:extLst>
            </p:cNvPr>
            <p:cNvSpPr/>
            <p:nvPr/>
          </p:nvSpPr>
          <p:spPr>
            <a:xfrm>
              <a:off x="5145854" y="4137498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数据源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284EBF9F-957B-5A3C-B3D1-7F0021D12658}"/>
              </a:ext>
            </a:extLst>
          </p:cNvPr>
          <p:cNvGrpSpPr/>
          <p:nvPr/>
        </p:nvGrpSpPr>
        <p:grpSpPr>
          <a:xfrm>
            <a:off x="6248591" y="4704544"/>
            <a:ext cx="1005403" cy="868051"/>
            <a:chOff x="6423403" y="4399738"/>
            <a:chExt cx="1005403" cy="868051"/>
          </a:xfrm>
        </p:grpSpPr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4D7334FB-6AFA-8825-4E13-4C071EF24EE7}"/>
                </a:ext>
              </a:extLst>
            </p:cNvPr>
            <p:cNvSpPr>
              <a:spLocks noEditPoints="1"/>
            </p:cNvSpPr>
            <p:nvPr/>
          </p:nvSpPr>
          <p:spPr>
            <a:xfrm>
              <a:off x="6739622" y="4399738"/>
              <a:ext cx="371762" cy="370579"/>
            </a:xfrm>
            <a:custGeom>
              <a:avLst/>
              <a:gdLst>
                <a:gd name="T0" fmla="*/ 52 w 341"/>
                <a:gd name="T1" fmla="*/ 0 h 340"/>
                <a:gd name="T2" fmla="*/ 289 w 341"/>
                <a:gd name="T3" fmla="*/ 0 h 340"/>
                <a:gd name="T4" fmla="*/ 341 w 341"/>
                <a:gd name="T5" fmla="*/ 51 h 340"/>
                <a:gd name="T6" fmla="*/ 341 w 341"/>
                <a:gd name="T7" fmla="*/ 289 h 340"/>
                <a:gd name="T8" fmla="*/ 289 w 341"/>
                <a:gd name="T9" fmla="*/ 340 h 340"/>
                <a:gd name="T10" fmla="*/ 52 w 341"/>
                <a:gd name="T11" fmla="*/ 340 h 340"/>
                <a:gd name="T12" fmla="*/ 0 w 341"/>
                <a:gd name="T13" fmla="*/ 289 h 340"/>
                <a:gd name="T14" fmla="*/ 0 w 341"/>
                <a:gd name="T15" fmla="*/ 51 h 340"/>
                <a:gd name="T16" fmla="*/ 52 w 341"/>
                <a:gd name="T17" fmla="*/ 0 h 340"/>
                <a:gd name="T18" fmla="*/ 71 w 341"/>
                <a:gd name="T19" fmla="*/ 37 h 340"/>
                <a:gd name="T20" fmla="*/ 38 w 341"/>
                <a:gd name="T21" fmla="*/ 70 h 340"/>
                <a:gd name="T22" fmla="*/ 38 w 341"/>
                <a:gd name="T23" fmla="*/ 269 h 340"/>
                <a:gd name="T24" fmla="*/ 71 w 341"/>
                <a:gd name="T25" fmla="*/ 302 h 340"/>
                <a:gd name="T26" fmla="*/ 270 w 341"/>
                <a:gd name="T27" fmla="*/ 302 h 340"/>
                <a:gd name="T28" fmla="*/ 303 w 341"/>
                <a:gd name="T29" fmla="*/ 269 h 340"/>
                <a:gd name="T30" fmla="*/ 303 w 341"/>
                <a:gd name="T31" fmla="*/ 70 h 340"/>
                <a:gd name="T32" fmla="*/ 270 w 341"/>
                <a:gd name="T33" fmla="*/ 37 h 340"/>
                <a:gd name="T34" fmla="*/ 71 w 341"/>
                <a:gd name="T35" fmla="*/ 37 h 340"/>
                <a:gd name="T36" fmla="*/ 170 w 341"/>
                <a:gd name="T37" fmla="*/ 244 h 340"/>
                <a:gd name="T38" fmla="*/ 157 w 341"/>
                <a:gd name="T39" fmla="*/ 258 h 340"/>
                <a:gd name="T40" fmla="*/ 157 w 341"/>
                <a:gd name="T41" fmla="*/ 283 h 340"/>
                <a:gd name="T42" fmla="*/ 170 w 341"/>
                <a:gd name="T43" fmla="*/ 296 h 340"/>
                <a:gd name="T44" fmla="*/ 184 w 341"/>
                <a:gd name="T45" fmla="*/ 283 h 340"/>
                <a:gd name="T46" fmla="*/ 184 w 341"/>
                <a:gd name="T47" fmla="*/ 258 h 340"/>
                <a:gd name="T48" fmla="*/ 170 w 341"/>
                <a:gd name="T49" fmla="*/ 244 h 340"/>
                <a:gd name="T50" fmla="*/ 245 w 341"/>
                <a:gd name="T51" fmla="*/ 170 h 340"/>
                <a:gd name="T52" fmla="*/ 259 w 341"/>
                <a:gd name="T53" fmla="*/ 183 h 340"/>
                <a:gd name="T54" fmla="*/ 284 w 341"/>
                <a:gd name="T55" fmla="*/ 183 h 340"/>
                <a:gd name="T56" fmla="*/ 297 w 341"/>
                <a:gd name="T57" fmla="*/ 170 h 340"/>
                <a:gd name="T58" fmla="*/ 284 w 341"/>
                <a:gd name="T59" fmla="*/ 156 h 340"/>
                <a:gd name="T60" fmla="*/ 259 w 341"/>
                <a:gd name="T61" fmla="*/ 156 h 340"/>
                <a:gd name="T62" fmla="*/ 245 w 341"/>
                <a:gd name="T63" fmla="*/ 170 h 340"/>
                <a:gd name="T64" fmla="*/ 170 w 341"/>
                <a:gd name="T65" fmla="*/ 43 h 340"/>
                <a:gd name="T66" fmla="*/ 157 w 341"/>
                <a:gd name="T67" fmla="*/ 57 h 340"/>
                <a:gd name="T68" fmla="*/ 157 w 341"/>
                <a:gd name="T69" fmla="*/ 82 h 340"/>
                <a:gd name="T70" fmla="*/ 170 w 341"/>
                <a:gd name="T71" fmla="*/ 95 h 340"/>
                <a:gd name="T72" fmla="*/ 184 w 341"/>
                <a:gd name="T73" fmla="*/ 82 h 340"/>
                <a:gd name="T74" fmla="*/ 184 w 341"/>
                <a:gd name="T75" fmla="*/ 57 h 340"/>
                <a:gd name="T76" fmla="*/ 170 w 341"/>
                <a:gd name="T77" fmla="*/ 43 h 340"/>
                <a:gd name="T78" fmla="*/ 189 w 341"/>
                <a:gd name="T79" fmla="*/ 172 h 340"/>
                <a:gd name="T80" fmla="*/ 217 w 341"/>
                <a:gd name="T81" fmla="*/ 143 h 340"/>
                <a:gd name="T82" fmla="*/ 217 w 341"/>
                <a:gd name="T83" fmla="*/ 125 h 340"/>
                <a:gd name="T84" fmla="*/ 199 w 341"/>
                <a:gd name="T85" fmla="*/ 125 h 340"/>
                <a:gd name="T86" fmla="*/ 173 w 341"/>
                <a:gd name="T87" fmla="*/ 152 h 340"/>
                <a:gd name="T88" fmla="*/ 170 w 341"/>
                <a:gd name="T89" fmla="*/ 152 h 340"/>
                <a:gd name="T90" fmla="*/ 166 w 341"/>
                <a:gd name="T91" fmla="*/ 152 h 340"/>
                <a:gd name="T92" fmla="*/ 114 w 341"/>
                <a:gd name="T93" fmla="*/ 98 h 340"/>
                <a:gd name="T94" fmla="*/ 101 w 341"/>
                <a:gd name="T95" fmla="*/ 98 h 340"/>
                <a:gd name="T96" fmla="*/ 100 w 341"/>
                <a:gd name="T97" fmla="*/ 111 h 340"/>
                <a:gd name="T98" fmla="*/ 153 w 341"/>
                <a:gd name="T99" fmla="*/ 165 h 340"/>
                <a:gd name="T100" fmla="*/ 152 w 341"/>
                <a:gd name="T101" fmla="*/ 170 h 340"/>
                <a:gd name="T102" fmla="*/ 170 w 341"/>
                <a:gd name="T103" fmla="*/ 188 h 340"/>
                <a:gd name="T104" fmla="*/ 189 w 341"/>
                <a:gd name="T105" fmla="*/ 172 h 340"/>
                <a:gd name="T106" fmla="*/ 44 w 341"/>
                <a:gd name="T107" fmla="*/ 170 h 340"/>
                <a:gd name="T108" fmla="*/ 57 w 341"/>
                <a:gd name="T109" fmla="*/ 183 h 340"/>
                <a:gd name="T110" fmla="*/ 82 w 341"/>
                <a:gd name="T111" fmla="*/ 183 h 340"/>
                <a:gd name="T112" fmla="*/ 96 w 341"/>
                <a:gd name="T113" fmla="*/ 170 h 340"/>
                <a:gd name="T114" fmla="*/ 82 w 341"/>
                <a:gd name="T115" fmla="*/ 156 h 340"/>
                <a:gd name="T116" fmla="*/ 57 w 341"/>
                <a:gd name="T117" fmla="*/ 156 h 340"/>
                <a:gd name="T118" fmla="*/ 44 w 341"/>
                <a:gd name="T119" fmla="*/ 17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71762" h="370579">
                  <a:moveTo>
                    <a:pt x="56691" y="0"/>
                  </a:moveTo>
                  <a:cubicBezTo>
                    <a:pt x="315071" y="0"/>
                    <a:pt x="315071" y="0"/>
                    <a:pt x="315071" y="0"/>
                  </a:cubicBezTo>
                  <a:cubicBezTo>
                    <a:pt x="346687" y="0"/>
                    <a:pt x="371762" y="25069"/>
                    <a:pt x="371762" y="55587"/>
                  </a:cubicBezTo>
                  <a:cubicBezTo>
                    <a:pt x="371762" y="314992"/>
                    <a:pt x="371762" y="314992"/>
                    <a:pt x="371762" y="314992"/>
                  </a:cubicBezTo>
                  <a:cubicBezTo>
                    <a:pt x="371762" y="345510"/>
                    <a:pt x="346687" y="370579"/>
                    <a:pt x="315071" y="370579"/>
                  </a:cubicBezTo>
                  <a:cubicBezTo>
                    <a:pt x="56691" y="370579"/>
                    <a:pt x="56691" y="370579"/>
                    <a:pt x="56691" y="370579"/>
                  </a:cubicBezTo>
                  <a:cubicBezTo>
                    <a:pt x="25075" y="370579"/>
                    <a:pt x="0" y="345510"/>
                    <a:pt x="0" y="314992"/>
                  </a:cubicBezTo>
                  <a:cubicBezTo>
                    <a:pt x="0" y="55587"/>
                    <a:pt x="0" y="55587"/>
                    <a:pt x="0" y="55587"/>
                  </a:cubicBezTo>
                  <a:cubicBezTo>
                    <a:pt x="0" y="25069"/>
                    <a:pt x="25075" y="0"/>
                    <a:pt x="56691" y="0"/>
                  </a:cubicBezTo>
                  <a:close/>
                  <a:moveTo>
                    <a:pt x="77405" y="40328"/>
                  </a:moveTo>
                  <a:cubicBezTo>
                    <a:pt x="57781" y="40328"/>
                    <a:pt x="41428" y="56677"/>
                    <a:pt x="41428" y="76296"/>
                  </a:cubicBezTo>
                  <a:cubicBezTo>
                    <a:pt x="41428" y="293193"/>
                    <a:pt x="41428" y="293193"/>
                    <a:pt x="41428" y="293193"/>
                  </a:cubicBezTo>
                  <a:cubicBezTo>
                    <a:pt x="41428" y="313902"/>
                    <a:pt x="57781" y="329161"/>
                    <a:pt x="77405" y="329161"/>
                  </a:cubicBezTo>
                  <a:cubicBezTo>
                    <a:pt x="294357" y="329161"/>
                    <a:pt x="294357" y="329161"/>
                    <a:pt x="294357" y="329161"/>
                  </a:cubicBezTo>
                  <a:cubicBezTo>
                    <a:pt x="313981" y="329161"/>
                    <a:pt x="330334" y="313902"/>
                    <a:pt x="330334" y="293193"/>
                  </a:cubicBezTo>
                  <a:cubicBezTo>
                    <a:pt x="330334" y="76296"/>
                    <a:pt x="330334" y="76296"/>
                    <a:pt x="330334" y="76296"/>
                  </a:cubicBezTo>
                  <a:cubicBezTo>
                    <a:pt x="330334" y="56677"/>
                    <a:pt x="313981" y="40328"/>
                    <a:pt x="294357" y="40328"/>
                  </a:cubicBezTo>
                  <a:cubicBezTo>
                    <a:pt x="77405" y="40328"/>
                    <a:pt x="77405" y="40328"/>
                    <a:pt x="77405" y="40328"/>
                  </a:cubicBezTo>
                  <a:close/>
                  <a:moveTo>
                    <a:pt x="185336" y="265945"/>
                  </a:moveTo>
                  <a:cubicBezTo>
                    <a:pt x="177704" y="265945"/>
                    <a:pt x="171163" y="273574"/>
                    <a:pt x="171163" y="281204"/>
                  </a:cubicBezTo>
                  <a:cubicBezTo>
                    <a:pt x="171163" y="308453"/>
                    <a:pt x="171163" y="308453"/>
                    <a:pt x="171163" y="308453"/>
                  </a:cubicBezTo>
                  <a:cubicBezTo>
                    <a:pt x="171163" y="316082"/>
                    <a:pt x="177704" y="322622"/>
                    <a:pt x="185336" y="322622"/>
                  </a:cubicBezTo>
                  <a:cubicBezTo>
                    <a:pt x="194058" y="322622"/>
                    <a:pt x="200599" y="316082"/>
                    <a:pt x="200599" y="308453"/>
                  </a:cubicBezTo>
                  <a:cubicBezTo>
                    <a:pt x="200599" y="281204"/>
                    <a:pt x="200599" y="281204"/>
                    <a:pt x="200599" y="281204"/>
                  </a:cubicBezTo>
                  <a:cubicBezTo>
                    <a:pt x="200599" y="273574"/>
                    <a:pt x="194058" y="265945"/>
                    <a:pt x="185336" y="265945"/>
                  </a:cubicBezTo>
                  <a:close/>
                  <a:moveTo>
                    <a:pt x="267102" y="185290"/>
                  </a:moveTo>
                  <a:cubicBezTo>
                    <a:pt x="267102" y="192919"/>
                    <a:pt x="273643" y="199459"/>
                    <a:pt x="282365" y="199459"/>
                  </a:cubicBezTo>
                  <a:cubicBezTo>
                    <a:pt x="309620" y="199459"/>
                    <a:pt x="309620" y="199459"/>
                    <a:pt x="309620" y="199459"/>
                  </a:cubicBezTo>
                  <a:cubicBezTo>
                    <a:pt x="317251" y="199459"/>
                    <a:pt x="323793" y="192919"/>
                    <a:pt x="323793" y="185290"/>
                  </a:cubicBezTo>
                  <a:cubicBezTo>
                    <a:pt x="323793" y="176570"/>
                    <a:pt x="317251" y="170030"/>
                    <a:pt x="309620" y="170030"/>
                  </a:cubicBezTo>
                  <a:cubicBezTo>
                    <a:pt x="282365" y="170030"/>
                    <a:pt x="282365" y="170030"/>
                    <a:pt x="282365" y="170030"/>
                  </a:cubicBezTo>
                  <a:cubicBezTo>
                    <a:pt x="273643" y="170030"/>
                    <a:pt x="267102" y="176570"/>
                    <a:pt x="267102" y="185290"/>
                  </a:cubicBezTo>
                  <a:close/>
                  <a:moveTo>
                    <a:pt x="185336" y="46867"/>
                  </a:moveTo>
                  <a:cubicBezTo>
                    <a:pt x="177704" y="46867"/>
                    <a:pt x="171163" y="53407"/>
                    <a:pt x="171163" y="62126"/>
                  </a:cubicBezTo>
                  <a:cubicBezTo>
                    <a:pt x="171163" y="89375"/>
                    <a:pt x="171163" y="89375"/>
                    <a:pt x="171163" y="89375"/>
                  </a:cubicBezTo>
                  <a:cubicBezTo>
                    <a:pt x="171163" y="97005"/>
                    <a:pt x="177704" y="103544"/>
                    <a:pt x="185336" y="103544"/>
                  </a:cubicBezTo>
                  <a:cubicBezTo>
                    <a:pt x="194058" y="103544"/>
                    <a:pt x="200599" y="97005"/>
                    <a:pt x="200599" y="89375"/>
                  </a:cubicBezTo>
                  <a:cubicBezTo>
                    <a:pt x="200599" y="62126"/>
                    <a:pt x="200599" y="62126"/>
                    <a:pt x="200599" y="62126"/>
                  </a:cubicBezTo>
                  <a:cubicBezTo>
                    <a:pt x="200599" y="53407"/>
                    <a:pt x="194058" y="46867"/>
                    <a:pt x="185336" y="46867"/>
                  </a:cubicBezTo>
                  <a:close/>
                  <a:moveTo>
                    <a:pt x="206050" y="187469"/>
                  </a:moveTo>
                  <a:cubicBezTo>
                    <a:pt x="236576" y="155861"/>
                    <a:pt x="236576" y="155861"/>
                    <a:pt x="236576" y="155861"/>
                  </a:cubicBezTo>
                  <a:cubicBezTo>
                    <a:pt x="242027" y="150411"/>
                    <a:pt x="242027" y="141692"/>
                    <a:pt x="236576" y="136242"/>
                  </a:cubicBezTo>
                  <a:cubicBezTo>
                    <a:pt x="231125" y="130793"/>
                    <a:pt x="222403" y="130793"/>
                    <a:pt x="216952" y="136242"/>
                  </a:cubicBezTo>
                  <a:cubicBezTo>
                    <a:pt x="188607" y="165671"/>
                    <a:pt x="188607" y="165671"/>
                    <a:pt x="188607" y="165671"/>
                  </a:cubicBezTo>
                  <a:cubicBezTo>
                    <a:pt x="187516" y="165671"/>
                    <a:pt x="186426" y="165671"/>
                    <a:pt x="185336" y="165671"/>
                  </a:cubicBezTo>
                  <a:cubicBezTo>
                    <a:pt x="184246" y="165671"/>
                    <a:pt x="183155" y="165671"/>
                    <a:pt x="180975" y="165671"/>
                  </a:cubicBezTo>
                  <a:cubicBezTo>
                    <a:pt x="124284" y="106814"/>
                    <a:pt x="124284" y="106814"/>
                    <a:pt x="124284" y="106814"/>
                  </a:cubicBezTo>
                  <a:cubicBezTo>
                    <a:pt x="119923" y="102454"/>
                    <a:pt x="113382" y="102454"/>
                    <a:pt x="110111" y="106814"/>
                  </a:cubicBezTo>
                  <a:cubicBezTo>
                    <a:pt x="105750" y="110084"/>
                    <a:pt x="105750" y="116623"/>
                    <a:pt x="109021" y="120983"/>
                  </a:cubicBezTo>
                  <a:cubicBezTo>
                    <a:pt x="166802" y="179840"/>
                    <a:pt x="166802" y="179840"/>
                    <a:pt x="166802" y="179840"/>
                  </a:cubicBezTo>
                  <a:cubicBezTo>
                    <a:pt x="165712" y="182020"/>
                    <a:pt x="165712" y="183110"/>
                    <a:pt x="165712" y="185290"/>
                  </a:cubicBezTo>
                  <a:cubicBezTo>
                    <a:pt x="165712" y="196189"/>
                    <a:pt x="174434" y="204908"/>
                    <a:pt x="185336" y="204908"/>
                  </a:cubicBezTo>
                  <a:cubicBezTo>
                    <a:pt x="196238" y="204908"/>
                    <a:pt x="204960" y="197279"/>
                    <a:pt x="206050" y="187469"/>
                  </a:cubicBezTo>
                  <a:close/>
                  <a:moveTo>
                    <a:pt x="47969" y="185290"/>
                  </a:moveTo>
                  <a:cubicBezTo>
                    <a:pt x="47969" y="192919"/>
                    <a:pt x="54511" y="199459"/>
                    <a:pt x="62142" y="199459"/>
                  </a:cubicBezTo>
                  <a:cubicBezTo>
                    <a:pt x="89397" y="199459"/>
                    <a:pt x="89397" y="199459"/>
                    <a:pt x="89397" y="199459"/>
                  </a:cubicBezTo>
                  <a:cubicBezTo>
                    <a:pt x="98119" y="199459"/>
                    <a:pt x="104660" y="192919"/>
                    <a:pt x="104660" y="185290"/>
                  </a:cubicBezTo>
                  <a:cubicBezTo>
                    <a:pt x="104660" y="176570"/>
                    <a:pt x="98119" y="170030"/>
                    <a:pt x="89397" y="170030"/>
                  </a:cubicBezTo>
                  <a:cubicBezTo>
                    <a:pt x="62142" y="170030"/>
                    <a:pt x="62142" y="170030"/>
                    <a:pt x="62142" y="170030"/>
                  </a:cubicBezTo>
                  <a:cubicBezTo>
                    <a:pt x="54511" y="170030"/>
                    <a:pt x="47969" y="176570"/>
                    <a:pt x="47969" y="1852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3B6ECBD-7A22-4C83-0368-417DB992DB58}"/>
                </a:ext>
              </a:extLst>
            </p:cNvPr>
            <p:cNvSpPr/>
            <p:nvPr/>
          </p:nvSpPr>
          <p:spPr>
            <a:xfrm>
              <a:off x="6423403" y="4929235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页面布局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B2C0F9EB-D92C-3B33-C877-A5E1CEFDA2E2}"/>
              </a:ext>
            </a:extLst>
          </p:cNvPr>
          <p:cNvSpPr txBox="1"/>
          <p:nvPr/>
        </p:nvSpPr>
        <p:spPr>
          <a:xfrm>
            <a:off x="674704" y="1284208"/>
            <a:ext cx="6579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4.7 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当前实现效果</a:t>
            </a:r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——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可视化大屏</a:t>
            </a:r>
          </a:p>
        </p:txBody>
      </p:sp>
      <p:pic>
        <p:nvPicPr>
          <p:cNvPr id="3" name="图片 2" descr="电脑萤幕画面&#10;&#10;AI 生成的内容可能不正确。">
            <a:extLst>
              <a:ext uri="{FF2B5EF4-FFF2-40B4-BE49-F238E27FC236}">
                <a16:creationId xmlns:a16="http://schemas.microsoft.com/office/drawing/2014/main" id="{CB5752C7-FC96-7D14-9141-43C27FB45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846" y="1999626"/>
            <a:ext cx="9182190" cy="4444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8519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DA8A3-00FB-A83D-52BE-07837135A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62516A0B-D397-BE05-B2A8-CF199523FF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8C014116-6E92-425C-E793-1399D8AD39B4}"/>
              </a:ext>
            </a:extLst>
          </p:cNvPr>
          <p:cNvGrpSpPr/>
          <p:nvPr/>
        </p:nvGrpSpPr>
        <p:grpSpPr>
          <a:xfrm>
            <a:off x="5967941" y="2744132"/>
            <a:ext cx="1184492" cy="993840"/>
            <a:chOff x="6142753" y="2439326"/>
            <a:chExt cx="1184492" cy="99384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B6E8C1C0-256D-D275-FED9-083CCFF7DE88}"/>
                </a:ext>
              </a:extLst>
            </p:cNvPr>
            <p:cNvGrpSpPr/>
            <p:nvPr/>
          </p:nvGrpSpPr>
          <p:grpSpPr>
            <a:xfrm>
              <a:off x="6438208" y="2439326"/>
              <a:ext cx="373402" cy="357114"/>
              <a:chOff x="6042259" y="5362013"/>
              <a:chExt cx="464982" cy="444699"/>
            </a:xfrm>
            <a:solidFill>
              <a:schemeClr val="bg1"/>
            </a:solidFill>
          </p:grpSpPr>
          <p:sp>
            <p:nvSpPr>
              <p:cNvPr id="21" name="Freeform 25">
                <a:extLst>
                  <a:ext uri="{FF2B5EF4-FFF2-40B4-BE49-F238E27FC236}">
                    <a16:creationId xmlns:a16="http://schemas.microsoft.com/office/drawing/2014/main" id="{D5DFD991-C849-E330-E22B-1C6D8279C1EA}"/>
                  </a:ext>
                </a:extLst>
              </p:cNvPr>
              <p:cNvSpPr/>
              <p:nvPr/>
            </p:nvSpPr>
            <p:spPr>
              <a:xfrm>
                <a:off x="6212692" y="5681688"/>
                <a:ext cx="125025" cy="125024"/>
              </a:xfrm>
              <a:custGeom>
                <a:avLst/>
                <a:gdLst>
                  <a:gd name="T0" fmla="*/ 206 w 413"/>
                  <a:gd name="T1" fmla="*/ 413 h 413"/>
                  <a:gd name="T2" fmla="*/ 0 w 413"/>
                  <a:gd name="T3" fmla="*/ 0 h 413"/>
                  <a:gd name="T4" fmla="*/ 413 w 413"/>
                  <a:gd name="T5" fmla="*/ 0 h 413"/>
                  <a:gd name="T6" fmla="*/ 206 w 413"/>
                  <a:gd name="T7" fmla="*/ 413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025" h="125024">
                    <a:moveTo>
                      <a:pt x="62361" y="125024"/>
                    </a:moveTo>
                    <a:lnTo>
                      <a:pt x="0" y="0"/>
                    </a:lnTo>
                    <a:lnTo>
                      <a:pt x="125025" y="0"/>
                    </a:lnTo>
                    <a:lnTo>
                      <a:pt x="62361" y="1250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任意多边形 32">
                <a:extLst>
                  <a:ext uri="{FF2B5EF4-FFF2-40B4-BE49-F238E27FC236}">
                    <a16:creationId xmlns:a16="http://schemas.microsoft.com/office/drawing/2014/main" id="{B8E60402-E008-44FB-7AC3-39BEEE96AF78}"/>
                  </a:ext>
                </a:extLst>
              </p:cNvPr>
              <p:cNvSpPr>
                <a:spLocks noChangeArrowheads="1"/>
              </p:cNvSpPr>
              <p:nvPr/>
            </p:nvSpPr>
            <p:spPr>
              <a:xfrm>
                <a:off x="6042259" y="5362013"/>
                <a:ext cx="464982" cy="338443"/>
              </a:xfrm>
              <a:custGeom>
                <a:avLst/>
                <a:gdLst>
                  <a:gd name="connsiteX0" fmla="*/ 290196 w 2438400"/>
                  <a:gd name="connsiteY0" fmla="*/ 0 h 1774825"/>
                  <a:gd name="connsiteX1" fmla="*/ 2151973 w 2438400"/>
                  <a:gd name="connsiteY1" fmla="*/ 0 h 1774825"/>
                  <a:gd name="connsiteX2" fmla="*/ 2438400 w 2438400"/>
                  <a:gd name="connsiteY2" fmla="*/ 286384 h 1774825"/>
                  <a:gd name="connsiteX3" fmla="*/ 2438400 w 2438400"/>
                  <a:gd name="connsiteY3" fmla="*/ 1484673 h 1774825"/>
                  <a:gd name="connsiteX4" fmla="*/ 2151973 w 2438400"/>
                  <a:gd name="connsiteY4" fmla="*/ 1774825 h 1774825"/>
                  <a:gd name="connsiteX5" fmla="*/ 290196 w 2438400"/>
                  <a:gd name="connsiteY5" fmla="*/ 1774825 h 1774825"/>
                  <a:gd name="connsiteX6" fmla="*/ 0 w 2438400"/>
                  <a:gd name="connsiteY6" fmla="*/ 1484673 h 1774825"/>
                  <a:gd name="connsiteX7" fmla="*/ 0 w 2438400"/>
                  <a:gd name="connsiteY7" fmla="*/ 286384 h 1774825"/>
                  <a:gd name="connsiteX8" fmla="*/ 290196 w 2438400"/>
                  <a:gd name="connsiteY8" fmla="*/ 0 h 1774825"/>
                  <a:gd name="connsiteX9" fmla="*/ 471488 w 2438400"/>
                  <a:gd name="connsiteY9" fmla="*/ 425450 h 1774825"/>
                  <a:gd name="connsiteX10" fmla="*/ 471488 w 2438400"/>
                  <a:gd name="connsiteY10" fmla="*/ 598488 h 1774825"/>
                  <a:gd name="connsiteX11" fmla="*/ 1971676 w 2438400"/>
                  <a:gd name="connsiteY11" fmla="*/ 598488 h 1774825"/>
                  <a:gd name="connsiteX12" fmla="*/ 1971676 w 2438400"/>
                  <a:gd name="connsiteY12" fmla="*/ 425450 h 1774825"/>
                  <a:gd name="connsiteX13" fmla="*/ 471488 w 2438400"/>
                  <a:gd name="connsiteY13" fmla="*/ 425450 h 1774825"/>
                  <a:gd name="connsiteX14" fmla="*/ 471488 w 2438400"/>
                  <a:gd name="connsiteY14" fmla="*/ 801688 h 1774825"/>
                  <a:gd name="connsiteX15" fmla="*/ 471488 w 2438400"/>
                  <a:gd name="connsiteY15" fmla="*/ 971551 h 1774825"/>
                  <a:gd name="connsiteX16" fmla="*/ 1971676 w 2438400"/>
                  <a:gd name="connsiteY16" fmla="*/ 971551 h 1774825"/>
                  <a:gd name="connsiteX17" fmla="*/ 1971676 w 2438400"/>
                  <a:gd name="connsiteY17" fmla="*/ 801688 h 1774825"/>
                  <a:gd name="connsiteX18" fmla="*/ 471488 w 2438400"/>
                  <a:gd name="connsiteY18" fmla="*/ 801688 h 1774825"/>
                  <a:gd name="connsiteX19" fmla="*/ 471488 w 2438400"/>
                  <a:gd name="connsiteY19" fmla="*/ 1174750 h 1774825"/>
                  <a:gd name="connsiteX20" fmla="*/ 471488 w 2438400"/>
                  <a:gd name="connsiteY20" fmla="*/ 1347788 h 1774825"/>
                  <a:gd name="connsiteX21" fmla="*/ 1971676 w 2438400"/>
                  <a:gd name="connsiteY21" fmla="*/ 1347788 h 1774825"/>
                  <a:gd name="connsiteX22" fmla="*/ 1971676 w 2438400"/>
                  <a:gd name="connsiteY22" fmla="*/ 1174750 h 1774825"/>
                  <a:gd name="connsiteX23" fmla="*/ 471488 w 2438400"/>
                  <a:gd name="connsiteY23" fmla="*/ 1174750 h 177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64982" h="338443">
                    <a:moveTo>
                      <a:pt x="55338" y="0"/>
                    </a:moveTo>
                    <a:cubicBezTo>
                      <a:pt x="410363" y="0"/>
                      <a:pt x="410363" y="0"/>
                      <a:pt x="410363" y="0"/>
                    </a:cubicBezTo>
                    <a:cubicBezTo>
                      <a:pt x="440547" y="0"/>
                      <a:pt x="464982" y="24431"/>
                      <a:pt x="464982" y="54611"/>
                    </a:cubicBezTo>
                    <a:lnTo>
                      <a:pt x="464982" y="283114"/>
                    </a:lnTo>
                    <a:cubicBezTo>
                      <a:pt x="464982" y="314012"/>
                      <a:pt x="440547" y="338443"/>
                      <a:pt x="410363" y="338443"/>
                    </a:cubicBezTo>
                    <a:cubicBezTo>
                      <a:pt x="55338" y="338443"/>
                      <a:pt x="55338" y="338443"/>
                      <a:pt x="55338" y="338443"/>
                    </a:cubicBezTo>
                    <a:cubicBezTo>
                      <a:pt x="25154" y="338443"/>
                      <a:pt x="0" y="314012"/>
                      <a:pt x="0" y="283114"/>
                    </a:cubicBezTo>
                    <a:cubicBezTo>
                      <a:pt x="0" y="54611"/>
                      <a:pt x="0" y="54611"/>
                      <a:pt x="0" y="54611"/>
                    </a:cubicBezTo>
                    <a:cubicBezTo>
                      <a:pt x="0" y="24431"/>
                      <a:pt x="25154" y="0"/>
                      <a:pt x="55338" y="0"/>
                    </a:cubicBezTo>
                    <a:close/>
                    <a:moveTo>
                      <a:pt x="89909" y="81129"/>
                    </a:moveTo>
                    <a:lnTo>
                      <a:pt x="89909" y="114126"/>
                    </a:lnTo>
                    <a:lnTo>
                      <a:pt x="375982" y="114126"/>
                    </a:lnTo>
                    <a:lnTo>
                      <a:pt x="375982" y="81129"/>
                    </a:lnTo>
                    <a:lnTo>
                      <a:pt x="89909" y="81129"/>
                    </a:lnTo>
                    <a:close/>
                    <a:moveTo>
                      <a:pt x="89909" y="152875"/>
                    </a:moveTo>
                    <a:lnTo>
                      <a:pt x="89909" y="185266"/>
                    </a:lnTo>
                    <a:lnTo>
                      <a:pt x="375982" y="185266"/>
                    </a:lnTo>
                    <a:lnTo>
                      <a:pt x="375982" y="152875"/>
                    </a:lnTo>
                    <a:lnTo>
                      <a:pt x="89909" y="152875"/>
                    </a:lnTo>
                    <a:close/>
                    <a:moveTo>
                      <a:pt x="89909" y="224014"/>
                    </a:moveTo>
                    <a:lnTo>
                      <a:pt x="89909" y="257011"/>
                    </a:lnTo>
                    <a:lnTo>
                      <a:pt x="375982" y="257011"/>
                    </a:lnTo>
                    <a:lnTo>
                      <a:pt x="375982" y="224014"/>
                    </a:lnTo>
                    <a:lnTo>
                      <a:pt x="89909" y="2240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D0F6A9A-8343-67EE-05BE-9B8CFC07B974}"/>
                </a:ext>
              </a:extLst>
            </p:cNvPr>
            <p:cNvSpPr/>
            <p:nvPr/>
          </p:nvSpPr>
          <p:spPr>
            <a:xfrm>
              <a:off x="6142753" y="2848391"/>
              <a:ext cx="11844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思源黑体 CN Medium" panose="020B0600000000000000" charset="-122"/>
                  <a:ea typeface="方正兰亭中黑_GBK"/>
                </a:rPr>
                <a:t>数据处理和展示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3E9D6F0A-32E4-ACE3-1300-C49B33FA3D77}"/>
              </a:ext>
            </a:extLst>
          </p:cNvPr>
          <p:cNvGrpSpPr/>
          <p:nvPr/>
        </p:nvGrpSpPr>
        <p:grpSpPr>
          <a:xfrm>
            <a:off x="5027142" y="4039269"/>
            <a:ext cx="800219" cy="850564"/>
            <a:chOff x="5145854" y="3625488"/>
            <a:chExt cx="800219" cy="850564"/>
          </a:xfrm>
        </p:grpSpPr>
        <p:grpSp>
          <p:nvGrpSpPr>
            <p:cNvPr id="24" name="Group 18">
              <a:extLst>
                <a:ext uri="{FF2B5EF4-FFF2-40B4-BE49-F238E27FC236}">
                  <a16:creationId xmlns:a16="http://schemas.microsoft.com/office/drawing/2014/main" id="{ACA4C871-9106-BA31-B7E0-F8647ACAE4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355142" y="3625488"/>
              <a:ext cx="385124" cy="333775"/>
              <a:chOff x="3525" y="1887"/>
              <a:chExt cx="630" cy="546"/>
            </a:xfrm>
            <a:solidFill>
              <a:schemeClr val="bg1"/>
            </a:solidFill>
            <a:effectLst/>
          </p:grpSpPr>
          <p:sp>
            <p:nvSpPr>
              <p:cNvPr id="26" name="Freeform 19">
                <a:extLst>
                  <a:ext uri="{FF2B5EF4-FFF2-40B4-BE49-F238E27FC236}">
                    <a16:creationId xmlns:a16="http://schemas.microsoft.com/office/drawing/2014/main" id="{4F02B7BC-EAA5-2DF2-3284-9871E7953DA6}"/>
                  </a:ext>
                </a:extLst>
              </p:cNvPr>
              <p:cNvSpPr/>
              <p:nvPr/>
            </p:nvSpPr>
            <p:spPr>
              <a:xfrm>
                <a:off x="3623" y="2117"/>
                <a:ext cx="129" cy="227"/>
              </a:xfrm>
              <a:custGeom>
                <a:avLst/>
                <a:gdLst>
                  <a:gd name="T0" fmla="*/ 4 w 54"/>
                  <a:gd name="T1" fmla="*/ 95 h 95"/>
                  <a:gd name="T2" fmla="*/ 49 w 54"/>
                  <a:gd name="T3" fmla="*/ 95 h 95"/>
                  <a:gd name="T4" fmla="*/ 54 w 54"/>
                  <a:gd name="T5" fmla="*/ 90 h 95"/>
                  <a:gd name="T6" fmla="*/ 54 w 54"/>
                  <a:gd name="T7" fmla="*/ 4 h 95"/>
                  <a:gd name="T8" fmla="*/ 49 w 54"/>
                  <a:gd name="T9" fmla="*/ 0 h 95"/>
                  <a:gd name="T10" fmla="*/ 4 w 54"/>
                  <a:gd name="T11" fmla="*/ 0 h 95"/>
                  <a:gd name="T12" fmla="*/ 0 w 54"/>
                  <a:gd name="T13" fmla="*/ 4 h 95"/>
                  <a:gd name="T14" fmla="*/ 0 w 54"/>
                  <a:gd name="T15" fmla="*/ 90 h 95"/>
                  <a:gd name="T16" fmla="*/ 4 w 54"/>
                  <a:gd name="T17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227">
                    <a:moveTo>
                      <a:pt x="10" y="227"/>
                    </a:moveTo>
                    <a:cubicBezTo>
                      <a:pt x="117" y="227"/>
                      <a:pt x="117" y="227"/>
                      <a:pt x="117" y="227"/>
                    </a:cubicBezTo>
                    <a:cubicBezTo>
                      <a:pt x="124" y="227"/>
                      <a:pt x="129" y="222"/>
                      <a:pt x="129" y="215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22"/>
                      <a:pt x="5" y="227"/>
                      <a:pt x="10" y="2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2AC08ED3-9EAB-632D-E406-ABDE362148D7}"/>
                  </a:ext>
                </a:extLst>
              </p:cNvPr>
              <p:cNvSpPr/>
              <p:nvPr/>
            </p:nvSpPr>
            <p:spPr>
              <a:xfrm>
                <a:off x="3809" y="2033"/>
                <a:ext cx="129" cy="311"/>
              </a:xfrm>
              <a:custGeom>
                <a:avLst/>
                <a:gdLst>
                  <a:gd name="T0" fmla="*/ 5 w 54"/>
                  <a:gd name="T1" fmla="*/ 130 h 130"/>
                  <a:gd name="T2" fmla="*/ 50 w 54"/>
                  <a:gd name="T3" fmla="*/ 130 h 130"/>
                  <a:gd name="T4" fmla="*/ 54 w 54"/>
                  <a:gd name="T5" fmla="*/ 125 h 130"/>
                  <a:gd name="T6" fmla="*/ 54 w 54"/>
                  <a:gd name="T7" fmla="*/ 5 h 130"/>
                  <a:gd name="T8" fmla="*/ 50 w 54"/>
                  <a:gd name="T9" fmla="*/ 0 h 130"/>
                  <a:gd name="T10" fmla="*/ 5 w 54"/>
                  <a:gd name="T11" fmla="*/ 0 h 130"/>
                  <a:gd name="T12" fmla="*/ 0 w 54"/>
                  <a:gd name="T13" fmla="*/ 5 h 130"/>
                  <a:gd name="T14" fmla="*/ 0 w 54"/>
                  <a:gd name="T15" fmla="*/ 125 h 130"/>
                  <a:gd name="T16" fmla="*/ 5 w 54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11">
                    <a:moveTo>
                      <a:pt x="12" y="311"/>
                    </a:moveTo>
                    <a:cubicBezTo>
                      <a:pt x="119" y="311"/>
                      <a:pt x="119" y="311"/>
                      <a:pt x="119" y="311"/>
                    </a:cubicBezTo>
                    <a:cubicBezTo>
                      <a:pt x="124" y="311"/>
                      <a:pt x="129" y="306"/>
                      <a:pt x="129" y="299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9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299"/>
                      <a:pt x="0" y="299"/>
                      <a:pt x="0" y="299"/>
                    </a:cubicBezTo>
                    <a:cubicBezTo>
                      <a:pt x="0" y="306"/>
                      <a:pt x="5" y="311"/>
                      <a:pt x="12" y="3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4E4B3C65-A0FF-D14A-B42B-3B880D2C4B31}"/>
                  </a:ext>
                </a:extLst>
              </p:cNvPr>
              <p:cNvSpPr/>
              <p:nvPr/>
            </p:nvSpPr>
            <p:spPr>
              <a:xfrm>
                <a:off x="3997" y="1964"/>
                <a:ext cx="129" cy="380"/>
              </a:xfrm>
              <a:custGeom>
                <a:avLst/>
                <a:gdLst>
                  <a:gd name="T0" fmla="*/ 4 w 54"/>
                  <a:gd name="T1" fmla="*/ 159 h 159"/>
                  <a:gd name="T2" fmla="*/ 49 w 54"/>
                  <a:gd name="T3" fmla="*/ 159 h 159"/>
                  <a:gd name="T4" fmla="*/ 54 w 54"/>
                  <a:gd name="T5" fmla="*/ 154 h 159"/>
                  <a:gd name="T6" fmla="*/ 54 w 54"/>
                  <a:gd name="T7" fmla="*/ 5 h 159"/>
                  <a:gd name="T8" fmla="*/ 49 w 54"/>
                  <a:gd name="T9" fmla="*/ 0 h 159"/>
                  <a:gd name="T10" fmla="*/ 4 w 54"/>
                  <a:gd name="T11" fmla="*/ 0 h 159"/>
                  <a:gd name="T12" fmla="*/ 0 w 54"/>
                  <a:gd name="T13" fmla="*/ 5 h 159"/>
                  <a:gd name="T14" fmla="*/ 0 w 54"/>
                  <a:gd name="T15" fmla="*/ 154 h 159"/>
                  <a:gd name="T16" fmla="*/ 4 w 54"/>
                  <a:gd name="T17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80">
                    <a:moveTo>
                      <a:pt x="10" y="380"/>
                    </a:moveTo>
                    <a:cubicBezTo>
                      <a:pt x="117" y="380"/>
                      <a:pt x="117" y="380"/>
                      <a:pt x="117" y="380"/>
                    </a:cubicBezTo>
                    <a:cubicBezTo>
                      <a:pt x="124" y="380"/>
                      <a:pt x="129" y="375"/>
                      <a:pt x="129" y="368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368"/>
                      <a:pt x="0" y="368"/>
                      <a:pt x="0" y="368"/>
                    </a:cubicBezTo>
                    <a:cubicBezTo>
                      <a:pt x="0" y="375"/>
                      <a:pt x="5" y="380"/>
                      <a:pt x="10" y="3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6A5751CE-A1BA-53BD-E902-B826C5D5E37E}"/>
                  </a:ext>
                </a:extLst>
              </p:cNvPr>
              <p:cNvSpPr/>
              <p:nvPr/>
            </p:nvSpPr>
            <p:spPr>
              <a:xfrm>
                <a:off x="3525" y="1887"/>
                <a:ext cx="630" cy="546"/>
              </a:xfrm>
              <a:custGeom>
                <a:avLst/>
                <a:gdLst>
                  <a:gd name="T0" fmla="*/ 253 w 264"/>
                  <a:gd name="T1" fmla="*/ 206 h 228"/>
                  <a:gd name="T2" fmla="*/ 23 w 264"/>
                  <a:gd name="T3" fmla="*/ 206 h 228"/>
                  <a:gd name="T4" fmla="*/ 22 w 264"/>
                  <a:gd name="T5" fmla="*/ 206 h 228"/>
                  <a:gd name="T6" fmla="*/ 22 w 264"/>
                  <a:gd name="T7" fmla="*/ 11 h 228"/>
                  <a:gd name="T8" fmla="*/ 11 w 264"/>
                  <a:gd name="T9" fmla="*/ 0 h 228"/>
                  <a:gd name="T10" fmla="*/ 0 w 264"/>
                  <a:gd name="T11" fmla="*/ 11 h 228"/>
                  <a:gd name="T12" fmla="*/ 0 w 264"/>
                  <a:gd name="T13" fmla="*/ 206 h 228"/>
                  <a:gd name="T14" fmla="*/ 23 w 264"/>
                  <a:gd name="T15" fmla="*/ 228 h 228"/>
                  <a:gd name="T16" fmla="*/ 253 w 264"/>
                  <a:gd name="T17" fmla="*/ 228 h 228"/>
                  <a:gd name="T18" fmla="*/ 264 w 264"/>
                  <a:gd name="T19" fmla="*/ 217 h 228"/>
                  <a:gd name="T20" fmla="*/ 253 w 264"/>
                  <a:gd name="T21" fmla="*/ 206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30" h="546">
                    <a:moveTo>
                      <a:pt x="604" y="493"/>
                    </a:moveTo>
                    <a:cubicBezTo>
                      <a:pt x="55" y="493"/>
                      <a:pt x="55" y="493"/>
                      <a:pt x="55" y="493"/>
                    </a:cubicBezTo>
                    <a:cubicBezTo>
                      <a:pt x="53" y="493"/>
                      <a:pt x="53" y="493"/>
                      <a:pt x="53" y="493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53" y="12"/>
                      <a:pt x="41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93"/>
                      <a:pt x="0" y="493"/>
                      <a:pt x="0" y="493"/>
                    </a:cubicBezTo>
                    <a:cubicBezTo>
                      <a:pt x="0" y="522"/>
                      <a:pt x="24" y="546"/>
                      <a:pt x="55" y="546"/>
                    </a:cubicBezTo>
                    <a:cubicBezTo>
                      <a:pt x="604" y="546"/>
                      <a:pt x="604" y="546"/>
                      <a:pt x="604" y="546"/>
                    </a:cubicBezTo>
                    <a:cubicBezTo>
                      <a:pt x="618" y="546"/>
                      <a:pt x="630" y="534"/>
                      <a:pt x="630" y="520"/>
                    </a:cubicBezTo>
                    <a:cubicBezTo>
                      <a:pt x="630" y="505"/>
                      <a:pt x="618" y="493"/>
                      <a:pt x="604" y="4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99348589-72CF-F997-781D-7018C68950DE}"/>
                </a:ext>
              </a:extLst>
            </p:cNvPr>
            <p:cNvSpPr/>
            <p:nvPr/>
          </p:nvSpPr>
          <p:spPr>
            <a:xfrm>
              <a:off x="5145854" y="4137498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数据源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B1B79ED1-99E6-7A97-7787-17CC3E69AF83}"/>
              </a:ext>
            </a:extLst>
          </p:cNvPr>
          <p:cNvGrpSpPr/>
          <p:nvPr/>
        </p:nvGrpSpPr>
        <p:grpSpPr>
          <a:xfrm>
            <a:off x="6248591" y="4704544"/>
            <a:ext cx="1005403" cy="868051"/>
            <a:chOff x="6423403" y="4399738"/>
            <a:chExt cx="1005403" cy="868051"/>
          </a:xfrm>
        </p:grpSpPr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C7E6F8AA-C6FC-03E8-7530-17AEA2C811D4}"/>
                </a:ext>
              </a:extLst>
            </p:cNvPr>
            <p:cNvSpPr>
              <a:spLocks noEditPoints="1"/>
            </p:cNvSpPr>
            <p:nvPr/>
          </p:nvSpPr>
          <p:spPr>
            <a:xfrm>
              <a:off x="6739622" y="4399738"/>
              <a:ext cx="371762" cy="370579"/>
            </a:xfrm>
            <a:custGeom>
              <a:avLst/>
              <a:gdLst>
                <a:gd name="T0" fmla="*/ 52 w 341"/>
                <a:gd name="T1" fmla="*/ 0 h 340"/>
                <a:gd name="T2" fmla="*/ 289 w 341"/>
                <a:gd name="T3" fmla="*/ 0 h 340"/>
                <a:gd name="T4" fmla="*/ 341 w 341"/>
                <a:gd name="T5" fmla="*/ 51 h 340"/>
                <a:gd name="T6" fmla="*/ 341 w 341"/>
                <a:gd name="T7" fmla="*/ 289 h 340"/>
                <a:gd name="T8" fmla="*/ 289 w 341"/>
                <a:gd name="T9" fmla="*/ 340 h 340"/>
                <a:gd name="T10" fmla="*/ 52 w 341"/>
                <a:gd name="T11" fmla="*/ 340 h 340"/>
                <a:gd name="T12" fmla="*/ 0 w 341"/>
                <a:gd name="T13" fmla="*/ 289 h 340"/>
                <a:gd name="T14" fmla="*/ 0 w 341"/>
                <a:gd name="T15" fmla="*/ 51 h 340"/>
                <a:gd name="T16" fmla="*/ 52 w 341"/>
                <a:gd name="T17" fmla="*/ 0 h 340"/>
                <a:gd name="T18" fmla="*/ 71 w 341"/>
                <a:gd name="T19" fmla="*/ 37 h 340"/>
                <a:gd name="T20" fmla="*/ 38 w 341"/>
                <a:gd name="T21" fmla="*/ 70 h 340"/>
                <a:gd name="T22" fmla="*/ 38 w 341"/>
                <a:gd name="T23" fmla="*/ 269 h 340"/>
                <a:gd name="T24" fmla="*/ 71 w 341"/>
                <a:gd name="T25" fmla="*/ 302 h 340"/>
                <a:gd name="T26" fmla="*/ 270 w 341"/>
                <a:gd name="T27" fmla="*/ 302 h 340"/>
                <a:gd name="T28" fmla="*/ 303 w 341"/>
                <a:gd name="T29" fmla="*/ 269 h 340"/>
                <a:gd name="T30" fmla="*/ 303 w 341"/>
                <a:gd name="T31" fmla="*/ 70 h 340"/>
                <a:gd name="T32" fmla="*/ 270 w 341"/>
                <a:gd name="T33" fmla="*/ 37 h 340"/>
                <a:gd name="T34" fmla="*/ 71 w 341"/>
                <a:gd name="T35" fmla="*/ 37 h 340"/>
                <a:gd name="T36" fmla="*/ 170 w 341"/>
                <a:gd name="T37" fmla="*/ 244 h 340"/>
                <a:gd name="T38" fmla="*/ 157 w 341"/>
                <a:gd name="T39" fmla="*/ 258 h 340"/>
                <a:gd name="T40" fmla="*/ 157 w 341"/>
                <a:gd name="T41" fmla="*/ 283 h 340"/>
                <a:gd name="T42" fmla="*/ 170 w 341"/>
                <a:gd name="T43" fmla="*/ 296 h 340"/>
                <a:gd name="T44" fmla="*/ 184 w 341"/>
                <a:gd name="T45" fmla="*/ 283 h 340"/>
                <a:gd name="T46" fmla="*/ 184 w 341"/>
                <a:gd name="T47" fmla="*/ 258 h 340"/>
                <a:gd name="T48" fmla="*/ 170 w 341"/>
                <a:gd name="T49" fmla="*/ 244 h 340"/>
                <a:gd name="T50" fmla="*/ 245 w 341"/>
                <a:gd name="T51" fmla="*/ 170 h 340"/>
                <a:gd name="T52" fmla="*/ 259 w 341"/>
                <a:gd name="T53" fmla="*/ 183 h 340"/>
                <a:gd name="T54" fmla="*/ 284 w 341"/>
                <a:gd name="T55" fmla="*/ 183 h 340"/>
                <a:gd name="T56" fmla="*/ 297 w 341"/>
                <a:gd name="T57" fmla="*/ 170 h 340"/>
                <a:gd name="T58" fmla="*/ 284 w 341"/>
                <a:gd name="T59" fmla="*/ 156 h 340"/>
                <a:gd name="T60" fmla="*/ 259 w 341"/>
                <a:gd name="T61" fmla="*/ 156 h 340"/>
                <a:gd name="T62" fmla="*/ 245 w 341"/>
                <a:gd name="T63" fmla="*/ 170 h 340"/>
                <a:gd name="T64" fmla="*/ 170 w 341"/>
                <a:gd name="T65" fmla="*/ 43 h 340"/>
                <a:gd name="T66" fmla="*/ 157 w 341"/>
                <a:gd name="T67" fmla="*/ 57 h 340"/>
                <a:gd name="T68" fmla="*/ 157 w 341"/>
                <a:gd name="T69" fmla="*/ 82 h 340"/>
                <a:gd name="T70" fmla="*/ 170 w 341"/>
                <a:gd name="T71" fmla="*/ 95 h 340"/>
                <a:gd name="T72" fmla="*/ 184 w 341"/>
                <a:gd name="T73" fmla="*/ 82 h 340"/>
                <a:gd name="T74" fmla="*/ 184 w 341"/>
                <a:gd name="T75" fmla="*/ 57 h 340"/>
                <a:gd name="T76" fmla="*/ 170 w 341"/>
                <a:gd name="T77" fmla="*/ 43 h 340"/>
                <a:gd name="T78" fmla="*/ 189 w 341"/>
                <a:gd name="T79" fmla="*/ 172 h 340"/>
                <a:gd name="T80" fmla="*/ 217 w 341"/>
                <a:gd name="T81" fmla="*/ 143 h 340"/>
                <a:gd name="T82" fmla="*/ 217 w 341"/>
                <a:gd name="T83" fmla="*/ 125 h 340"/>
                <a:gd name="T84" fmla="*/ 199 w 341"/>
                <a:gd name="T85" fmla="*/ 125 h 340"/>
                <a:gd name="T86" fmla="*/ 173 w 341"/>
                <a:gd name="T87" fmla="*/ 152 h 340"/>
                <a:gd name="T88" fmla="*/ 170 w 341"/>
                <a:gd name="T89" fmla="*/ 152 h 340"/>
                <a:gd name="T90" fmla="*/ 166 w 341"/>
                <a:gd name="T91" fmla="*/ 152 h 340"/>
                <a:gd name="T92" fmla="*/ 114 w 341"/>
                <a:gd name="T93" fmla="*/ 98 h 340"/>
                <a:gd name="T94" fmla="*/ 101 w 341"/>
                <a:gd name="T95" fmla="*/ 98 h 340"/>
                <a:gd name="T96" fmla="*/ 100 w 341"/>
                <a:gd name="T97" fmla="*/ 111 h 340"/>
                <a:gd name="T98" fmla="*/ 153 w 341"/>
                <a:gd name="T99" fmla="*/ 165 h 340"/>
                <a:gd name="T100" fmla="*/ 152 w 341"/>
                <a:gd name="T101" fmla="*/ 170 h 340"/>
                <a:gd name="T102" fmla="*/ 170 w 341"/>
                <a:gd name="T103" fmla="*/ 188 h 340"/>
                <a:gd name="T104" fmla="*/ 189 w 341"/>
                <a:gd name="T105" fmla="*/ 172 h 340"/>
                <a:gd name="T106" fmla="*/ 44 w 341"/>
                <a:gd name="T107" fmla="*/ 170 h 340"/>
                <a:gd name="T108" fmla="*/ 57 w 341"/>
                <a:gd name="T109" fmla="*/ 183 h 340"/>
                <a:gd name="T110" fmla="*/ 82 w 341"/>
                <a:gd name="T111" fmla="*/ 183 h 340"/>
                <a:gd name="T112" fmla="*/ 96 w 341"/>
                <a:gd name="T113" fmla="*/ 170 h 340"/>
                <a:gd name="T114" fmla="*/ 82 w 341"/>
                <a:gd name="T115" fmla="*/ 156 h 340"/>
                <a:gd name="T116" fmla="*/ 57 w 341"/>
                <a:gd name="T117" fmla="*/ 156 h 340"/>
                <a:gd name="T118" fmla="*/ 44 w 341"/>
                <a:gd name="T119" fmla="*/ 17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71762" h="370579">
                  <a:moveTo>
                    <a:pt x="56691" y="0"/>
                  </a:moveTo>
                  <a:cubicBezTo>
                    <a:pt x="315071" y="0"/>
                    <a:pt x="315071" y="0"/>
                    <a:pt x="315071" y="0"/>
                  </a:cubicBezTo>
                  <a:cubicBezTo>
                    <a:pt x="346687" y="0"/>
                    <a:pt x="371762" y="25069"/>
                    <a:pt x="371762" y="55587"/>
                  </a:cubicBezTo>
                  <a:cubicBezTo>
                    <a:pt x="371762" y="314992"/>
                    <a:pt x="371762" y="314992"/>
                    <a:pt x="371762" y="314992"/>
                  </a:cubicBezTo>
                  <a:cubicBezTo>
                    <a:pt x="371762" y="345510"/>
                    <a:pt x="346687" y="370579"/>
                    <a:pt x="315071" y="370579"/>
                  </a:cubicBezTo>
                  <a:cubicBezTo>
                    <a:pt x="56691" y="370579"/>
                    <a:pt x="56691" y="370579"/>
                    <a:pt x="56691" y="370579"/>
                  </a:cubicBezTo>
                  <a:cubicBezTo>
                    <a:pt x="25075" y="370579"/>
                    <a:pt x="0" y="345510"/>
                    <a:pt x="0" y="314992"/>
                  </a:cubicBezTo>
                  <a:cubicBezTo>
                    <a:pt x="0" y="55587"/>
                    <a:pt x="0" y="55587"/>
                    <a:pt x="0" y="55587"/>
                  </a:cubicBezTo>
                  <a:cubicBezTo>
                    <a:pt x="0" y="25069"/>
                    <a:pt x="25075" y="0"/>
                    <a:pt x="56691" y="0"/>
                  </a:cubicBezTo>
                  <a:close/>
                  <a:moveTo>
                    <a:pt x="77405" y="40328"/>
                  </a:moveTo>
                  <a:cubicBezTo>
                    <a:pt x="57781" y="40328"/>
                    <a:pt x="41428" y="56677"/>
                    <a:pt x="41428" y="76296"/>
                  </a:cubicBezTo>
                  <a:cubicBezTo>
                    <a:pt x="41428" y="293193"/>
                    <a:pt x="41428" y="293193"/>
                    <a:pt x="41428" y="293193"/>
                  </a:cubicBezTo>
                  <a:cubicBezTo>
                    <a:pt x="41428" y="313902"/>
                    <a:pt x="57781" y="329161"/>
                    <a:pt x="77405" y="329161"/>
                  </a:cubicBezTo>
                  <a:cubicBezTo>
                    <a:pt x="294357" y="329161"/>
                    <a:pt x="294357" y="329161"/>
                    <a:pt x="294357" y="329161"/>
                  </a:cubicBezTo>
                  <a:cubicBezTo>
                    <a:pt x="313981" y="329161"/>
                    <a:pt x="330334" y="313902"/>
                    <a:pt x="330334" y="293193"/>
                  </a:cubicBezTo>
                  <a:cubicBezTo>
                    <a:pt x="330334" y="76296"/>
                    <a:pt x="330334" y="76296"/>
                    <a:pt x="330334" y="76296"/>
                  </a:cubicBezTo>
                  <a:cubicBezTo>
                    <a:pt x="330334" y="56677"/>
                    <a:pt x="313981" y="40328"/>
                    <a:pt x="294357" y="40328"/>
                  </a:cubicBezTo>
                  <a:cubicBezTo>
                    <a:pt x="77405" y="40328"/>
                    <a:pt x="77405" y="40328"/>
                    <a:pt x="77405" y="40328"/>
                  </a:cubicBezTo>
                  <a:close/>
                  <a:moveTo>
                    <a:pt x="185336" y="265945"/>
                  </a:moveTo>
                  <a:cubicBezTo>
                    <a:pt x="177704" y="265945"/>
                    <a:pt x="171163" y="273574"/>
                    <a:pt x="171163" y="281204"/>
                  </a:cubicBezTo>
                  <a:cubicBezTo>
                    <a:pt x="171163" y="308453"/>
                    <a:pt x="171163" y="308453"/>
                    <a:pt x="171163" y="308453"/>
                  </a:cubicBezTo>
                  <a:cubicBezTo>
                    <a:pt x="171163" y="316082"/>
                    <a:pt x="177704" y="322622"/>
                    <a:pt x="185336" y="322622"/>
                  </a:cubicBezTo>
                  <a:cubicBezTo>
                    <a:pt x="194058" y="322622"/>
                    <a:pt x="200599" y="316082"/>
                    <a:pt x="200599" y="308453"/>
                  </a:cubicBezTo>
                  <a:cubicBezTo>
                    <a:pt x="200599" y="281204"/>
                    <a:pt x="200599" y="281204"/>
                    <a:pt x="200599" y="281204"/>
                  </a:cubicBezTo>
                  <a:cubicBezTo>
                    <a:pt x="200599" y="273574"/>
                    <a:pt x="194058" y="265945"/>
                    <a:pt x="185336" y="265945"/>
                  </a:cubicBezTo>
                  <a:close/>
                  <a:moveTo>
                    <a:pt x="267102" y="185290"/>
                  </a:moveTo>
                  <a:cubicBezTo>
                    <a:pt x="267102" y="192919"/>
                    <a:pt x="273643" y="199459"/>
                    <a:pt x="282365" y="199459"/>
                  </a:cubicBezTo>
                  <a:cubicBezTo>
                    <a:pt x="309620" y="199459"/>
                    <a:pt x="309620" y="199459"/>
                    <a:pt x="309620" y="199459"/>
                  </a:cubicBezTo>
                  <a:cubicBezTo>
                    <a:pt x="317251" y="199459"/>
                    <a:pt x="323793" y="192919"/>
                    <a:pt x="323793" y="185290"/>
                  </a:cubicBezTo>
                  <a:cubicBezTo>
                    <a:pt x="323793" y="176570"/>
                    <a:pt x="317251" y="170030"/>
                    <a:pt x="309620" y="170030"/>
                  </a:cubicBezTo>
                  <a:cubicBezTo>
                    <a:pt x="282365" y="170030"/>
                    <a:pt x="282365" y="170030"/>
                    <a:pt x="282365" y="170030"/>
                  </a:cubicBezTo>
                  <a:cubicBezTo>
                    <a:pt x="273643" y="170030"/>
                    <a:pt x="267102" y="176570"/>
                    <a:pt x="267102" y="185290"/>
                  </a:cubicBezTo>
                  <a:close/>
                  <a:moveTo>
                    <a:pt x="185336" y="46867"/>
                  </a:moveTo>
                  <a:cubicBezTo>
                    <a:pt x="177704" y="46867"/>
                    <a:pt x="171163" y="53407"/>
                    <a:pt x="171163" y="62126"/>
                  </a:cubicBezTo>
                  <a:cubicBezTo>
                    <a:pt x="171163" y="89375"/>
                    <a:pt x="171163" y="89375"/>
                    <a:pt x="171163" y="89375"/>
                  </a:cubicBezTo>
                  <a:cubicBezTo>
                    <a:pt x="171163" y="97005"/>
                    <a:pt x="177704" y="103544"/>
                    <a:pt x="185336" y="103544"/>
                  </a:cubicBezTo>
                  <a:cubicBezTo>
                    <a:pt x="194058" y="103544"/>
                    <a:pt x="200599" y="97005"/>
                    <a:pt x="200599" y="89375"/>
                  </a:cubicBezTo>
                  <a:cubicBezTo>
                    <a:pt x="200599" y="62126"/>
                    <a:pt x="200599" y="62126"/>
                    <a:pt x="200599" y="62126"/>
                  </a:cubicBezTo>
                  <a:cubicBezTo>
                    <a:pt x="200599" y="53407"/>
                    <a:pt x="194058" y="46867"/>
                    <a:pt x="185336" y="46867"/>
                  </a:cubicBezTo>
                  <a:close/>
                  <a:moveTo>
                    <a:pt x="206050" y="187469"/>
                  </a:moveTo>
                  <a:cubicBezTo>
                    <a:pt x="236576" y="155861"/>
                    <a:pt x="236576" y="155861"/>
                    <a:pt x="236576" y="155861"/>
                  </a:cubicBezTo>
                  <a:cubicBezTo>
                    <a:pt x="242027" y="150411"/>
                    <a:pt x="242027" y="141692"/>
                    <a:pt x="236576" y="136242"/>
                  </a:cubicBezTo>
                  <a:cubicBezTo>
                    <a:pt x="231125" y="130793"/>
                    <a:pt x="222403" y="130793"/>
                    <a:pt x="216952" y="136242"/>
                  </a:cubicBezTo>
                  <a:cubicBezTo>
                    <a:pt x="188607" y="165671"/>
                    <a:pt x="188607" y="165671"/>
                    <a:pt x="188607" y="165671"/>
                  </a:cubicBezTo>
                  <a:cubicBezTo>
                    <a:pt x="187516" y="165671"/>
                    <a:pt x="186426" y="165671"/>
                    <a:pt x="185336" y="165671"/>
                  </a:cubicBezTo>
                  <a:cubicBezTo>
                    <a:pt x="184246" y="165671"/>
                    <a:pt x="183155" y="165671"/>
                    <a:pt x="180975" y="165671"/>
                  </a:cubicBezTo>
                  <a:cubicBezTo>
                    <a:pt x="124284" y="106814"/>
                    <a:pt x="124284" y="106814"/>
                    <a:pt x="124284" y="106814"/>
                  </a:cubicBezTo>
                  <a:cubicBezTo>
                    <a:pt x="119923" y="102454"/>
                    <a:pt x="113382" y="102454"/>
                    <a:pt x="110111" y="106814"/>
                  </a:cubicBezTo>
                  <a:cubicBezTo>
                    <a:pt x="105750" y="110084"/>
                    <a:pt x="105750" y="116623"/>
                    <a:pt x="109021" y="120983"/>
                  </a:cubicBezTo>
                  <a:cubicBezTo>
                    <a:pt x="166802" y="179840"/>
                    <a:pt x="166802" y="179840"/>
                    <a:pt x="166802" y="179840"/>
                  </a:cubicBezTo>
                  <a:cubicBezTo>
                    <a:pt x="165712" y="182020"/>
                    <a:pt x="165712" y="183110"/>
                    <a:pt x="165712" y="185290"/>
                  </a:cubicBezTo>
                  <a:cubicBezTo>
                    <a:pt x="165712" y="196189"/>
                    <a:pt x="174434" y="204908"/>
                    <a:pt x="185336" y="204908"/>
                  </a:cubicBezTo>
                  <a:cubicBezTo>
                    <a:pt x="196238" y="204908"/>
                    <a:pt x="204960" y="197279"/>
                    <a:pt x="206050" y="187469"/>
                  </a:cubicBezTo>
                  <a:close/>
                  <a:moveTo>
                    <a:pt x="47969" y="185290"/>
                  </a:moveTo>
                  <a:cubicBezTo>
                    <a:pt x="47969" y="192919"/>
                    <a:pt x="54511" y="199459"/>
                    <a:pt x="62142" y="199459"/>
                  </a:cubicBezTo>
                  <a:cubicBezTo>
                    <a:pt x="89397" y="199459"/>
                    <a:pt x="89397" y="199459"/>
                    <a:pt x="89397" y="199459"/>
                  </a:cubicBezTo>
                  <a:cubicBezTo>
                    <a:pt x="98119" y="199459"/>
                    <a:pt x="104660" y="192919"/>
                    <a:pt x="104660" y="185290"/>
                  </a:cubicBezTo>
                  <a:cubicBezTo>
                    <a:pt x="104660" y="176570"/>
                    <a:pt x="98119" y="170030"/>
                    <a:pt x="89397" y="170030"/>
                  </a:cubicBezTo>
                  <a:cubicBezTo>
                    <a:pt x="62142" y="170030"/>
                    <a:pt x="62142" y="170030"/>
                    <a:pt x="62142" y="170030"/>
                  </a:cubicBezTo>
                  <a:cubicBezTo>
                    <a:pt x="54511" y="170030"/>
                    <a:pt x="47969" y="176570"/>
                    <a:pt x="47969" y="1852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2C0CFE0-FD61-DC9B-EECB-33E9B4E0DBB9}"/>
                </a:ext>
              </a:extLst>
            </p:cNvPr>
            <p:cNvSpPr/>
            <p:nvPr/>
          </p:nvSpPr>
          <p:spPr>
            <a:xfrm>
              <a:off x="6423403" y="4929235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页面布局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9CF5680-6DB5-6948-F28F-78B094D339D3}"/>
              </a:ext>
            </a:extLst>
          </p:cNvPr>
          <p:cNvSpPr txBox="1"/>
          <p:nvPr/>
        </p:nvSpPr>
        <p:spPr>
          <a:xfrm>
            <a:off x="674704" y="1284208"/>
            <a:ext cx="6579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4.7 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当前实现效果</a:t>
            </a:r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——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项目分析</a:t>
            </a:r>
          </a:p>
        </p:txBody>
      </p:sp>
      <p:pic>
        <p:nvPicPr>
          <p:cNvPr id="3" name="图片 2" descr="屏幕上有个截图&#10;&#10;AI 生成的内容可能不正确。">
            <a:extLst>
              <a:ext uri="{FF2B5EF4-FFF2-40B4-BE49-F238E27FC236}">
                <a16:creationId xmlns:a16="http://schemas.microsoft.com/office/drawing/2014/main" id="{7F0FB309-D0B3-93F3-1F8B-B855C59D7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5054" y="2063720"/>
            <a:ext cx="9244614" cy="423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364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9D253-A55B-7A58-1A57-CAF211E51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E0E09DF5-FF90-2F5C-1BB4-8086A028699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DADAC114-E5BE-6B63-A607-0440B7B446E2}"/>
              </a:ext>
            </a:extLst>
          </p:cNvPr>
          <p:cNvGrpSpPr/>
          <p:nvPr/>
        </p:nvGrpSpPr>
        <p:grpSpPr>
          <a:xfrm>
            <a:off x="5967941" y="2744132"/>
            <a:ext cx="1184492" cy="993840"/>
            <a:chOff x="6142753" y="2439326"/>
            <a:chExt cx="1184492" cy="99384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C3E128EF-C140-E315-5EFB-B295C2D2858E}"/>
                </a:ext>
              </a:extLst>
            </p:cNvPr>
            <p:cNvGrpSpPr/>
            <p:nvPr/>
          </p:nvGrpSpPr>
          <p:grpSpPr>
            <a:xfrm>
              <a:off x="6438208" y="2439326"/>
              <a:ext cx="373402" cy="357114"/>
              <a:chOff x="6042259" y="5362013"/>
              <a:chExt cx="464982" cy="444699"/>
            </a:xfrm>
            <a:solidFill>
              <a:schemeClr val="bg1"/>
            </a:solidFill>
          </p:grpSpPr>
          <p:sp>
            <p:nvSpPr>
              <p:cNvPr id="21" name="Freeform 25">
                <a:extLst>
                  <a:ext uri="{FF2B5EF4-FFF2-40B4-BE49-F238E27FC236}">
                    <a16:creationId xmlns:a16="http://schemas.microsoft.com/office/drawing/2014/main" id="{BF46D1DB-3A60-8C6E-C45B-B34858949C00}"/>
                  </a:ext>
                </a:extLst>
              </p:cNvPr>
              <p:cNvSpPr/>
              <p:nvPr/>
            </p:nvSpPr>
            <p:spPr>
              <a:xfrm>
                <a:off x="6212692" y="5681688"/>
                <a:ext cx="125025" cy="125024"/>
              </a:xfrm>
              <a:custGeom>
                <a:avLst/>
                <a:gdLst>
                  <a:gd name="T0" fmla="*/ 206 w 413"/>
                  <a:gd name="T1" fmla="*/ 413 h 413"/>
                  <a:gd name="T2" fmla="*/ 0 w 413"/>
                  <a:gd name="T3" fmla="*/ 0 h 413"/>
                  <a:gd name="T4" fmla="*/ 413 w 413"/>
                  <a:gd name="T5" fmla="*/ 0 h 413"/>
                  <a:gd name="T6" fmla="*/ 206 w 413"/>
                  <a:gd name="T7" fmla="*/ 413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025" h="125024">
                    <a:moveTo>
                      <a:pt x="62361" y="125024"/>
                    </a:moveTo>
                    <a:lnTo>
                      <a:pt x="0" y="0"/>
                    </a:lnTo>
                    <a:lnTo>
                      <a:pt x="125025" y="0"/>
                    </a:lnTo>
                    <a:lnTo>
                      <a:pt x="62361" y="1250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任意多边形 32">
                <a:extLst>
                  <a:ext uri="{FF2B5EF4-FFF2-40B4-BE49-F238E27FC236}">
                    <a16:creationId xmlns:a16="http://schemas.microsoft.com/office/drawing/2014/main" id="{FB370030-115D-78B7-7F23-AAA486DCBA33}"/>
                  </a:ext>
                </a:extLst>
              </p:cNvPr>
              <p:cNvSpPr>
                <a:spLocks noChangeArrowheads="1"/>
              </p:cNvSpPr>
              <p:nvPr/>
            </p:nvSpPr>
            <p:spPr>
              <a:xfrm>
                <a:off x="6042259" y="5362013"/>
                <a:ext cx="464982" cy="338443"/>
              </a:xfrm>
              <a:custGeom>
                <a:avLst/>
                <a:gdLst>
                  <a:gd name="connsiteX0" fmla="*/ 290196 w 2438400"/>
                  <a:gd name="connsiteY0" fmla="*/ 0 h 1774825"/>
                  <a:gd name="connsiteX1" fmla="*/ 2151973 w 2438400"/>
                  <a:gd name="connsiteY1" fmla="*/ 0 h 1774825"/>
                  <a:gd name="connsiteX2" fmla="*/ 2438400 w 2438400"/>
                  <a:gd name="connsiteY2" fmla="*/ 286384 h 1774825"/>
                  <a:gd name="connsiteX3" fmla="*/ 2438400 w 2438400"/>
                  <a:gd name="connsiteY3" fmla="*/ 1484673 h 1774825"/>
                  <a:gd name="connsiteX4" fmla="*/ 2151973 w 2438400"/>
                  <a:gd name="connsiteY4" fmla="*/ 1774825 h 1774825"/>
                  <a:gd name="connsiteX5" fmla="*/ 290196 w 2438400"/>
                  <a:gd name="connsiteY5" fmla="*/ 1774825 h 1774825"/>
                  <a:gd name="connsiteX6" fmla="*/ 0 w 2438400"/>
                  <a:gd name="connsiteY6" fmla="*/ 1484673 h 1774825"/>
                  <a:gd name="connsiteX7" fmla="*/ 0 w 2438400"/>
                  <a:gd name="connsiteY7" fmla="*/ 286384 h 1774825"/>
                  <a:gd name="connsiteX8" fmla="*/ 290196 w 2438400"/>
                  <a:gd name="connsiteY8" fmla="*/ 0 h 1774825"/>
                  <a:gd name="connsiteX9" fmla="*/ 471488 w 2438400"/>
                  <a:gd name="connsiteY9" fmla="*/ 425450 h 1774825"/>
                  <a:gd name="connsiteX10" fmla="*/ 471488 w 2438400"/>
                  <a:gd name="connsiteY10" fmla="*/ 598488 h 1774825"/>
                  <a:gd name="connsiteX11" fmla="*/ 1971676 w 2438400"/>
                  <a:gd name="connsiteY11" fmla="*/ 598488 h 1774825"/>
                  <a:gd name="connsiteX12" fmla="*/ 1971676 w 2438400"/>
                  <a:gd name="connsiteY12" fmla="*/ 425450 h 1774825"/>
                  <a:gd name="connsiteX13" fmla="*/ 471488 w 2438400"/>
                  <a:gd name="connsiteY13" fmla="*/ 425450 h 1774825"/>
                  <a:gd name="connsiteX14" fmla="*/ 471488 w 2438400"/>
                  <a:gd name="connsiteY14" fmla="*/ 801688 h 1774825"/>
                  <a:gd name="connsiteX15" fmla="*/ 471488 w 2438400"/>
                  <a:gd name="connsiteY15" fmla="*/ 971551 h 1774825"/>
                  <a:gd name="connsiteX16" fmla="*/ 1971676 w 2438400"/>
                  <a:gd name="connsiteY16" fmla="*/ 971551 h 1774825"/>
                  <a:gd name="connsiteX17" fmla="*/ 1971676 w 2438400"/>
                  <a:gd name="connsiteY17" fmla="*/ 801688 h 1774825"/>
                  <a:gd name="connsiteX18" fmla="*/ 471488 w 2438400"/>
                  <a:gd name="connsiteY18" fmla="*/ 801688 h 1774825"/>
                  <a:gd name="connsiteX19" fmla="*/ 471488 w 2438400"/>
                  <a:gd name="connsiteY19" fmla="*/ 1174750 h 1774825"/>
                  <a:gd name="connsiteX20" fmla="*/ 471488 w 2438400"/>
                  <a:gd name="connsiteY20" fmla="*/ 1347788 h 1774825"/>
                  <a:gd name="connsiteX21" fmla="*/ 1971676 w 2438400"/>
                  <a:gd name="connsiteY21" fmla="*/ 1347788 h 1774825"/>
                  <a:gd name="connsiteX22" fmla="*/ 1971676 w 2438400"/>
                  <a:gd name="connsiteY22" fmla="*/ 1174750 h 1774825"/>
                  <a:gd name="connsiteX23" fmla="*/ 471488 w 2438400"/>
                  <a:gd name="connsiteY23" fmla="*/ 1174750 h 177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64982" h="338443">
                    <a:moveTo>
                      <a:pt x="55338" y="0"/>
                    </a:moveTo>
                    <a:cubicBezTo>
                      <a:pt x="410363" y="0"/>
                      <a:pt x="410363" y="0"/>
                      <a:pt x="410363" y="0"/>
                    </a:cubicBezTo>
                    <a:cubicBezTo>
                      <a:pt x="440547" y="0"/>
                      <a:pt x="464982" y="24431"/>
                      <a:pt x="464982" y="54611"/>
                    </a:cubicBezTo>
                    <a:lnTo>
                      <a:pt x="464982" y="283114"/>
                    </a:lnTo>
                    <a:cubicBezTo>
                      <a:pt x="464982" y="314012"/>
                      <a:pt x="440547" y="338443"/>
                      <a:pt x="410363" y="338443"/>
                    </a:cubicBezTo>
                    <a:cubicBezTo>
                      <a:pt x="55338" y="338443"/>
                      <a:pt x="55338" y="338443"/>
                      <a:pt x="55338" y="338443"/>
                    </a:cubicBezTo>
                    <a:cubicBezTo>
                      <a:pt x="25154" y="338443"/>
                      <a:pt x="0" y="314012"/>
                      <a:pt x="0" y="283114"/>
                    </a:cubicBezTo>
                    <a:cubicBezTo>
                      <a:pt x="0" y="54611"/>
                      <a:pt x="0" y="54611"/>
                      <a:pt x="0" y="54611"/>
                    </a:cubicBezTo>
                    <a:cubicBezTo>
                      <a:pt x="0" y="24431"/>
                      <a:pt x="25154" y="0"/>
                      <a:pt x="55338" y="0"/>
                    </a:cubicBezTo>
                    <a:close/>
                    <a:moveTo>
                      <a:pt x="89909" y="81129"/>
                    </a:moveTo>
                    <a:lnTo>
                      <a:pt x="89909" y="114126"/>
                    </a:lnTo>
                    <a:lnTo>
                      <a:pt x="375982" y="114126"/>
                    </a:lnTo>
                    <a:lnTo>
                      <a:pt x="375982" y="81129"/>
                    </a:lnTo>
                    <a:lnTo>
                      <a:pt x="89909" y="81129"/>
                    </a:lnTo>
                    <a:close/>
                    <a:moveTo>
                      <a:pt x="89909" y="152875"/>
                    </a:moveTo>
                    <a:lnTo>
                      <a:pt x="89909" y="185266"/>
                    </a:lnTo>
                    <a:lnTo>
                      <a:pt x="375982" y="185266"/>
                    </a:lnTo>
                    <a:lnTo>
                      <a:pt x="375982" y="152875"/>
                    </a:lnTo>
                    <a:lnTo>
                      <a:pt x="89909" y="152875"/>
                    </a:lnTo>
                    <a:close/>
                    <a:moveTo>
                      <a:pt x="89909" y="224014"/>
                    </a:moveTo>
                    <a:lnTo>
                      <a:pt x="89909" y="257011"/>
                    </a:lnTo>
                    <a:lnTo>
                      <a:pt x="375982" y="257011"/>
                    </a:lnTo>
                    <a:lnTo>
                      <a:pt x="375982" y="224014"/>
                    </a:lnTo>
                    <a:lnTo>
                      <a:pt x="89909" y="2240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AA5D3B8E-A529-7C69-CFCD-D456980C82D0}"/>
                </a:ext>
              </a:extLst>
            </p:cNvPr>
            <p:cNvSpPr/>
            <p:nvPr/>
          </p:nvSpPr>
          <p:spPr>
            <a:xfrm>
              <a:off x="6142753" y="2848391"/>
              <a:ext cx="11844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思源黑体 CN Medium" panose="020B0600000000000000" charset="-122"/>
                  <a:ea typeface="方正兰亭中黑_GBK"/>
                </a:rPr>
                <a:t>数据处理和展示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772F838-3271-B39A-FBE7-53FFF1958BA2}"/>
              </a:ext>
            </a:extLst>
          </p:cNvPr>
          <p:cNvGrpSpPr/>
          <p:nvPr/>
        </p:nvGrpSpPr>
        <p:grpSpPr>
          <a:xfrm>
            <a:off x="5027142" y="4039269"/>
            <a:ext cx="800219" cy="850564"/>
            <a:chOff x="5145854" y="3625488"/>
            <a:chExt cx="800219" cy="850564"/>
          </a:xfrm>
        </p:grpSpPr>
        <p:grpSp>
          <p:nvGrpSpPr>
            <p:cNvPr id="24" name="Group 18">
              <a:extLst>
                <a:ext uri="{FF2B5EF4-FFF2-40B4-BE49-F238E27FC236}">
                  <a16:creationId xmlns:a16="http://schemas.microsoft.com/office/drawing/2014/main" id="{50BE1E57-370A-9D20-7BD5-ACC272C634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355142" y="3625488"/>
              <a:ext cx="385124" cy="333775"/>
              <a:chOff x="3525" y="1887"/>
              <a:chExt cx="630" cy="546"/>
            </a:xfrm>
            <a:solidFill>
              <a:schemeClr val="bg1"/>
            </a:solidFill>
            <a:effectLst/>
          </p:grpSpPr>
          <p:sp>
            <p:nvSpPr>
              <p:cNvPr id="26" name="Freeform 19">
                <a:extLst>
                  <a:ext uri="{FF2B5EF4-FFF2-40B4-BE49-F238E27FC236}">
                    <a16:creationId xmlns:a16="http://schemas.microsoft.com/office/drawing/2014/main" id="{07349930-9213-4253-E083-59A14D16506F}"/>
                  </a:ext>
                </a:extLst>
              </p:cNvPr>
              <p:cNvSpPr/>
              <p:nvPr/>
            </p:nvSpPr>
            <p:spPr>
              <a:xfrm>
                <a:off x="3623" y="2117"/>
                <a:ext cx="129" cy="227"/>
              </a:xfrm>
              <a:custGeom>
                <a:avLst/>
                <a:gdLst>
                  <a:gd name="T0" fmla="*/ 4 w 54"/>
                  <a:gd name="T1" fmla="*/ 95 h 95"/>
                  <a:gd name="T2" fmla="*/ 49 w 54"/>
                  <a:gd name="T3" fmla="*/ 95 h 95"/>
                  <a:gd name="T4" fmla="*/ 54 w 54"/>
                  <a:gd name="T5" fmla="*/ 90 h 95"/>
                  <a:gd name="T6" fmla="*/ 54 w 54"/>
                  <a:gd name="T7" fmla="*/ 4 h 95"/>
                  <a:gd name="T8" fmla="*/ 49 w 54"/>
                  <a:gd name="T9" fmla="*/ 0 h 95"/>
                  <a:gd name="T10" fmla="*/ 4 w 54"/>
                  <a:gd name="T11" fmla="*/ 0 h 95"/>
                  <a:gd name="T12" fmla="*/ 0 w 54"/>
                  <a:gd name="T13" fmla="*/ 4 h 95"/>
                  <a:gd name="T14" fmla="*/ 0 w 54"/>
                  <a:gd name="T15" fmla="*/ 90 h 95"/>
                  <a:gd name="T16" fmla="*/ 4 w 54"/>
                  <a:gd name="T17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227">
                    <a:moveTo>
                      <a:pt x="10" y="227"/>
                    </a:moveTo>
                    <a:cubicBezTo>
                      <a:pt x="117" y="227"/>
                      <a:pt x="117" y="227"/>
                      <a:pt x="117" y="227"/>
                    </a:cubicBezTo>
                    <a:cubicBezTo>
                      <a:pt x="124" y="227"/>
                      <a:pt x="129" y="222"/>
                      <a:pt x="129" y="215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22"/>
                      <a:pt x="5" y="227"/>
                      <a:pt x="10" y="2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2916D36A-0A94-5CEF-78E3-2EBD215DC7A7}"/>
                  </a:ext>
                </a:extLst>
              </p:cNvPr>
              <p:cNvSpPr/>
              <p:nvPr/>
            </p:nvSpPr>
            <p:spPr>
              <a:xfrm>
                <a:off x="3809" y="2033"/>
                <a:ext cx="129" cy="311"/>
              </a:xfrm>
              <a:custGeom>
                <a:avLst/>
                <a:gdLst>
                  <a:gd name="T0" fmla="*/ 5 w 54"/>
                  <a:gd name="T1" fmla="*/ 130 h 130"/>
                  <a:gd name="T2" fmla="*/ 50 w 54"/>
                  <a:gd name="T3" fmla="*/ 130 h 130"/>
                  <a:gd name="T4" fmla="*/ 54 w 54"/>
                  <a:gd name="T5" fmla="*/ 125 h 130"/>
                  <a:gd name="T6" fmla="*/ 54 w 54"/>
                  <a:gd name="T7" fmla="*/ 5 h 130"/>
                  <a:gd name="T8" fmla="*/ 50 w 54"/>
                  <a:gd name="T9" fmla="*/ 0 h 130"/>
                  <a:gd name="T10" fmla="*/ 5 w 54"/>
                  <a:gd name="T11" fmla="*/ 0 h 130"/>
                  <a:gd name="T12" fmla="*/ 0 w 54"/>
                  <a:gd name="T13" fmla="*/ 5 h 130"/>
                  <a:gd name="T14" fmla="*/ 0 w 54"/>
                  <a:gd name="T15" fmla="*/ 125 h 130"/>
                  <a:gd name="T16" fmla="*/ 5 w 54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11">
                    <a:moveTo>
                      <a:pt x="12" y="311"/>
                    </a:moveTo>
                    <a:cubicBezTo>
                      <a:pt x="119" y="311"/>
                      <a:pt x="119" y="311"/>
                      <a:pt x="119" y="311"/>
                    </a:cubicBezTo>
                    <a:cubicBezTo>
                      <a:pt x="124" y="311"/>
                      <a:pt x="129" y="306"/>
                      <a:pt x="129" y="299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9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299"/>
                      <a:pt x="0" y="299"/>
                      <a:pt x="0" y="299"/>
                    </a:cubicBezTo>
                    <a:cubicBezTo>
                      <a:pt x="0" y="306"/>
                      <a:pt x="5" y="311"/>
                      <a:pt x="12" y="3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54C834AF-308A-58C4-EBE3-FEC99C9C628E}"/>
                  </a:ext>
                </a:extLst>
              </p:cNvPr>
              <p:cNvSpPr/>
              <p:nvPr/>
            </p:nvSpPr>
            <p:spPr>
              <a:xfrm>
                <a:off x="3997" y="1964"/>
                <a:ext cx="129" cy="380"/>
              </a:xfrm>
              <a:custGeom>
                <a:avLst/>
                <a:gdLst>
                  <a:gd name="T0" fmla="*/ 4 w 54"/>
                  <a:gd name="T1" fmla="*/ 159 h 159"/>
                  <a:gd name="T2" fmla="*/ 49 w 54"/>
                  <a:gd name="T3" fmla="*/ 159 h 159"/>
                  <a:gd name="T4" fmla="*/ 54 w 54"/>
                  <a:gd name="T5" fmla="*/ 154 h 159"/>
                  <a:gd name="T6" fmla="*/ 54 w 54"/>
                  <a:gd name="T7" fmla="*/ 5 h 159"/>
                  <a:gd name="T8" fmla="*/ 49 w 54"/>
                  <a:gd name="T9" fmla="*/ 0 h 159"/>
                  <a:gd name="T10" fmla="*/ 4 w 54"/>
                  <a:gd name="T11" fmla="*/ 0 h 159"/>
                  <a:gd name="T12" fmla="*/ 0 w 54"/>
                  <a:gd name="T13" fmla="*/ 5 h 159"/>
                  <a:gd name="T14" fmla="*/ 0 w 54"/>
                  <a:gd name="T15" fmla="*/ 154 h 159"/>
                  <a:gd name="T16" fmla="*/ 4 w 54"/>
                  <a:gd name="T17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80">
                    <a:moveTo>
                      <a:pt x="10" y="380"/>
                    </a:moveTo>
                    <a:cubicBezTo>
                      <a:pt x="117" y="380"/>
                      <a:pt x="117" y="380"/>
                      <a:pt x="117" y="380"/>
                    </a:cubicBezTo>
                    <a:cubicBezTo>
                      <a:pt x="124" y="380"/>
                      <a:pt x="129" y="375"/>
                      <a:pt x="129" y="368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368"/>
                      <a:pt x="0" y="368"/>
                      <a:pt x="0" y="368"/>
                    </a:cubicBezTo>
                    <a:cubicBezTo>
                      <a:pt x="0" y="375"/>
                      <a:pt x="5" y="380"/>
                      <a:pt x="10" y="3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480611FB-99B4-B437-E4F2-93E7207B14B0}"/>
                  </a:ext>
                </a:extLst>
              </p:cNvPr>
              <p:cNvSpPr/>
              <p:nvPr/>
            </p:nvSpPr>
            <p:spPr>
              <a:xfrm>
                <a:off x="3525" y="1887"/>
                <a:ext cx="630" cy="546"/>
              </a:xfrm>
              <a:custGeom>
                <a:avLst/>
                <a:gdLst>
                  <a:gd name="T0" fmla="*/ 253 w 264"/>
                  <a:gd name="T1" fmla="*/ 206 h 228"/>
                  <a:gd name="T2" fmla="*/ 23 w 264"/>
                  <a:gd name="T3" fmla="*/ 206 h 228"/>
                  <a:gd name="T4" fmla="*/ 22 w 264"/>
                  <a:gd name="T5" fmla="*/ 206 h 228"/>
                  <a:gd name="T6" fmla="*/ 22 w 264"/>
                  <a:gd name="T7" fmla="*/ 11 h 228"/>
                  <a:gd name="T8" fmla="*/ 11 w 264"/>
                  <a:gd name="T9" fmla="*/ 0 h 228"/>
                  <a:gd name="T10" fmla="*/ 0 w 264"/>
                  <a:gd name="T11" fmla="*/ 11 h 228"/>
                  <a:gd name="T12" fmla="*/ 0 w 264"/>
                  <a:gd name="T13" fmla="*/ 206 h 228"/>
                  <a:gd name="T14" fmla="*/ 23 w 264"/>
                  <a:gd name="T15" fmla="*/ 228 h 228"/>
                  <a:gd name="T16" fmla="*/ 253 w 264"/>
                  <a:gd name="T17" fmla="*/ 228 h 228"/>
                  <a:gd name="T18" fmla="*/ 264 w 264"/>
                  <a:gd name="T19" fmla="*/ 217 h 228"/>
                  <a:gd name="T20" fmla="*/ 253 w 264"/>
                  <a:gd name="T21" fmla="*/ 206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30" h="546">
                    <a:moveTo>
                      <a:pt x="604" y="493"/>
                    </a:moveTo>
                    <a:cubicBezTo>
                      <a:pt x="55" y="493"/>
                      <a:pt x="55" y="493"/>
                      <a:pt x="55" y="493"/>
                    </a:cubicBezTo>
                    <a:cubicBezTo>
                      <a:pt x="53" y="493"/>
                      <a:pt x="53" y="493"/>
                      <a:pt x="53" y="493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53" y="12"/>
                      <a:pt x="41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93"/>
                      <a:pt x="0" y="493"/>
                      <a:pt x="0" y="493"/>
                    </a:cubicBezTo>
                    <a:cubicBezTo>
                      <a:pt x="0" y="522"/>
                      <a:pt x="24" y="546"/>
                      <a:pt x="55" y="546"/>
                    </a:cubicBezTo>
                    <a:cubicBezTo>
                      <a:pt x="604" y="546"/>
                      <a:pt x="604" y="546"/>
                      <a:pt x="604" y="546"/>
                    </a:cubicBezTo>
                    <a:cubicBezTo>
                      <a:pt x="618" y="546"/>
                      <a:pt x="630" y="534"/>
                      <a:pt x="630" y="520"/>
                    </a:cubicBezTo>
                    <a:cubicBezTo>
                      <a:pt x="630" y="505"/>
                      <a:pt x="618" y="493"/>
                      <a:pt x="604" y="4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AEC7C0D-0D00-D08C-F337-09F1882C515F}"/>
                </a:ext>
              </a:extLst>
            </p:cNvPr>
            <p:cNvSpPr/>
            <p:nvPr/>
          </p:nvSpPr>
          <p:spPr>
            <a:xfrm>
              <a:off x="5145854" y="4137498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数据源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3ED046F0-44AF-0075-D330-4B0F2B0D8B67}"/>
              </a:ext>
            </a:extLst>
          </p:cNvPr>
          <p:cNvGrpSpPr/>
          <p:nvPr/>
        </p:nvGrpSpPr>
        <p:grpSpPr>
          <a:xfrm>
            <a:off x="6248591" y="4704544"/>
            <a:ext cx="1005403" cy="868051"/>
            <a:chOff x="6423403" y="4399738"/>
            <a:chExt cx="1005403" cy="868051"/>
          </a:xfrm>
        </p:grpSpPr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13001E18-15C4-01EF-CA18-A78D86885AA2}"/>
                </a:ext>
              </a:extLst>
            </p:cNvPr>
            <p:cNvSpPr>
              <a:spLocks noEditPoints="1"/>
            </p:cNvSpPr>
            <p:nvPr/>
          </p:nvSpPr>
          <p:spPr>
            <a:xfrm>
              <a:off x="6739622" y="4399738"/>
              <a:ext cx="371762" cy="370579"/>
            </a:xfrm>
            <a:custGeom>
              <a:avLst/>
              <a:gdLst>
                <a:gd name="T0" fmla="*/ 52 w 341"/>
                <a:gd name="T1" fmla="*/ 0 h 340"/>
                <a:gd name="T2" fmla="*/ 289 w 341"/>
                <a:gd name="T3" fmla="*/ 0 h 340"/>
                <a:gd name="T4" fmla="*/ 341 w 341"/>
                <a:gd name="T5" fmla="*/ 51 h 340"/>
                <a:gd name="T6" fmla="*/ 341 w 341"/>
                <a:gd name="T7" fmla="*/ 289 h 340"/>
                <a:gd name="T8" fmla="*/ 289 w 341"/>
                <a:gd name="T9" fmla="*/ 340 h 340"/>
                <a:gd name="T10" fmla="*/ 52 w 341"/>
                <a:gd name="T11" fmla="*/ 340 h 340"/>
                <a:gd name="T12" fmla="*/ 0 w 341"/>
                <a:gd name="T13" fmla="*/ 289 h 340"/>
                <a:gd name="T14" fmla="*/ 0 w 341"/>
                <a:gd name="T15" fmla="*/ 51 h 340"/>
                <a:gd name="T16" fmla="*/ 52 w 341"/>
                <a:gd name="T17" fmla="*/ 0 h 340"/>
                <a:gd name="T18" fmla="*/ 71 w 341"/>
                <a:gd name="T19" fmla="*/ 37 h 340"/>
                <a:gd name="T20" fmla="*/ 38 w 341"/>
                <a:gd name="T21" fmla="*/ 70 h 340"/>
                <a:gd name="T22" fmla="*/ 38 w 341"/>
                <a:gd name="T23" fmla="*/ 269 h 340"/>
                <a:gd name="T24" fmla="*/ 71 w 341"/>
                <a:gd name="T25" fmla="*/ 302 h 340"/>
                <a:gd name="T26" fmla="*/ 270 w 341"/>
                <a:gd name="T27" fmla="*/ 302 h 340"/>
                <a:gd name="T28" fmla="*/ 303 w 341"/>
                <a:gd name="T29" fmla="*/ 269 h 340"/>
                <a:gd name="T30" fmla="*/ 303 w 341"/>
                <a:gd name="T31" fmla="*/ 70 h 340"/>
                <a:gd name="T32" fmla="*/ 270 w 341"/>
                <a:gd name="T33" fmla="*/ 37 h 340"/>
                <a:gd name="T34" fmla="*/ 71 w 341"/>
                <a:gd name="T35" fmla="*/ 37 h 340"/>
                <a:gd name="T36" fmla="*/ 170 w 341"/>
                <a:gd name="T37" fmla="*/ 244 h 340"/>
                <a:gd name="T38" fmla="*/ 157 w 341"/>
                <a:gd name="T39" fmla="*/ 258 h 340"/>
                <a:gd name="T40" fmla="*/ 157 w 341"/>
                <a:gd name="T41" fmla="*/ 283 h 340"/>
                <a:gd name="T42" fmla="*/ 170 w 341"/>
                <a:gd name="T43" fmla="*/ 296 h 340"/>
                <a:gd name="T44" fmla="*/ 184 w 341"/>
                <a:gd name="T45" fmla="*/ 283 h 340"/>
                <a:gd name="T46" fmla="*/ 184 w 341"/>
                <a:gd name="T47" fmla="*/ 258 h 340"/>
                <a:gd name="T48" fmla="*/ 170 w 341"/>
                <a:gd name="T49" fmla="*/ 244 h 340"/>
                <a:gd name="T50" fmla="*/ 245 w 341"/>
                <a:gd name="T51" fmla="*/ 170 h 340"/>
                <a:gd name="T52" fmla="*/ 259 w 341"/>
                <a:gd name="T53" fmla="*/ 183 h 340"/>
                <a:gd name="T54" fmla="*/ 284 w 341"/>
                <a:gd name="T55" fmla="*/ 183 h 340"/>
                <a:gd name="T56" fmla="*/ 297 w 341"/>
                <a:gd name="T57" fmla="*/ 170 h 340"/>
                <a:gd name="T58" fmla="*/ 284 w 341"/>
                <a:gd name="T59" fmla="*/ 156 h 340"/>
                <a:gd name="T60" fmla="*/ 259 w 341"/>
                <a:gd name="T61" fmla="*/ 156 h 340"/>
                <a:gd name="T62" fmla="*/ 245 w 341"/>
                <a:gd name="T63" fmla="*/ 170 h 340"/>
                <a:gd name="T64" fmla="*/ 170 w 341"/>
                <a:gd name="T65" fmla="*/ 43 h 340"/>
                <a:gd name="T66" fmla="*/ 157 w 341"/>
                <a:gd name="T67" fmla="*/ 57 h 340"/>
                <a:gd name="T68" fmla="*/ 157 w 341"/>
                <a:gd name="T69" fmla="*/ 82 h 340"/>
                <a:gd name="T70" fmla="*/ 170 w 341"/>
                <a:gd name="T71" fmla="*/ 95 h 340"/>
                <a:gd name="T72" fmla="*/ 184 w 341"/>
                <a:gd name="T73" fmla="*/ 82 h 340"/>
                <a:gd name="T74" fmla="*/ 184 w 341"/>
                <a:gd name="T75" fmla="*/ 57 h 340"/>
                <a:gd name="T76" fmla="*/ 170 w 341"/>
                <a:gd name="T77" fmla="*/ 43 h 340"/>
                <a:gd name="T78" fmla="*/ 189 w 341"/>
                <a:gd name="T79" fmla="*/ 172 h 340"/>
                <a:gd name="T80" fmla="*/ 217 w 341"/>
                <a:gd name="T81" fmla="*/ 143 h 340"/>
                <a:gd name="T82" fmla="*/ 217 w 341"/>
                <a:gd name="T83" fmla="*/ 125 h 340"/>
                <a:gd name="T84" fmla="*/ 199 w 341"/>
                <a:gd name="T85" fmla="*/ 125 h 340"/>
                <a:gd name="T86" fmla="*/ 173 w 341"/>
                <a:gd name="T87" fmla="*/ 152 h 340"/>
                <a:gd name="T88" fmla="*/ 170 w 341"/>
                <a:gd name="T89" fmla="*/ 152 h 340"/>
                <a:gd name="T90" fmla="*/ 166 w 341"/>
                <a:gd name="T91" fmla="*/ 152 h 340"/>
                <a:gd name="T92" fmla="*/ 114 w 341"/>
                <a:gd name="T93" fmla="*/ 98 h 340"/>
                <a:gd name="T94" fmla="*/ 101 w 341"/>
                <a:gd name="T95" fmla="*/ 98 h 340"/>
                <a:gd name="T96" fmla="*/ 100 w 341"/>
                <a:gd name="T97" fmla="*/ 111 h 340"/>
                <a:gd name="T98" fmla="*/ 153 w 341"/>
                <a:gd name="T99" fmla="*/ 165 h 340"/>
                <a:gd name="T100" fmla="*/ 152 w 341"/>
                <a:gd name="T101" fmla="*/ 170 h 340"/>
                <a:gd name="T102" fmla="*/ 170 w 341"/>
                <a:gd name="T103" fmla="*/ 188 h 340"/>
                <a:gd name="T104" fmla="*/ 189 w 341"/>
                <a:gd name="T105" fmla="*/ 172 h 340"/>
                <a:gd name="T106" fmla="*/ 44 w 341"/>
                <a:gd name="T107" fmla="*/ 170 h 340"/>
                <a:gd name="T108" fmla="*/ 57 w 341"/>
                <a:gd name="T109" fmla="*/ 183 h 340"/>
                <a:gd name="T110" fmla="*/ 82 w 341"/>
                <a:gd name="T111" fmla="*/ 183 h 340"/>
                <a:gd name="T112" fmla="*/ 96 w 341"/>
                <a:gd name="T113" fmla="*/ 170 h 340"/>
                <a:gd name="T114" fmla="*/ 82 w 341"/>
                <a:gd name="T115" fmla="*/ 156 h 340"/>
                <a:gd name="T116" fmla="*/ 57 w 341"/>
                <a:gd name="T117" fmla="*/ 156 h 340"/>
                <a:gd name="T118" fmla="*/ 44 w 341"/>
                <a:gd name="T119" fmla="*/ 17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71762" h="370579">
                  <a:moveTo>
                    <a:pt x="56691" y="0"/>
                  </a:moveTo>
                  <a:cubicBezTo>
                    <a:pt x="315071" y="0"/>
                    <a:pt x="315071" y="0"/>
                    <a:pt x="315071" y="0"/>
                  </a:cubicBezTo>
                  <a:cubicBezTo>
                    <a:pt x="346687" y="0"/>
                    <a:pt x="371762" y="25069"/>
                    <a:pt x="371762" y="55587"/>
                  </a:cubicBezTo>
                  <a:cubicBezTo>
                    <a:pt x="371762" y="314992"/>
                    <a:pt x="371762" y="314992"/>
                    <a:pt x="371762" y="314992"/>
                  </a:cubicBezTo>
                  <a:cubicBezTo>
                    <a:pt x="371762" y="345510"/>
                    <a:pt x="346687" y="370579"/>
                    <a:pt x="315071" y="370579"/>
                  </a:cubicBezTo>
                  <a:cubicBezTo>
                    <a:pt x="56691" y="370579"/>
                    <a:pt x="56691" y="370579"/>
                    <a:pt x="56691" y="370579"/>
                  </a:cubicBezTo>
                  <a:cubicBezTo>
                    <a:pt x="25075" y="370579"/>
                    <a:pt x="0" y="345510"/>
                    <a:pt x="0" y="314992"/>
                  </a:cubicBezTo>
                  <a:cubicBezTo>
                    <a:pt x="0" y="55587"/>
                    <a:pt x="0" y="55587"/>
                    <a:pt x="0" y="55587"/>
                  </a:cubicBezTo>
                  <a:cubicBezTo>
                    <a:pt x="0" y="25069"/>
                    <a:pt x="25075" y="0"/>
                    <a:pt x="56691" y="0"/>
                  </a:cubicBezTo>
                  <a:close/>
                  <a:moveTo>
                    <a:pt x="77405" y="40328"/>
                  </a:moveTo>
                  <a:cubicBezTo>
                    <a:pt x="57781" y="40328"/>
                    <a:pt x="41428" y="56677"/>
                    <a:pt x="41428" y="76296"/>
                  </a:cubicBezTo>
                  <a:cubicBezTo>
                    <a:pt x="41428" y="293193"/>
                    <a:pt x="41428" y="293193"/>
                    <a:pt x="41428" y="293193"/>
                  </a:cubicBezTo>
                  <a:cubicBezTo>
                    <a:pt x="41428" y="313902"/>
                    <a:pt x="57781" y="329161"/>
                    <a:pt x="77405" y="329161"/>
                  </a:cubicBezTo>
                  <a:cubicBezTo>
                    <a:pt x="294357" y="329161"/>
                    <a:pt x="294357" y="329161"/>
                    <a:pt x="294357" y="329161"/>
                  </a:cubicBezTo>
                  <a:cubicBezTo>
                    <a:pt x="313981" y="329161"/>
                    <a:pt x="330334" y="313902"/>
                    <a:pt x="330334" y="293193"/>
                  </a:cubicBezTo>
                  <a:cubicBezTo>
                    <a:pt x="330334" y="76296"/>
                    <a:pt x="330334" y="76296"/>
                    <a:pt x="330334" y="76296"/>
                  </a:cubicBezTo>
                  <a:cubicBezTo>
                    <a:pt x="330334" y="56677"/>
                    <a:pt x="313981" y="40328"/>
                    <a:pt x="294357" y="40328"/>
                  </a:cubicBezTo>
                  <a:cubicBezTo>
                    <a:pt x="77405" y="40328"/>
                    <a:pt x="77405" y="40328"/>
                    <a:pt x="77405" y="40328"/>
                  </a:cubicBezTo>
                  <a:close/>
                  <a:moveTo>
                    <a:pt x="185336" y="265945"/>
                  </a:moveTo>
                  <a:cubicBezTo>
                    <a:pt x="177704" y="265945"/>
                    <a:pt x="171163" y="273574"/>
                    <a:pt x="171163" y="281204"/>
                  </a:cubicBezTo>
                  <a:cubicBezTo>
                    <a:pt x="171163" y="308453"/>
                    <a:pt x="171163" y="308453"/>
                    <a:pt x="171163" y="308453"/>
                  </a:cubicBezTo>
                  <a:cubicBezTo>
                    <a:pt x="171163" y="316082"/>
                    <a:pt x="177704" y="322622"/>
                    <a:pt x="185336" y="322622"/>
                  </a:cubicBezTo>
                  <a:cubicBezTo>
                    <a:pt x="194058" y="322622"/>
                    <a:pt x="200599" y="316082"/>
                    <a:pt x="200599" y="308453"/>
                  </a:cubicBezTo>
                  <a:cubicBezTo>
                    <a:pt x="200599" y="281204"/>
                    <a:pt x="200599" y="281204"/>
                    <a:pt x="200599" y="281204"/>
                  </a:cubicBezTo>
                  <a:cubicBezTo>
                    <a:pt x="200599" y="273574"/>
                    <a:pt x="194058" y="265945"/>
                    <a:pt x="185336" y="265945"/>
                  </a:cubicBezTo>
                  <a:close/>
                  <a:moveTo>
                    <a:pt x="267102" y="185290"/>
                  </a:moveTo>
                  <a:cubicBezTo>
                    <a:pt x="267102" y="192919"/>
                    <a:pt x="273643" y="199459"/>
                    <a:pt x="282365" y="199459"/>
                  </a:cubicBezTo>
                  <a:cubicBezTo>
                    <a:pt x="309620" y="199459"/>
                    <a:pt x="309620" y="199459"/>
                    <a:pt x="309620" y="199459"/>
                  </a:cubicBezTo>
                  <a:cubicBezTo>
                    <a:pt x="317251" y="199459"/>
                    <a:pt x="323793" y="192919"/>
                    <a:pt x="323793" y="185290"/>
                  </a:cubicBezTo>
                  <a:cubicBezTo>
                    <a:pt x="323793" y="176570"/>
                    <a:pt x="317251" y="170030"/>
                    <a:pt x="309620" y="170030"/>
                  </a:cubicBezTo>
                  <a:cubicBezTo>
                    <a:pt x="282365" y="170030"/>
                    <a:pt x="282365" y="170030"/>
                    <a:pt x="282365" y="170030"/>
                  </a:cubicBezTo>
                  <a:cubicBezTo>
                    <a:pt x="273643" y="170030"/>
                    <a:pt x="267102" y="176570"/>
                    <a:pt x="267102" y="185290"/>
                  </a:cubicBezTo>
                  <a:close/>
                  <a:moveTo>
                    <a:pt x="185336" y="46867"/>
                  </a:moveTo>
                  <a:cubicBezTo>
                    <a:pt x="177704" y="46867"/>
                    <a:pt x="171163" y="53407"/>
                    <a:pt x="171163" y="62126"/>
                  </a:cubicBezTo>
                  <a:cubicBezTo>
                    <a:pt x="171163" y="89375"/>
                    <a:pt x="171163" y="89375"/>
                    <a:pt x="171163" y="89375"/>
                  </a:cubicBezTo>
                  <a:cubicBezTo>
                    <a:pt x="171163" y="97005"/>
                    <a:pt x="177704" y="103544"/>
                    <a:pt x="185336" y="103544"/>
                  </a:cubicBezTo>
                  <a:cubicBezTo>
                    <a:pt x="194058" y="103544"/>
                    <a:pt x="200599" y="97005"/>
                    <a:pt x="200599" y="89375"/>
                  </a:cubicBezTo>
                  <a:cubicBezTo>
                    <a:pt x="200599" y="62126"/>
                    <a:pt x="200599" y="62126"/>
                    <a:pt x="200599" y="62126"/>
                  </a:cubicBezTo>
                  <a:cubicBezTo>
                    <a:pt x="200599" y="53407"/>
                    <a:pt x="194058" y="46867"/>
                    <a:pt x="185336" y="46867"/>
                  </a:cubicBezTo>
                  <a:close/>
                  <a:moveTo>
                    <a:pt x="206050" y="187469"/>
                  </a:moveTo>
                  <a:cubicBezTo>
                    <a:pt x="236576" y="155861"/>
                    <a:pt x="236576" y="155861"/>
                    <a:pt x="236576" y="155861"/>
                  </a:cubicBezTo>
                  <a:cubicBezTo>
                    <a:pt x="242027" y="150411"/>
                    <a:pt x="242027" y="141692"/>
                    <a:pt x="236576" y="136242"/>
                  </a:cubicBezTo>
                  <a:cubicBezTo>
                    <a:pt x="231125" y="130793"/>
                    <a:pt x="222403" y="130793"/>
                    <a:pt x="216952" y="136242"/>
                  </a:cubicBezTo>
                  <a:cubicBezTo>
                    <a:pt x="188607" y="165671"/>
                    <a:pt x="188607" y="165671"/>
                    <a:pt x="188607" y="165671"/>
                  </a:cubicBezTo>
                  <a:cubicBezTo>
                    <a:pt x="187516" y="165671"/>
                    <a:pt x="186426" y="165671"/>
                    <a:pt x="185336" y="165671"/>
                  </a:cubicBezTo>
                  <a:cubicBezTo>
                    <a:pt x="184246" y="165671"/>
                    <a:pt x="183155" y="165671"/>
                    <a:pt x="180975" y="165671"/>
                  </a:cubicBezTo>
                  <a:cubicBezTo>
                    <a:pt x="124284" y="106814"/>
                    <a:pt x="124284" y="106814"/>
                    <a:pt x="124284" y="106814"/>
                  </a:cubicBezTo>
                  <a:cubicBezTo>
                    <a:pt x="119923" y="102454"/>
                    <a:pt x="113382" y="102454"/>
                    <a:pt x="110111" y="106814"/>
                  </a:cubicBezTo>
                  <a:cubicBezTo>
                    <a:pt x="105750" y="110084"/>
                    <a:pt x="105750" y="116623"/>
                    <a:pt x="109021" y="120983"/>
                  </a:cubicBezTo>
                  <a:cubicBezTo>
                    <a:pt x="166802" y="179840"/>
                    <a:pt x="166802" y="179840"/>
                    <a:pt x="166802" y="179840"/>
                  </a:cubicBezTo>
                  <a:cubicBezTo>
                    <a:pt x="165712" y="182020"/>
                    <a:pt x="165712" y="183110"/>
                    <a:pt x="165712" y="185290"/>
                  </a:cubicBezTo>
                  <a:cubicBezTo>
                    <a:pt x="165712" y="196189"/>
                    <a:pt x="174434" y="204908"/>
                    <a:pt x="185336" y="204908"/>
                  </a:cubicBezTo>
                  <a:cubicBezTo>
                    <a:pt x="196238" y="204908"/>
                    <a:pt x="204960" y="197279"/>
                    <a:pt x="206050" y="187469"/>
                  </a:cubicBezTo>
                  <a:close/>
                  <a:moveTo>
                    <a:pt x="47969" y="185290"/>
                  </a:moveTo>
                  <a:cubicBezTo>
                    <a:pt x="47969" y="192919"/>
                    <a:pt x="54511" y="199459"/>
                    <a:pt x="62142" y="199459"/>
                  </a:cubicBezTo>
                  <a:cubicBezTo>
                    <a:pt x="89397" y="199459"/>
                    <a:pt x="89397" y="199459"/>
                    <a:pt x="89397" y="199459"/>
                  </a:cubicBezTo>
                  <a:cubicBezTo>
                    <a:pt x="98119" y="199459"/>
                    <a:pt x="104660" y="192919"/>
                    <a:pt x="104660" y="185290"/>
                  </a:cubicBezTo>
                  <a:cubicBezTo>
                    <a:pt x="104660" y="176570"/>
                    <a:pt x="98119" y="170030"/>
                    <a:pt x="89397" y="170030"/>
                  </a:cubicBezTo>
                  <a:cubicBezTo>
                    <a:pt x="62142" y="170030"/>
                    <a:pt x="62142" y="170030"/>
                    <a:pt x="62142" y="170030"/>
                  </a:cubicBezTo>
                  <a:cubicBezTo>
                    <a:pt x="54511" y="170030"/>
                    <a:pt x="47969" y="176570"/>
                    <a:pt x="47969" y="1852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0EDDD3A8-8467-4BFB-D3FE-834ABDB551DA}"/>
                </a:ext>
              </a:extLst>
            </p:cNvPr>
            <p:cNvSpPr/>
            <p:nvPr/>
          </p:nvSpPr>
          <p:spPr>
            <a:xfrm>
              <a:off x="6423403" y="4929235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页面布局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3440AB7D-1EF2-F2D7-52AD-32ACED5AD84A}"/>
              </a:ext>
            </a:extLst>
          </p:cNvPr>
          <p:cNvSpPr txBox="1"/>
          <p:nvPr/>
        </p:nvSpPr>
        <p:spPr>
          <a:xfrm>
            <a:off x="674704" y="1284208"/>
            <a:ext cx="6579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4.7 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当前实现效果</a:t>
            </a:r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——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分析结果</a:t>
            </a:r>
          </a:p>
        </p:txBody>
      </p:sp>
      <p:pic>
        <p:nvPicPr>
          <p:cNvPr id="4" name="图片 3" descr="电脑萤幕的截图&#10;&#10;AI 生成的内容可能不正确。">
            <a:extLst>
              <a:ext uri="{FF2B5EF4-FFF2-40B4-BE49-F238E27FC236}">
                <a16:creationId xmlns:a16="http://schemas.microsoft.com/office/drawing/2014/main" id="{0E993178-4EB5-A4D0-8225-351002C749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249" y="1985663"/>
            <a:ext cx="5421112" cy="2481853"/>
          </a:xfrm>
          <a:prstGeom prst="rect">
            <a:avLst/>
          </a:prstGeom>
        </p:spPr>
      </p:pic>
      <p:pic>
        <p:nvPicPr>
          <p:cNvPr id="8" name="图片 7" descr="截图里有图片&#10;&#10;AI 生成的内容可能不正确。">
            <a:extLst>
              <a:ext uri="{FF2B5EF4-FFF2-40B4-BE49-F238E27FC236}">
                <a16:creationId xmlns:a16="http://schemas.microsoft.com/office/drawing/2014/main" id="{EF30A2BE-F2D8-B4E3-882E-8ED9BBD56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0972" y="1957247"/>
            <a:ext cx="5827359" cy="2667838"/>
          </a:xfrm>
          <a:prstGeom prst="rect">
            <a:avLst/>
          </a:prstGeom>
        </p:spPr>
      </p:pic>
      <p:pic>
        <p:nvPicPr>
          <p:cNvPr id="10" name="图片 9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3CA89730-8565-F876-A2E9-DD1F4C7B9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188" y="4565250"/>
            <a:ext cx="4786009" cy="2191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7092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82EB4-B5BB-7CDB-B574-CF187DFF2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D25A78FC-2488-8F6B-ADE1-6C7EFB9C709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4DC7AC53-0225-29B4-3D79-61B886F66652}"/>
              </a:ext>
            </a:extLst>
          </p:cNvPr>
          <p:cNvGrpSpPr/>
          <p:nvPr/>
        </p:nvGrpSpPr>
        <p:grpSpPr>
          <a:xfrm>
            <a:off x="5967941" y="2744132"/>
            <a:ext cx="1184492" cy="993840"/>
            <a:chOff x="6142753" y="2439326"/>
            <a:chExt cx="1184492" cy="99384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4FF19194-8D7C-AC79-5B54-956B24FDFFF5}"/>
                </a:ext>
              </a:extLst>
            </p:cNvPr>
            <p:cNvGrpSpPr/>
            <p:nvPr/>
          </p:nvGrpSpPr>
          <p:grpSpPr>
            <a:xfrm>
              <a:off x="6438208" y="2439326"/>
              <a:ext cx="373402" cy="357114"/>
              <a:chOff x="6042259" y="5362013"/>
              <a:chExt cx="464982" cy="444699"/>
            </a:xfrm>
            <a:solidFill>
              <a:schemeClr val="bg1"/>
            </a:solidFill>
          </p:grpSpPr>
          <p:sp>
            <p:nvSpPr>
              <p:cNvPr id="21" name="Freeform 25">
                <a:extLst>
                  <a:ext uri="{FF2B5EF4-FFF2-40B4-BE49-F238E27FC236}">
                    <a16:creationId xmlns:a16="http://schemas.microsoft.com/office/drawing/2014/main" id="{8A6E129A-46C0-070E-8197-9A49A108BF66}"/>
                  </a:ext>
                </a:extLst>
              </p:cNvPr>
              <p:cNvSpPr/>
              <p:nvPr/>
            </p:nvSpPr>
            <p:spPr>
              <a:xfrm>
                <a:off x="6212692" y="5681688"/>
                <a:ext cx="125025" cy="125024"/>
              </a:xfrm>
              <a:custGeom>
                <a:avLst/>
                <a:gdLst>
                  <a:gd name="T0" fmla="*/ 206 w 413"/>
                  <a:gd name="T1" fmla="*/ 413 h 413"/>
                  <a:gd name="T2" fmla="*/ 0 w 413"/>
                  <a:gd name="T3" fmla="*/ 0 h 413"/>
                  <a:gd name="T4" fmla="*/ 413 w 413"/>
                  <a:gd name="T5" fmla="*/ 0 h 413"/>
                  <a:gd name="T6" fmla="*/ 206 w 413"/>
                  <a:gd name="T7" fmla="*/ 413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025" h="125024">
                    <a:moveTo>
                      <a:pt x="62361" y="125024"/>
                    </a:moveTo>
                    <a:lnTo>
                      <a:pt x="0" y="0"/>
                    </a:lnTo>
                    <a:lnTo>
                      <a:pt x="125025" y="0"/>
                    </a:lnTo>
                    <a:lnTo>
                      <a:pt x="62361" y="1250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任意多边形 32">
                <a:extLst>
                  <a:ext uri="{FF2B5EF4-FFF2-40B4-BE49-F238E27FC236}">
                    <a16:creationId xmlns:a16="http://schemas.microsoft.com/office/drawing/2014/main" id="{E6DC95FB-3088-153C-68B2-F4D65F2B4FD9}"/>
                  </a:ext>
                </a:extLst>
              </p:cNvPr>
              <p:cNvSpPr>
                <a:spLocks noChangeArrowheads="1"/>
              </p:cNvSpPr>
              <p:nvPr/>
            </p:nvSpPr>
            <p:spPr>
              <a:xfrm>
                <a:off x="6042259" y="5362013"/>
                <a:ext cx="464982" cy="338443"/>
              </a:xfrm>
              <a:custGeom>
                <a:avLst/>
                <a:gdLst>
                  <a:gd name="connsiteX0" fmla="*/ 290196 w 2438400"/>
                  <a:gd name="connsiteY0" fmla="*/ 0 h 1774825"/>
                  <a:gd name="connsiteX1" fmla="*/ 2151973 w 2438400"/>
                  <a:gd name="connsiteY1" fmla="*/ 0 h 1774825"/>
                  <a:gd name="connsiteX2" fmla="*/ 2438400 w 2438400"/>
                  <a:gd name="connsiteY2" fmla="*/ 286384 h 1774825"/>
                  <a:gd name="connsiteX3" fmla="*/ 2438400 w 2438400"/>
                  <a:gd name="connsiteY3" fmla="*/ 1484673 h 1774825"/>
                  <a:gd name="connsiteX4" fmla="*/ 2151973 w 2438400"/>
                  <a:gd name="connsiteY4" fmla="*/ 1774825 h 1774825"/>
                  <a:gd name="connsiteX5" fmla="*/ 290196 w 2438400"/>
                  <a:gd name="connsiteY5" fmla="*/ 1774825 h 1774825"/>
                  <a:gd name="connsiteX6" fmla="*/ 0 w 2438400"/>
                  <a:gd name="connsiteY6" fmla="*/ 1484673 h 1774825"/>
                  <a:gd name="connsiteX7" fmla="*/ 0 w 2438400"/>
                  <a:gd name="connsiteY7" fmla="*/ 286384 h 1774825"/>
                  <a:gd name="connsiteX8" fmla="*/ 290196 w 2438400"/>
                  <a:gd name="connsiteY8" fmla="*/ 0 h 1774825"/>
                  <a:gd name="connsiteX9" fmla="*/ 471488 w 2438400"/>
                  <a:gd name="connsiteY9" fmla="*/ 425450 h 1774825"/>
                  <a:gd name="connsiteX10" fmla="*/ 471488 w 2438400"/>
                  <a:gd name="connsiteY10" fmla="*/ 598488 h 1774825"/>
                  <a:gd name="connsiteX11" fmla="*/ 1971676 w 2438400"/>
                  <a:gd name="connsiteY11" fmla="*/ 598488 h 1774825"/>
                  <a:gd name="connsiteX12" fmla="*/ 1971676 w 2438400"/>
                  <a:gd name="connsiteY12" fmla="*/ 425450 h 1774825"/>
                  <a:gd name="connsiteX13" fmla="*/ 471488 w 2438400"/>
                  <a:gd name="connsiteY13" fmla="*/ 425450 h 1774825"/>
                  <a:gd name="connsiteX14" fmla="*/ 471488 w 2438400"/>
                  <a:gd name="connsiteY14" fmla="*/ 801688 h 1774825"/>
                  <a:gd name="connsiteX15" fmla="*/ 471488 w 2438400"/>
                  <a:gd name="connsiteY15" fmla="*/ 971551 h 1774825"/>
                  <a:gd name="connsiteX16" fmla="*/ 1971676 w 2438400"/>
                  <a:gd name="connsiteY16" fmla="*/ 971551 h 1774825"/>
                  <a:gd name="connsiteX17" fmla="*/ 1971676 w 2438400"/>
                  <a:gd name="connsiteY17" fmla="*/ 801688 h 1774825"/>
                  <a:gd name="connsiteX18" fmla="*/ 471488 w 2438400"/>
                  <a:gd name="connsiteY18" fmla="*/ 801688 h 1774825"/>
                  <a:gd name="connsiteX19" fmla="*/ 471488 w 2438400"/>
                  <a:gd name="connsiteY19" fmla="*/ 1174750 h 1774825"/>
                  <a:gd name="connsiteX20" fmla="*/ 471488 w 2438400"/>
                  <a:gd name="connsiteY20" fmla="*/ 1347788 h 1774825"/>
                  <a:gd name="connsiteX21" fmla="*/ 1971676 w 2438400"/>
                  <a:gd name="connsiteY21" fmla="*/ 1347788 h 1774825"/>
                  <a:gd name="connsiteX22" fmla="*/ 1971676 w 2438400"/>
                  <a:gd name="connsiteY22" fmla="*/ 1174750 h 1774825"/>
                  <a:gd name="connsiteX23" fmla="*/ 471488 w 2438400"/>
                  <a:gd name="connsiteY23" fmla="*/ 1174750 h 177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64982" h="338443">
                    <a:moveTo>
                      <a:pt x="55338" y="0"/>
                    </a:moveTo>
                    <a:cubicBezTo>
                      <a:pt x="410363" y="0"/>
                      <a:pt x="410363" y="0"/>
                      <a:pt x="410363" y="0"/>
                    </a:cubicBezTo>
                    <a:cubicBezTo>
                      <a:pt x="440547" y="0"/>
                      <a:pt x="464982" y="24431"/>
                      <a:pt x="464982" y="54611"/>
                    </a:cubicBezTo>
                    <a:lnTo>
                      <a:pt x="464982" y="283114"/>
                    </a:lnTo>
                    <a:cubicBezTo>
                      <a:pt x="464982" y="314012"/>
                      <a:pt x="440547" y="338443"/>
                      <a:pt x="410363" y="338443"/>
                    </a:cubicBezTo>
                    <a:cubicBezTo>
                      <a:pt x="55338" y="338443"/>
                      <a:pt x="55338" y="338443"/>
                      <a:pt x="55338" y="338443"/>
                    </a:cubicBezTo>
                    <a:cubicBezTo>
                      <a:pt x="25154" y="338443"/>
                      <a:pt x="0" y="314012"/>
                      <a:pt x="0" y="283114"/>
                    </a:cubicBezTo>
                    <a:cubicBezTo>
                      <a:pt x="0" y="54611"/>
                      <a:pt x="0" y="54611"/>
                      <a:pt x="0" y="54611"/>
                    </a:cubicBezTo>
                    <a:cubicBezTo>
                      <a:pt x="0" y="24431"/>
                      <a:pt x="25154" y="0"/>
                      <a:pt x="55338" y="0"/>
                    </a:cubicBezTo>
                    <a:close/>
                    <a:moveTo>
                      <a:pt x="89909" y="81129"/>
                    </a:moveTo>
                    <a:lnTo>
                      <a:pt x="89909" y="114126"/>
                    </a:lnTo>
                    <a:lnTo>
                      <a:pt x="375982" y="114126"/>
                    </a:lnTo>
                    <a:lnTo>
                      <a:pt x="375982" y="81129"/>
                    </a:lnTo>
                    <a:lnTo>
                      <a:pt x="89909" y="81129"/>
                    </a:lnTo>
                    <a:close/>
                    <a:moveTo>
                      <a:pt x="89909" y="152875"/>
                    </a:moveTo>
                    <a:lnTo>
                      <a:pt x="89909" y="185266"/>
                    </a:lnTo>
                    <a:lnTo>
                      <a:pt x="375982" y="185266"/>
                    </a:lnTo>
                    <a:lnTo>
                      <a:pt x="375982" y="152875"/>
                    </a:lnTo>
                    <a:lnTo>
                      <a:pt x="89909" y="152875"/>
                    </a:lnTo>
                    <a:close/>
                    <a:moveTo>
                      <a:pt x="89909" y="224014"/>
                    </a:moveTo>
                    <a:lnTo>
                      <a:pt x="89909" y="257011"/>
                    </a:lnTo>
                    <a:lnTo>
                      <a:pt x="375982" y="257011"/>
                    </a:lnTo>
                    <a:lnTo>
                      <a:pt x="375982" y="224014"/>
                    </a:lnTo>
                    <a:lnTo>
                      <a:pt x="89909" y="2240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12E4F3B-1B3C-8490-6C79-AB4A644A8118}"/>
                </a:ext>
              </a:extLst>
            </p:cNvPr>
            <p:cNvSpPr/>
            <p:nvPr/>
          </p:nvSpPr>
          <p:spPr>
            <a:xfrm>
              <a:off x="6142753" y="2848391"/>
              <a:ext cx="11844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思源黑体 CN Medium" panose="020B0600000000000000" charset="-122"/>
                  <a:ea typeface="方正兰亭中黑_GBK"/>
                </a:rPr>
                <a:t>数据处理和展示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11CE11F0-4944-9546-607E-7D330A0F524D}"/>
              </a:ext>
            </a:extLst>
          </p:cNvPr>
          <p:cNvGrpSpPr/>
          <p:nvPr/>
        </p:nvGrpSpPr>
        <p:grpSpPr>
          <a:xfrm>
            <a:off x="5027142" y="4039269"/>
            <a:ext cx="800219" cy="850564"/>
            <a:chOff x="5145854" y="3625488"/>
            <a:chExt cx="800219" cy="850564"/>
          </a:xfrm>
        </p:grpSpPr>
        <p:grpSp>
          <p:nvGrpSpPr>
            <p:cNvPr id="24" name="Group 18">
              <a:extLst>
                <a:ext uri="{FF2B5EF4-FFF2-40B4-BE49-F238E27FC236}">
                  <a16:creationId xmlns:a16="http://schemas.microsoft.com/office/drawing/2014/main" id="{19BB583D-B0D8-1AE8-D7DA-C95F966444D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355142" y="3625488"/>
              <a:ext cx="385124" cy="333775"/>
              <a:chOff x="3525" y="1887"/>
              <a:chExt cx="630" cy="546"/>
            </a:xfrm>
            <a:solidFill>
              <a:schemeClr val="bg1"/>
            </a:solidFill>
            <a:effectLst/>
          </p:grpSpPr>
          <p:sp>
            <p:nvSpPr>
              <p:cNvPr id="26" name="Freeform 19">
                <a:extLst>
                  <a:ext uri="{FF2B5EF4-FFF2-40B4-BE49-F238E27FC236}">
                    <a16:creationId xmlns:a16="http://schemas.microsoft.com/office/drawing/2014/main" id="{A6552813-AF8F-E06C-6798-7AC5D5A39C45}"/>
                  </a:ext>
                </a:extLst>
              </p:cNvPr>
              <p:cNvSpPr/>
              <p:nvPr/>
            </p:nvSpPr>
            <p:spPr>
              <a:xfrm>
                <a:off x="3623" y="2117"/>
                <a:ext cx="129" cy="227"/>
              </a:xfrm>
              <a:custGeom>
                <a:avLst/>
                <a:gdLst>
                  <a:gd name="T0" fmla="*/ 4 w 54"/>
                  <a:gd name="T1" fmla="*/ 95 h 95"/>
                  <a:gd name="T2" fmla="*/ 49 w 54"/>
                  <a:gd name="T3" fmla="*/ 95 h 95"/>
                  <a:gd name="T4" fmla="*/ 54 w 54"/>
                  <a:gd name="T5" fmla="*/ 90 h 95"/>
                  <a:gd name="T6" fmla="*/ 54 w 54"/>
                  <a:gd name="T7" fmla="*/ 4 h 95"/>
                  <a:gd name="T8" fmla="*/ 49 w 54"/>
                  <a:gd name="T9" fmla="*/ 0 h 95"/>
                  <a:gd name="T10" fmla="*/ 4 w 54"/>
                  <a:gd name="T11" fmla="*/ 0 h 95"/>
                  <a:gd name="T12" fmla="*/ 0 w 54"/>
                  <a:gd name="T13" fmla="*/ 4 h 95"/>
                  <a:gd name="T14" fmla="*/ 0 w 54"/>
                  <a:gd name="T15" fmla="*/ 90 h 95"/>
                  <a:gd name="T16" fmla="*/ 4 w 54"/>
                  <a:gd name="T17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227">
                    <a:moveTo>
                      <a:pt x="10" y="227"/>
                    </a:moveTo>
                    <a:cubicBezTo>
                      <a:pt x="117" y="227"/>
                      <a:pt x="117" y="227"/>
                      <a:pt x="117" y="227"/>
                    </a:cubicBezTo>
                    <a:cubicBezTo>
                      <a:pt x="124" y="227"/>
                      <a:pt x="129" y="222"/>
                      <a:pt x="129" y="215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22"/>
                      <a:pt x="5" y="227"/>
                      <a:pt x="10" y="2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5D70C9D8-3E36-712B-1365-4F52118F6CDA}"/>
                  </a:ext>
                </a:extLst>
              </p:cNvPr>
              <p:cNvSpPr/>
              <p:nvPr/>
            </p:nvSpPr>
            <p:spPr>
              <a:xfrm>
                <a:off x="3809" y="2033"/>
                <a:ext cx="129" cy="311"/>
              </a:xfrm>
              <a:custGeom>
                <a:avLst/>
                <a:gdLst>
                  <a:gd name="T0" fmla="*/ 5 w 54"/>
                  <a:gd name="T1" fmla="*/ 130 h 130"/>
                  <a:gd name="T2" fmla="*/ 50 w 54"/>
                  <a:gd name="T3" fmla="*/ 130 h 130"/>
                  <a:gd name="T4" fmla="*/ 54 w 54"/>
                  <a:gd name="T5" fmla="*/ 125 h 130"/>
                  <a:gd name="T6" fmla="*/ 54 w 54"/>
                  <a:gd name="T7" fmla="*/ 5 h 130"/>
                  <a:gd name="T8" fmla="*/ 50 w 54"/>
                  <a:gd name="T9" fmla="*/ 0 h 130"/>
                  <a:gd name="T10" fmla="*/ 5 w 54"/>
                  <a:gd name="T11" fmla="*/ 0 h 130"/>
                  <a:gd name="T12" fmla="*/ 0 w 54"/>
                  <a:gd name="T13" fmla="*/ 5 h 130"/>
                  <a:gd name="T14" fmla="*/ 0 w 54"/>
                  <a:gd name="T15" fmla="*/ 125 h 130"/>
                  <a:gd name="T16" fmla="*/ 5 w 54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11">
                    <a:moveTo>
                      <a:pt x="12" y="311"/>
                    </a:moveTo>
                    <a:cubicBezTo>
                      <a:pt x="119" y="311"/>
                      <a:pt x="119" y="311"/>
                      <a:pt x="119" y="311"/>
                    </a:cubicBezTo>
                    <a:cubicBezTo>
                      <a:pt x="124" y="311"/>
                      <a:pt x="129" y="306"/>
                      <a:pt x="129" y="299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9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299"/>
                      <a:pt x="0" y="299"/>
                      <a:pt x="0" y="299"/>
                    </a:cubicBezTo>
                    <a:cubicBezTo>
                      <a:pt x="0" y="306"/>
                      <a:pt x="5" y="311"/>
                      <a:pt x="12" y="3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60295ABB-7F50-7FB0-0F3E-BEC4344584E7}"/>
                  </a:ext>
                </a:extLst>
              </p:cNvPr>
              <p:cNvSpPr/>
              <p:nvPr/>
            </p:nvSpPr>
            <p:spPr>
              <a:xfrm>
                <a:off x="3997" y="1964"/>
                <a:ext cx="129" cy="380"/>
              </a:xfrm>
              <a:custGeom>
                <a:avLst/>
                <a:gdLst>
                  <a:gd name="T0" fmla="*/ 4 w 54"/>
                  <a:gd name="T1" fmla="*/ 159 h 159"/>
                  <a:gd name="T2" fmla="*/ 49 w 54"/>
                  <a:gd name="T3" fmla="*/ 159 h 159"/>
                  <a:gd name="T4" fmla="*/ 54 w 54"/>
                  <a:gd name="T5" fmla="*/ 154 h 159"/>
                  <a:gd name="T6" fmla="*/ 54 w 54"/>
                  <a:gd name="T7" fmla="*/ 5 h 159"/>
                  <a:gd name="T8" fmla="*/ 49 w 54"/>
                  <a:gd name="T9" fmla="*/ 0 h 159"/>
                  <a:gd name="T10" fmla="*/ 4 w 54"/>
                  <a:gd name="T11" fmla="*/ 0 h 159"/>
                  <a:gd name="T12" fmla="*/ 0 w 54"/>
                  <a:gd name="T13" fmla="*/ 5 h 159"/>
                  <a:gd name="T14" fmla="*/ 0 w 54"/>
                  <a:gd name="T15" fmla="*/ 154 h 159"/>
                  <a:gd name="T16" fmla="*/ 4 w 54"/>
                  <a:gd name="T17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80">
                    <a:moveTo>
                      <a:pt x="10" y="380"/>
                    </a:moveTo>
                    <a:cubicBezTo>
                      <a:pt x="117" y="380"/>
                      <a:pt x="117" y="380"/>
                      <a:pt x="117" y="380"/>
                    </a:cubicBezTo>
                    <a:cubicBezTo>
                      <a:pt x="124" y="380"/>
                      <a:pt x="129" y="375"/>
                      <a:pt x="129" y="368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368"/>
                      <a:pt x="0" y="368"/>
                      <a:pt x="0" y="368"/>
                    </a:cubicBezTo>
                    <a:cubicBezTo>
                      <a:pt x="0" y="375"/>
                      <a:pt x="5" y="380"/>
                      <a:pt x="10" y="3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37600398-DA49-3B1B-1BD8-603FAD692626}"/>
                  </a:ext>
                </a:extLst>
              </p:cNvPr>
              <p:cNvSpPr/>
              <p:nvPr/>
            </p:nvSpPr>
            <p:spPr>
              <a:xfrm>
                <a:off x="3525" y="1887"/>
                <a:ext cx="630" cy="546"/>
              </a:xfrm>
              <a:custGeom>
                <a:avLst/>
                <a:gdLst>
                  <a:gd name="T0" fmla="*/ 253 w 264"/>
                  <a:gd name="T1" fmla="*/ 206 h 228"/>
                  <a:gd name="T2" fmla="*/ 23 w 264"/>
                  <a:gd name="T3" fmla="*/ 206 h 228"/>
                  <a:gd name="T4" fmla="*/ 22 w 264"/>
                  <a:gd name="T5" fmla="*/ 206 h 228"/>
                  <a:gd name="T6" fmla="*/ 22 w 264"/>
                  <a:gd name="T7" fmla="*/ 11 h 228"/>
                  <a:gd name="T8" fmla="*/ 11 w 264"/>
                  <a:gd name="T9" fmla="*/ 0 h 228"/>
                  <a:gd name="T10" fmla="*/ 0 w 264"/>
                  <a:gd name="T11" fmla="*/ 11 h 228"/>
                  <a:gd name="T12" fmla="*/ 0 w 264"/>
                  <a:gd name="T13" fmla="*/ 206 h 228"/>
                  <a:gd name="T14" fmla="*/ 23 w 264"/>
                  <a:gd name="T15" fmla="*/ 228 h 228"/>
                  <a:gd name="T16" fmla="*/ 253 w 264"/>
                  <a:gd name="T17" fmla="*/ 228 h 228"/>
                  <a:gd name="T18" fmla="*/ 264 w 264"/>
                  <a:gd name="T19" fmla="*/ 217 h 228"/>
                  <a:gd name="T20" fmla="*/ 253 w 264"/>
                  <a:gd name="T21" fmla="*/ 206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30" h="546">
                    <a:moveTo>
                      <a:pt x="604" y="493"/>
                    </a:moveTo>
                    <a:cubicBezTo>
                      <a:pt x="55" y="493"/>
                      <a:pt x="55" y="493"/>
                      <a:pt x="55" y="493"/>
                    </a:cubicBezTo>
                    <a:cubicBezTo>
                      <a:pt x="53" y="493"/>
                      <a:pt x="53" y="493"/>
                      <a:pt x="53" y="493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53" y="12"/>
                      <a:pt x="41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93"/>
                      <a:pt x="0" y="493"/>
                      <a:pt x="0" y="493"/>
                    </a:cubicBezTo>
                    <a:cubicBezTo>
                      <a:pt x="0" y="522"/>
                      <a:pt x="24" y="546"/>
                      <a:pt x="55" y="546"/>
                    </a:cubicBezTo>
                    <a:cubicBezTo>
                      <a:pt x="604" y="546"/>
                      <a:pt x="604" y="546"/>
                      <a:pt x="604" y="546"/>
                    </a:cubicBezTo>
                    <a:cubicBezTo>
                      <a:pt x="618" y="546"/>
                      <a:pt x="630" y="534"/>
                      <a:pt x="630" y="520"/>
                    </a:cubicBezTo>
                    <a:cubicBezTo>
                      <a:pt x="630" y="505"/>
                      <a:pt x="618" y="493"/>
                      <a:pt x="604" y="4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4DF4D6EA-5860-DB14-0F30-ED3C018FA7BF}"/>
                </a:ext>
              </a:extLst>
            </p:cNvPr>
            <p:cNvSpPr/>
            <p:nvPr/>
          </p:nvSpPr>
          <p:spPr>
            <a:xfrm>
              <a:off x="5145854" y="4137498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数据源</a:t>
              </a:r>
            </a:p>
          </p:txBody>
        </p:sp>
      </p:grpSp>
      <p:sp>
        <p:nvSpPr>
          <p:cNvPr id="5" name="文本框 4">
            <a:extLst>
              <a:ext uri="{FF2B5EF4-FFF2-40B4-BE49-F238E27FC236}">
                <a16:creationId xmlns:a16="http://schemas.microsoft.com/office/drawing/2014/main" id="{A84716E2-E772-AC00-A4EE-CEB8ED65694F}"/>
              </a:ext>
            </a:extLst>
          </p:cNvPr>
          <p:cNvSpPr txBox="1"/>
          <p:nvPr/>
        </p:nvSpPr>
        <p:spPr>
          <a:xfrm>
            <a:off x="674704" y="1284208"/>
            <a:ext cx="6579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4.7 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当前实现效果</a:t>
            </a:r>
            <a:r>
              <a:rPr lang="en-US" altLang="zh-CN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——</a:t>
            </a:r>
            <a:r>
              <a:rPr lang="zh-CN" altLang="en-US" sz="2800" b="1" dirty="0">
                <a:latin typeface="思源黑体 CN Medium" panose="020B0600000000000000" pitchFamily="34" charset="-122"/>
                <a:ea typeface="思源黑体 CN Medium" panose="020B0600000000000000" pitchFamily="34" charset="-122"/>
              </a:rPr>
              <a:t>后台管理</a:t>
            </a:r>
          </a:p>
        </p:txBody>
      </p:sp>
      <p:pic>
        <p:nvPicPr>
          <p:cNvPr id="3" name="图片 2" descr="电脑萤幕的截图&#10;&#10;AI 生成的内容可能不正确。">
            <a:extLst>
              <a:ext uri="{FF2B5EF4-FFF2-40B4-BE49-F238E27FC236}">
                <a16:creationId xmlns:a16="http://schemas.microsoft.com/office/drawing/2014/main" id="{38A06203-1A96-1616-CBFB-0A89DE16F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764" y="1847629"/>
            <a:ext cx="5498236" cy="2550611"/>
          </a:xfrm>
          <a:prstGeom prst="rect">
            <a:avLst/>
          </a:prstGeom>
        </p:spPr>
      </p:pic>
      <p:pic>
        <p:nvPicPr>
          <p:cNvPr id="9" name="图片 8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C854E998-2BBF-9620-9062-A3BE8C217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378" y="1590666"/>
            <a:ext cx="5498237" cy="2550611"/>
          </a:xfrm>
          <a:prstGeom prst="rect">
            <a:avLst/>
          </a:prstGeom>
        </p:spPr>
      </p:pic>
      <p:pic>
        <p:nvPicPr>
          <p:cNvPr id="12" name="图片 11" descr="图形用户界面, 文本, 应用程序&#10;&#10;AI 生成的内容可能不正确。">
            <a:extLst>
              <a:ext uri="{FF2B5EF4-FFF2-40B4-BE49-F238E27FC236}">
                <a16:creationId xmlns:a16="http://schemas.microsoft.com/office/drawing/2014/main" id="{FF256EF6-C9AF-C589-7946-288149576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704" y="4407888"/>
            <a:ext cx="5065130" cy="2349694"/>
          </a:xfrm>
          <a:prstGeom prst="rect">
            <a:avLst/>
          </a:prstGeom>
        </p:spPr>
      </p:pic>
      <p:pic>
        <p:nvPicPr>
          <p:cNvPr id="14" name="图片 13" descr="图形用户界面, 文本, 应用程序, 电子邮件&#10;&#10;AI 生成的内容可能不正确。">
            <a:extLst>
              <a:ext uri="{FF2B5EF4-FFF2-40B4-BE49-F238E27FC236}">
                <a16:creationId xmlns:a16="http://schemas.microsoft.com/office/drawing/2014/main" id="{B19C923B-B817-E1E8-5AFC-B4AD3F1BF3E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641" y="4340298"/>
            <a:ext cx="5317975" cy="2466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767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7214C-5335-98B4-58F6-861A73DDB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C15B1140-3AB0-F366-6170-9C1584DB70C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890790" y="2685014"/>
            <a:ext cx="2127505" cy="7523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5 </a:t>
            </a:r>
            <a:r>
              <a:rPr lang="zh-CN" altLang="en-US" sz="32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未来展望</a:t>
            </a:r>
            <a:endParaRPr lang="zh-CN" altLang="en-US" sz="2400" b="1" dirty="0">
              <a:solidFill>
                <a:schemeClr val="bg1"/>
              </a:solidFill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229424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BB4D9-B412-AE44-6D3E-FEBDF119A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资源 3@4x">
            <a:extLst>
              <a:ext uri="{FF2B5EF4-FFF2-40B4-BE49-F238E27FC236}">
                <a16:creationId xmlns:a16="http://schemas.microsoft.com/office/drawing/2014/main" id="{EC1F21B7-B61F-D42E-A79C-C7D030385D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03105" y="414338"/>
            <a:ext cx="2175510" cy="456565"/>
          </a:xfrm>
          <a:prstGeom prst="rect">
            <a:avLst/>
          </a:prstGeom>
        </p:spPr>
      </p:pic>
      <p:sp>
        <p:nvSpPr>
          <p:cNvPr id="4" name="Freeform 6">
            <a:extLst>
              <a:ext uri="{FF2B5EF4-FFF2-40B4-BE49-F238E27FC236}">
                <a16:creationId xmlns:a16="http://schemas.microsoft.com/office/drawing/2014/main" id="{23112992-99E2-AD0E-A00E-4CB99A02FAFF}"/>
              </a:ext>
            </a:extLst>
          </p:cNvPr>
          <p:cNvSpPr/>
          <p:nvPr/>
        </p:nvSpPr>
        <p:spPr>
          <a:xfrm>
            <a:off x="4267973" y="1784365"/>
            <a:ext cx="1613372" cy="1827513"/>
          </a:xfrm>
          <a:custGeom>
            <a:avLst/>
            <a:gdLst>
              <a:gd name="T0" fmla="*/ 466 w 932"/>
              <a:gd name="T1" fmla="*/ 0 h 1056"/>
              <a:gd name="T2" fmla="*/ 0 w 932"/>
              <a:gd name="T3" fmla="*/ 466 h 1056"/>
              <a:gd name="T4" fmla="*/ 466 w 932"/>
              <a:gd name="T5" fmla="*/ 931 h 1056"/>
              <a:gd name="T6" fmla="*/ 560 w 932"/>
              <a:gd name="T7" fmla="*/ 922 h 1056"/>
              <a:gd name="T8" fmla="*/ 560 w 932"/>
              <a:gd name="T9" fmla="*/ 922 h 1056"/>
              <a:gd name="T10" fmla="*/ 560 w 932"/>
              <a:gd name="T11" fmla="*/ 922 h 1056"/>
              <a:gd name="T12" fmla="*/ 557 w 932"/>
              <a:gd name="T13" fmla="*/ 1056 h 1056"/>
              <a:gd name="T14" fmla="*/ 839 w 932"/>
              <a:gd name="T15" fmla="*/ 769 h 1056"/>
              <a:gd name="T16" fmla="*/ 929 w 932"/>
              <a:gd name="T17" fmla="*/ 513 h 1056"/>
              <a:gd name="T18" fmla="*/ 932 w 932"/>
              <a:gd name="T19" fmla="*/ 466 h 1056"/>
              <a:gd name="T20" fmla="*/ 466 w 932"/>
              <a:gd name="T21" fmla="*/ 0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13372" h="1827513">
                <a:moveTo>
                  <a:pt x="806686" y="0"/>
                </a:moveTo>
                <a:cubicBezTo>
                  <a:pt x="361797" y="0"/>
                  <a:pt x="0" y="359965"/>
                  <a:pt x="0" y="806459"/>
                </a:cubicBezTo>
                <a:cubicBezTo>
                  <a:pt x="0" y="1251223"/>
                  <a:pt x="361797" y="1611188"/>
                  <a:pt x="806686" y="1611188"/>
                </a:cubicBezTo>
                <a:cubicBezTo>
                  <a:pt x="862081" y="1611188"/>
                  <a:pt x="915744" y="1605996"/>
                  <a:pt x="969408" y="1595613"/>
                </a:cubicBezTo>
                <a:cubicBezTo>
                  <a:pt x="969408" y="1595613"/>
                  <a:pt x="969408" y="1595613"/>
                  <a:pt x="969408" y="1595613"/>
                </a:cubicBezTo>
                <a:cubicBezTo>
                  <a:pt x="969408" y="1595613"/>
                  <a:pt x="969408" y="1595613"/>
                  <a:pt x="969408" y="1595613"/>
                </a:cubicBezTo>
                <a:cubicBezTo>
                  <a:pt x="964215" y="1827513"/>
                  <a:pt x="964215" y="1827513"/>
                  <a:pt x="964215" y="1827513"/>
                </a:cubicBezTo>
                <a:cubicBezTo>
                  <a:pt x="1210029" y="1668298"/>
                  <a:pt x="1362365" y="1479663"/>
                  <a:pt x="1452381" y="1330831"/>
                </a:cubicBezTo>
                <a:cubicBezTo>
                  <a:pt x="1459305" y="1164693"/>
                  <a:pt x="1516431" y="1012401"/>
                  <a:pt x="1608179" y="887798"/>
                </a:cubicBezTo>
                <a:cubicBezTo>
                  <a:pt x="1611641" y="860108"/>
                  <a:pt x="1613372" y="832418"/>
                  <a:pt x="1613372" y="806459"/>
                </a:cubicBezTo>
                <a:cubicBezTo>
                  <a:pt x="1613372" y="359965"/>
                  <a:pt x="1251575" y="0"/>
                  <a:pt x="806686" y="0"/>
                </a:cubicBezTo>
              </a:path>
            </a:pathLst>
          </a:custGeom>
          <a:solidFill>
            <a:srgbClr val="2E75B6"/>
          </a:solidFill>
          <a:ln>
            <a:noFill/>
          </a:ln>
          <a:effectLst>
            <a:outerShdw blurRad="241300" dist="63500" dir="5400000" algn="t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numCol="1" anchor="t" anchorCtr="0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8" name="Freeform 8">
            <a:extLst>
              <a:ext uri="{FF2B5EF4-FFF2-40B4-BE49-F238E27FC236}">
                <a16:creationId xmlns:a16="http://schemas.microsoft.com/office/drawing/2014/main" id="{F67A844D-555E-F627-304D-8AF78600722D}"/>
              </a:ext>
            </a:extLst>
          </p:cNvPr>
          <p:cNvSpPr/>
          <p:nvPr/>
        </p:nvSpPr>
        <p:spPr>
          <a:xfrm>
            <a:off x="4691980" y="3615300"/>
            <a:ext cx="1613372" cy="1827513"/>
          </a:xfrm>
          <a:custGeom>
            <a:avLst/>
            <a:gdLst>
              <a:gd name="T0" fmla="*/ 466 w 932"/>
              <a:gd name="T1" fmla="*/ 0 h 1056"/>
              <a:gd name="T2" fmla="*/ 0 w 932"/>
              <a:gd name="T3" fmla="*/ 466 h 1056"/>
              <a:gd name="T4" fmla="*/ 466 w 932"/>
              <a:gd name="T5" fmla="*/ 931 h 1056"/>
              <a:gd name="T6" fmla="*/ 559 w 932"/>
              <a:gd name="T7" fmla="*/ 922 h 1056"/>
              <a:gd name="T8" fmla="*/ 559 w 932"/>
              <a:gd name="T9" fmla="*/ 922 h 1056"/>
              <a:gd name="T10" fmla="*/ 559 w 932"/>
              <a:gd name="T11" fmla="*/ 922 h 1056"/>
              <a:gd name="T12" fmla="*/ 556 w 932"/>
              <a:gd name="T13" fmla="*/ 1056 h 1056"/>
              <a:gd name="T14" fmla="*/ 772 w 932"/>
              <a:gd name="T15" fmla="*/ 864 h 1056"/>
              <a:gd name="T16" fmla="*/ 919 w 932"/>
              <a:gd name="T17" fmla="*/ 577 h 1056"/>
              <a:gd name="T18" fmla="*/ 932 w 932"/>
              <a:gd name="T19" fmla="*/ 466 h 1056"/>
              <a:gd name="T20" fmla="*/ 890 w 932"/>
              <a:gd name="T21" fmla="*/ 273 h 1056"/>
              <a:gd name="T22" fmla="*/ 689 w 932"/>
              <a:gd name="T23" fmla="*/ 57 h 1056"/>
              <a:gd name="T24" fmla="*/ 466 w 932"/>
              <a:gd name="T25" fmla="*/ 0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13372" h="1827513">
                <a:moveTo>
                  <a:pt x="806686" y="0"/>
                </a:moveTo>
                <a:cubicBezTo>
                  <a:pt x="361797" y="0"/>
                  <a:pt x="0" y="361695"/>
                  <a:pt x="0" y="806459"/>
                </a:cubicBezTo>
                <a:cubicBezTo>
                  <a:pt x="0" y="1251223"/>
                  <a:pt x="361797" y="1611188"/>
                  <a:pt x="806686" y="1611188"/>
                </a:cubicBezTo>
                <a:cubicBezTo>
                  <a:pt x="862081" y="1611188"/>
                  <a:pt x="915744" y="1605996"/>
                  <a:pt x="967677" y="1595613"/>
                </a:cubicBezTo>
                <a:cubicBezTo>
                  <a:pt x="967677" y="1595613"/>
                  <a:pt x="967677" y="1595613"/>
                  <a:pt x="967677" y="1595613"/>
                </a:cubicBezTo>
                <a:cubicBezTo>
                  <a:pt x="967677" y="1595613"/>
                  <a:pt x="967677" y="1595613"/>
                  <a:pt x="967677" y="1595613"/>
                </a:cubicBezTo>
                <a:cubicBezTo>
                  <a:pt x="962484" y="1827513"/>
                  <a:pt x="962484" y="1827513"/>
                  <a:pt x="962484" y="1827513"/>
                </a:cubicBezTo>
                <a:cubicBezTo>
                  <a:pt x="1125206" y="1723677"/>
                  <a:pt x="1246382" y="1605996"/>
                  <a:pt x="1336398" y="1495238"/>
                </a:cubicBezTo>
                <a:cubicBezTo>
                  <a:pt x="1360633" y="1299680"/>
                  <a:pt x="1452381" y="1124890"/>
                  <a:pt x="1590868" y="998556"/>
                </a:cubicBezTo>
                <a:cubicBezTo>
                  <a:pt x="1604717" y="936254"/>
                  <a:pt x="1613372" y="868761"/>
                  <a:pt x="1613372" y="806459"/>
                </a:cubicBezTo>
                <a:cubicBezTo>
                  <a:pt x="1613372" y="687048"/>
                  <a:pt x="1587406" y="572828"/>
                  <a:pt x="1540666" y="472454"/>
                </a:cubicBezTo>
                <a:cubicBezTo>
                  <a:pt x="1379675" y="347850"/>
                  <a:pt x="1268886" y="214594"/>
                  <a:pt x="1192718" y="98644"/>
                </a:cubicBezTo>
                <a:cubicBezTo>
                  <a:pt x="1078466" y="36343"/>
                  <a:pt x="946904" y="0"/>
                  <a:pt x="806686" y="0"/>
                </a:cubicBezTo>
              </a:path>
            </a:pathLst>
          </a:custGeom>
          <a:solidFill>
            <a:srgbClr val="2E75B6"/>
          </a:solidFill>
          <a:ln>
            <a:noFill/>
          </a:ln>
          <a:effectLst>
            <a:outerShdw blurRad="241300" dist="63500" dir="5400000" algn="t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numCol="1" anchor="t" anchorCtr="0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Freeform 9">
            <a:extLst>
              <a:ext uri="{FF2B5EF4-FFF2-40B4-BE49-F238E27FC236}">
                <a16:creationId xmlns:a16="http://schemas.microsoft.com/office/drawing/2014/main" id="{538CC20F-8BCA-6024-4627-E43C34C06E80}"/>
              </a:ext>
            </a:extLst>
          </p:cNvPr>
          <p:cNvSpPr/>
          <p:nvPr/>
        </p:nvSpPr>
        <p:spPr>
          <a:xfrm>
            <a:off x="5957090" y="4378676"/>
            <a:ext cx="1612042" cy="1827513"/>
          </a:xfrm>
          <a:custGeom>
            <a:avLst/>
            <a:gdLst>
              <a:gd name="T0" fmla="*/ 0 w 931"/>
              <a:gd name="T1" fmla="*/ 465 h 1056"/>
              <a:gd name="T2" fmla="*/ 466 w 931"/>
              <a:gd name="T3" fmla="*/ 0 h 1056"/>
              <a:gd name="T4" fmla="*/ 931 w 931"/>
              <a:gd name="T5" fmla="*/ 465 h 1056"/>
              <a:gd name="T6" fmla="*/ 466 w 931"/>
              <a:gd name="T7" fmla="*/ 931 h 1056"/>
              <a:gd name="T8" fmla="*/ 372 w 931"/>
              <a:gd name="T9" fmla="*/ 922 h 1056"/>
              <a:gd name="T10" fmla="*/ 375 w 931"/>
              <a:gd name="T11" fmla="*/ 1056 h 1056"/>
              <a:gd name="T12" fmla="*/ 33 w 931"/>
              <a:gd name="T13" fmla="*/ 644 h 1056"/>
              <a:gd name="T14" fmla="*/ 0 w 931"/>
              <a:gd name="T15" fmla="*/ 465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612042" h="1827513">
                <a:moveTo>
                  <a:pt x="0" y="804729"/>
                </a:moveTo>
                <a:cubicBezTo>
                  <a:pt x="0" y="359965"/>
                  <a:pt x="360155" y="0"/>
                  <a:pt x="806887" y="0"/>
                </a:cubicBezTo>
                <a:cubicBezTo>
                  <a:pt x="1251887" y="0"/>
                  <a:pt x="1612042" y="359965"/>
                  <a:pt x="1612042" y="804729"/>
                </a:cubicBezTo>
                <a:cubicBezTo>
                  <a:pt x="1612042" y="1251223"/>
                  <a:pt x="1251887" y="1611188"/>
                  <a:pt x="806887" y="1611188"/>
                </a:cubicBezTo>
                <a:cubicBezTo>
                  <a:pt x="751478" y="1611188"/>
                  <a:pt x="696070" y="1605996"/>
                  <a:pt x="644124" y="1595613"/>
                </a:cubicBezTo>
                <a:cubicBezTo>
                  <a:pt x="649319" y="1827513"/>
                  <a:pt x="649319" y="1827513"/>
                  <a:pt x="649319" y="1827513"/>
                </a:cubicBezTo>
                <a:cubicBezTo>
                  <a:pt x="249338" y="1569654"/>
                  <a:pt x="98696" y="1232187"/>
                  <a:pt x="57140" y="1114506"/>
                </a:cubicBezTo>
                <a:cubicBezTo>
                  <a:pt x="20778" y="1022784"/>
                  <a:pt x="0" y="910295"/>
                  <a:pt x="0" y="804729"/>
                </a:cubicBezTo>
              </a:path>
            </a:pathLst>
          </a:custGeom>
          <a:solidFill>
            <a:srgbClr val="F18276"/>
          </a:solidFill>
          <a:ln>
            <a:noFill/>
          </a:ln>
          <a:effectLst>
            <a:outerShdw blurRad="241300" dist="63500" dir="5400000" algn="t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numCol="1" anchor="t" anchorCtr="0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1" name="Freeform 12">
            <a:extLst>
              <a:ext uri="{FF2B5EF4-FFF2-40B4-BE49-F238E27FC236}">
                <a16:creationId xmlns:a16="http://schemas.microsoft.com/office/drawing/2014/main" id="{621033AD-9480-38D6-B65A-1B848EA90D14}"/>
              </a:ext>
            </a:extLst>
          </p:cNvPr>
          <p:cNvSpPr/>
          <p:nvPr/>
        </p:nvSpPr>
        <p:spPr>
          <a:xfrm>
            <a:off x="5636159" y="2309240"/>
            <a:ext cx="1613372" cy="1828842"/>
          </a:xfrm>
          <a:custGeom>
            <a:avLst/>
            <a:gdLst>
              <a:gd name="T0" fmla="*/ 466 w 932"/>
              <a:gd name="T1" fmla="*/ 0 h 1056"/>
              <a:gd name="T2" fmla="*/ 91 w 932"/>
              <a:gd name="T3" fmla="*/ 189 h 1056"/>
              <a:gd name="T4" fmla="*/ 1 w 932"/>
              <a:gd name="T5" fmla="*/ 445 h 1056"/>
              <a:gd name="T6" fmla="*/ 0 w 932"/>
              <a:gd name="T7" fmla="*/ 466 h 1056"/>
              <a:gd name="T8" fmla="*/ 34 w 932"/>
              <a:gd name="T9" fmla="*/ 644 h 1056"/>
              <a:gd name="T10" fmla="*/ 376 w 932"/>
              <a:gd name="T11" fmla="*/ 1056 h 1056"/>
              <a:gd name="T12" fmla="*/ 373 w 932"/>
              <a:gd name="T13" fmla="*/ 922 h 1056"/>
              <a:gd name="T14" fmla="*/ 373 w 932"/>
              <a:gd name="T15" fmla="*/ 922 h 1056"/>
              <a:gd name="T16" fmla="*/ 466 w 932"/>
              <a:gd name="T17" fmla="*/ 931 h 1056"/>
              <a:gd name="T18" fmla="*/ 932 w 932"/>
              <a:gd name="T19" fmla="*/ 466 h 1056"/>
              <a:gd name="T20" fmla="*/ 466 w 932"/>
              <a:gd name="T21" fmla="*/ 0 h 10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613372" h="1828842">
                <a:moveTo>
                  <a:pt x="806686" y="0"/>
                </a:moveTo>
                <a:cubicBezTo>
                  <a:pt x="541830" y="0"/>
                  <a:pt x="304671" y="128157"/>
                  <a:pt x="157529" y="327321"/>
                </a:cubicBezTo>
                <a:cubicBezTo>
                  <a:pt x="65781" y="452015"/>
                  <a:pt x="8655" y="604418"/>
                  <a:pt x="1731" y="770677"/>
                </a:cubicBezTo>
                <a:cubicBezTo>
                  <a:pt x="1731" y="782800"/>
                  <a:pt x="0" y="794923"/>
                  <a:pt x="0" y="807046"/>
                </a:cubicBezTo>
                <a:cubicBezTo>
                  <a:pt x="0" y="910957"/>
                  <a:pt x="22504" y="1023528"/>
                  <a:pt x="58857" y="1115317"/>
                </a:cubicBezTo>
                <a:cubicBezTo>
                  <a:pt x="100403" y="1234815"/>
                  <a:pt x="249276" y="1572527"/>
                  <a:pt x="650888" y="1828842"/>
                </a:cubicBezTo>
                <a:cubicBezTo>
                  <a:pt x="645695" y="1596773"/>
                  <a:pt x="645695" y="1596773"/>
                  <a:pt x="645695" y="1596773"/>
                </a:cubicBezTo>
                <a:cubicBezTo>
                  <a:pt x="645695" y="1596773"/>
                  <a:pt x="645695" y="1596773"/>
                  <a:pt x="645695" y="1596773"/>
                </a:cubicBezTo>
                <a:cubicBezTo>
                  <a:pt x="697628" y="1607164"/>
                  <a:pt x="751291" y="1612360"/>
                  <a:pt x="806686" y="1612360"/>
                </a:cubicBezTo>
                <a:cubicBezTo>
                  <a:pt x="1251575" y="1612360"/>
                  <a:pt x="1613372" y="1252133"/>
                  <a:pt x="1613372" y="807046"/>
                </a:cubicBezTo>
                <a:cubicBezTo>
                  <a:pt x="1613372" y="360226"/>
                  <a:pt x="1251575" y="0"/>
                  <a:pt x="806686" y="0"/>
                </a:cubicBezTo>
              </a:path>
            </a:pathLst>
          </a:custGeom>
          <a:solidFill>
            <a:srgbClr val="F18276"/>
          </a:solidFill>
          <a:ln>
            <a:noFill/>
          </a:ln>
          <a:effectLst>
            <a:outerShdw blurRad="241300" dist="63500" dir="5400000" algn="t" rotWithShape="0">
              <a:prstClr val="black">
                <a:alpha val="28000"/>
              </a:prstClr>
            </a:outerShdw>
          </a:effectLst>
        </p:spPr>
        <p:txBody>
          <a:bodyPr vert="horz" wrap="square" lIns="91440" tIns="45720" rIns="91440" bIns="45720" numCol="1" anchor="t" anchorCtr="0"/>
          <a:lstStyle/>
          <a:p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9F058513-4D1E-ABAC-B14A-7DB54CC4D5A4}"/>
              </a:ext>
            </a:extLst>
          </p:cNvPr>
          <p:cNvGrpSpPr/>
          <p:nvPr/>
        </p:nvGrpSpPr>
        <p:grpSpPr>
          <a:xfrm>
            <a:off x="4644914" y="2083323"/>
            <a:ext cx="595035" cy="939720"/>
            <a:chOff x="4819726" y="1778517"/>
            <a:chExt cx="595035" cy="939720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41049EFE-0ABD-5F99-611C-98B492F4C21F}"/>
                </a:ext>
              </a:extLst>
            </p:cNvPr>
            <p:cNvGrpSpPr/>
            <p:nvPr/>
          </p:nvGrpSpPr>
          <p:grpSpPr>
            <a:xfrm>
              <a:off x="4921406" y="1778517"/>
              <a:ext cx="390724" cy="386695"/>
              <a:chOff x="6967126" y="4092464"/>
              <a:chExt cx="453105" cy="448433"/>
            </a:xfrm>
            <a:solidFill>
              <a:schemeClr val="bg1"/>
            </a:solidFill>
            <a:effectLst/>
          </p:grpSpPr>
          <p:sp>
            <p:nvSpPr>
              <p:cNvPr id="16" name="Freeform 136">
                <a:extLst>
                  <a:ext uri="{FF2B5EF4-FFF2-40B4-BE49-F238E27FC236}">
                    <a16:creationId xmlns:a16="http://schemas.microsoft.com/office/drawing/2014/main" id="{D86E68E0-E0B5-CE1C-3C25-879E9452AF17}"/>
                  </a:ext>
                </a:extLst>
              </p:cNvPr>
              <p:cNvSpPr/>
              <p:nvPr/>
            </p:nvSpPr>
            <p:spPr>
              <a:xfrm>
                <a:off x="6967126" y="4343773"/>
                <a:ext cx="453105" cy="197124"/>
              </a:xfrm>
              <a:custGeom>
                <a:avLst/>
                <a:gdLst>
                  <a:gd name="T0" fmla="*/ 103 w 205"/>
                  <a:gd name="T1" fmla="*/ 19 h 89"/>
                  <a:gd name="T2" fmla="*/ 47 w 205"/>
                  <a:gd name="T3" fmla="*/ 0 h 89"/>
                  <a:gd name="T4" fmla="*/ 0 w 205"/>
                  <a:gd name="T5" fmla="*/ 0 h 89"/>
                  <a:gd name="T6" fmla="*/ 0 w 205"/>
                  <a:gd name="T7" fmla="*/ 67 h 89"/>
                  <a:gd name="T8" fmla="*/ 22 w 205"/>
                  <a:gd name="T9" fmla="*/ 89 h 89"/>
                  <a:gd name="T10" fmla="*/ 183 w 205"/>
                  <a:gd name="T11" fmla="*/ 89 h 89"/>
                  <a:gd name="T12" fmla="*/ 205 w 205"/>
                  <a:gd name="T13" fmla="*/ 67 h 89"/>
                  <a:gd name="T14" fmla="*/ 205 w 205"/>
                  <a:gd name="T15" fmla="*/ 0 h 89"/>
                  <a:gd name="T16" fmla="*/ 158 w 205"/>
                  <a:gd name="T17" fmla="*/ 0 h 89"/>
                  <a:gd name="T18" fmla="*/ 103 w 205"/>
                  <a:gd name="T19" fmla="*/ 19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453105" h="197124">
                    <a:moveTo>
                      <a:pt x="227658" y="42083"/>
                    </a:moveTo>
                    <a:cubicBezTo>
                      <a:pt x="181242" y="42083"/>
                      <a:pt x="137037" y="26579"/>
                      <a:pt x="103883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48397"/>
                      <a:pt x="0" y="148397"/>
                      <a:pt x="0" y="148397"/>
                    </a:cubicBezTo>
                    <a:cubicBezTo>
                      <a:pt x="0" y="174975"/>
                      <a:pt x="22103" y="197124"/>
                      <a:pt x="48626" y="197124"/>
                    </a:cubicBezTo>
                    <a:cubicBezTo>
                      <a:pt x="404479" y="197124"/>
                      <a:pt x="404479" y="197124"/>
                      <a:pt x="404479" y="197124"/>
                    </a:cubicBezTo>
                    <a:cubicBezTo>
                      <a:pt x="431002" y="197124"/>
                      <a:pt x="453105" y="174975"/>
                      <a:pt x="453105" y="148397"/>
                    </a:cubicBezTo>
                    <a:cubicBezTo>
                      <a:pt x="453105" y="0"/>
                      <a:pt x="453105" y="0"/>
                      <a:pt x="453105" y="0"/>
                    </a:cubicBezTo>
                    <a:cubicBezTo>
                      <a:pt x="349222" y="0"/>
                      <a:pt x="349222" y="0"/>
                      <a:pt x="349222" y="0"/>
                    </a:cubicBezTo>
                    <a:cubicBezTo>
                      <a:pt x="316068" y="26579"/>
                      <a:pt x="274073" y="42083"/>
                      <a:pt x="227658" y="4208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17" name="Freeform 137">
                <a:extLst>
                  <a:ext uri="{FF2B5EF4-FFF2-40B4-BE49-F238E27FC236}">
                    <a16:creationId xmlns:a16="http://schemas.microsoft.com/office/drawing/2014/main" id="{16CD3283-3B34-67D1-DB56-6ADFFF77ED61}"/>
                  </a:ext>
                </a:extLst>
              </p:cNvPr>
              <p:cNvSpPr>
                <a:spLocks noEditPoints="1"/>
              </p:cNvSpPr>
              <p:nvPr/>
            </p:nvSpPr>
            <p:spPr>
              <a:xfrm>
                <a:off x="6967126" y="4092464"/>
                <a:ext cx="453105" cy="260652"/>
              </a:xfrm>
              <a:custGeom>
                <a:avLst/>
                <a:gdLst>
                  <a:gd name="T0" fmla="*/ 183 w 205"/>
                  <a:gd name="T1" fmla="*/ 42 h 118"/>
                  <a:gd name="T2" fmla="*/ 180 w 205"/>
                  <a:gd name="T3" fmla="*/ 42 h 118"/>
                  <a:gd name="T4" fmla="*/ 154 w 205"/>
                  <a:gd name="T5" fmla="*/ 42 h 118"/>
                  <a:gd name="T6" fmla="*/ 154 w 205"/>
                  <a:gd name="T7" fmla="*/ 22 h 118"/>
                  <a:gd name="T8" fmla="*/ 132 w 205"/>
                  <a:gd name="T9" fmla="*/ 0 h 118"/>
                  <a:gd name="T10" fmla="*/ 73 w 205"/>
                  <a:gd name="T11" fmla="*/ 0 h 118"/>
                  <a:gd name="T12" fmla="*/ 51 w 205"/>
                  <a:gd name="T13" fmla="*/ 22 h 118"/>
                  <a:gd name="T14" fmla="*/ 51 w 205"/>
                  <a:gd name="T15" fmla="*/ 42 h 118"/>
                  <a:gd name="T16" fmla="*/ 25 w 205"/>
                  <a:gd name="T17" fmla="*/ 42 h 118"/>
                  <a:gd name="T18" fmla="*/ 22 w 205"/>
                  <a:gd name="T19" fmla="*/ 42 h 118"/>
                  <a:gd name="T20" fmla="*/ 0 w 205"/>
                  <a:gd name="T21" fmla="*/ 64 h 118"/>
                  <a:gd name="T22" fmla="*/ 0 w 205"/>
                  <a:gd name="T23" fmla="*/ 101 h 118"/>
                  <a:gd name="T24" fmla="*/ 54 w 205"/>
                  <a:gd name="T25" fmla="*/ 101 h 118"/>
                  <a:gd name="T26" fmla="*/ 103 w 205"/>
                  <a:gd name="T27" fmla="*/ 118 h 118"/>
                  <a:gd name="T28" fmla="*/ 151 w 205"/>
                  <a:gd name="T29" fmla="*/ 101 h 118"/>
                  <a:gd name="T30" fmla="*/ 205 w 205"/>
                  <a:gd name="T31" fmla="*/ 101 h 118"/>
                  <a:gd name="T32" fmla="*/ 205 w 205"/>
                  <a:gd name="T33" fmla="*/ 64 h 118"/>
                  <a:gd name="T34" fmla="*/ 183 w 205"/>
                  <a:gd name="T35" fmla="*/ 42 h 118"/>
                  <a:gd name="T36" fmla="*/ 67 w 205"/>
                  <a:gd name="T37" fmla="*/ 26 h 118"/>
                  <a:gd name="T38" fmla="*/ 67 w 205"/>
                  <a:gd name="T39" fmla="*/ 22 h 118"/>
                  <a:gd name="T40" fmla="*/ 73 w 205"/>
                  <a:gd name="T41" fmla="*/ 17 h 118"/>
                  <a:gd name="T42" fmla="*/ 132 w 205"/>
                  <a:gd name="T43" fmla="*/ 17 h 118"/>
                  <a:gd name="T44" fmla="*/ 138 w 205"/>
                  <a:gd name="T45" fmla="*/ 22 h 118"/>
                  <a:gd name="T46" fmla="*/ 138 w 205"/>
                  <a:gd name="T47" fmla="*/ 26 h 118"/>
                  <a:gd name="T48" fmla="*/ 138 w 205"/>
                  <a:gd name="T49" fmla="*/ 42 h 118"/>
                  <a:gd name="T50" fmla="*/ 67 w 205"/>
                  <a:gd name="T51" fmla="*/ 42 h 118"/>
                  <a:gd name="T52" fmla="*/ 67 w 205"/>
                  <a:gd name="T53" fmla="*/ 26 h 118"/>
                  <a:gd name="T54" fmla="*/ 101 w 205"/>
                  <a:gd name="T55" fmla="*/ 101 h 118"/>
                  <a:gd name="T56" fmla="*/ 85 w 205"/>
                  <a:gd name="T57" fmla="*/ 86 h 118"/>
                  <a:gd name="T58" fmla="*/ 101 w 205"/>
                  <a:gd name="T59" fmla="*/ 70 h 118"/>
                  <a:gd name="T60" fmla="*/ 117 w 205"/>
                  <a:gd name="T61" fmla="*/ 86 h 118"/>
                  <a:gd name="T62" fmla="*/ 101 w 205"/>
                  <a:gd name="T63" fmla="*/ 101 h 1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453105" h="260652">
                    <a:moveTo>
                      <a:pt x="404479" y="92774"/>
                    </a:moveTo>
                    <a:cubicBezTo>
                      <a:pt x="397848" y="92774"/>
                      <a:pt x="397848" y="92774"/>
                      <a:pt x="397848" y="92774"/>
                    </a:cubicBezTo>
                    <a:cubicBezTo>
                      <a:pt x="340381" y="92774"/>
                      <a:pt x="340381" y="92774"/>
                      <a:pt x="340381" y="92774"/>
                    </a:cubicBezTo>
                    <a:cubicBezTo>
                      <a:pt x="340381" y="48596"/>
                      <a:pt x="340381" y="48596"/>
                      <a:pt x="340381" y="48596"/>
                    </a:cubicBezTo>
                    <a:cubicBezTo>
                      <a:pt x="340381" y="22089"/>
                      <a:pt x="318279" y="0"/>
                      <a:pt x="291755" y="0"/>
                    </a:cubicBezTo>
                    <a:cubicBezTo>
                      <a:pt x="161350" y="0"/>
                      <a:pt x="161350" y="0"/>
                      <a:pt x="161350" y="0"/>
                    </a:cubicBezTo>
                    <a:cubicBezTo>
                      <a:pt x="134826" y="0"/>
                      <a:pt x="112724" y="22089"/>
                      <a:pt x="112724" y="48596"/>
                    </a:cubicBezTo>
                    <a:cubicBezTo>
                      <a:pt x="112724" y="92774"/>
                      <a:pt x="112724" y="92774"/>
                      <a:pt x="112724" y="92774"/>
                    </a:cubicBezTo>
                    <a:cubicBezTo>
                      <a:pt x="55257" y="92774"/>
                      <a:pt x="55257" y="92774"/>
                      <a:pt x="55257" y="92774"/>
                    </a:cubicBezTo>
                    <a:cubicBezTo>
                      <a:pt x="48626" y="92774"/>
                      <a:pt x="48626" y="92774"/>
                      <a:pt x="48626" y="92774"/>
                    </a:cubicBezTo>
                    <a:cubicBezTo>
                      <a:pt x="22103" y="92774"/>
                      <a:pt x="0" y="114864"/>
                      <a:pt x="0" y="141371"/>
                    </a:cubicBezTo>
                    <a:cubicBezTo>
                      <a:pt x="0" y="223100"/>
                      <a:pt x="0" y="223100"/>
                      <a:pt x="0" y="223100"/>
                    </a:cubicBezTo>
                    <a:cubicBezTo>
                      <a:pt x="119354" y="223100"/>
                      <a:pt x="119354" y="223100"/>
                      <a:pt x="119354" y="223100"/>
                    </a:cubicBezTo>
                    <a:cubicBezTo>
                      <a:pt x="148088" y="247399"/>
                      <a:pt x="185663" y="260652"/>
                      <a:pt x="227658" y="260652"/>
                    </a:cubicBezTo>
                    <a:cubicBezTo>
                      <a:pt x="267442" y="260652"/>
                      <a:pt x="305017" y="247399"/>
                      <a:pt x="333751" y="223100"/>
                    </a:cubicBezTo>
                    <a:cubicBezTo>
                      <a:pt x="453105" y="223100"/>
                      <a:pt x="453105" y="223100"/>
                      <a:pt x="453105" y="223100"/>
                    </a:cubicBezTo>
                    <a:cubicBezTo>
                      <a:pt x="453105" y="141371"/>
                      <a:pt x="453105" y="141371"/>
                      <a:pt x="453105" y="141371"/>
                    </a:cubicBezTo>
                    <a:cubicBezTo>
                      <a:pt x="453105" y="114864"/>
                      <a:pt x="431002" y="92774"/>
                      <a:pt x="404479" y="92774"/>
                    </a:cubicBezTo>
                    <a:close/>
                    <a:moveTo>
                      <a:pt x="148088" y="57432"/>
                    </a:moveTo>
                    <a:cubicBezTo>
                      <a:pt x="148088" y="48596"/>
                      <a:pt x="148088" y="48596"/>
                      <a:pt x="148088" y="48596"/>
                    </a:cubicBezTo>
                    <a:cubicBezTo>
                      <a:pt x="148088" y="41969"/>
                      <a:pt x="154719" y="37552"/>
                      <a:pt x="161350" y="37552"/>
                    </a:cubicBezTo>
                    <a:cubicBezTo>
                      <a:pt x="291755" y="37552"/>
                      <a:pt x="291755" y="37552"/>
                      <a:pt x="291755" y="37552"/>
                    </a:cubicBezTo>
                    <a:cubicBezTo>
                      <a:pt x="298386" y="37552"/>
                      <a:pt x="305017" y="41969"/>
                      <a:pt x="305017" y="48596"/>
                    </a:cubicBezTo>
                    <a:cubicBezTo>
                      <a:pt x="305017" y="57432"/>
                      <a:pt x="305017" y="57432"/>
                      <a:pt x="305017" y="57432"/>
                    </a:cubicBezTo>
                    <a:cubicBezTo>
                      <a:pt x="305017" y="92774"/>
                      <a:pt x="305017" y="92774"/>
                      <a:pt x="305017" y="92774"/>
                    </a:cubicBezTo>
                    <a:cubicBezTo>
                      <a:pt x="148088" y="92774"/>
                      <a:pt x="148088" y="92774"/>
                      <a:pt x="148088" y="92774"/>
                    </a:cubicBezTo>
                    <a:lnTo>
                      <a:pt x="148088" y="57432"/>
                    </a:lnTo>
                    <a:close/>
                    <a:moveTo>
                      <a:pt x="223237" y="223100"/>
                    </a:moveTo>
                    <a:cubicBezTo>
                      <a:pt x="203345" y="223100"/>
                      <a:pt x="187873" y="207638"/>
                      <a:pt x="187873" y="189967"/>
                    </a:cubicBezTo>
                    <a:cubicBezTo>
                      <a:pt x="187873" y="170086"/>
                      <a:pt x="203345" y="154624"/>
                      <a:pt x="223237" y="154624"/>
                    </a:cubicBezTo>
                    <a:cubicBezTo>
                      <a:pt x="243130" y="154624"/>
                      <a:pt x="258601" y="170086"/>
                      <a:pt x="258601" y="189967"/>
                    </a:cubicBezTo>
                    <a:cubicBezTo>
                      <a:pt x="258601" y="207638"/>
                      <a:pt x="243130" y="223100"/>
                      <a:pt x="223237" y="22310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0943091-D29F-2016-6C92-96E216E2BB76}"/>
                </a:ext>
              </a:extLst>
            </p:cNvPr>
            <p:cNvSpPr/>
            <p:nvPr/>
          </p:nvSpPr>
          <p:spPr>
            <a:xfrm>
              <a:off x="4819726" y="2379683"/>
              <a:ext cx="595035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charset="-122"/>
                  <a:ea typeface="方正兰亭中黑_GBK"/>
                </a:rPr>
                <a:t>系统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3699A5B-F6AB-06D4-7460-07FB7BF82AE4}"/>
              </a:ext>
            </a:extLst>
          </p:cNvPr>
          <p:cNvGrpSpPr/>
          <p:nvPr/>
        </p:nvGrpSpPr>
        <p:grpSpPr>
          <a:xfrm>
            <a:off x="5967941" y="2744132"/>
            <a:ext cx="1184492" cy="993840"/>
            <a:chOff x="6142753" y="2439326"/>
            <a:chExt cx="1184492" cy="993840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645219BB-59A1-5AE6-93C1-01A2308B6305}"/>
                </a:ext>
              </a:extLst>
            </p:cNvPr>
            <p:cNvGrpSpPr/>
            <p:nvPr/>
          </p:nvGrpSpPr>
          <p:grpSpPr>
            <a:xfrm>
              <a:off x="6438208" y="2439326"/>
              <a:ext cx="373402" cy="357114"/>
              <a:chOff x="6042259" y="5362013"/>
              <a:chExt cx="464982" cy="444699"/>
            </a:xfrm>
            <a:solidFill>
              <a:schemeClr val="bg1"/>
            </a:solidFill>
          </p:grpSpPr>
          <p:sp>
            <p:nvSpPr>
              <p:cNvPr id="21" name="Freeform 25">
                <a:extLst>
                  <a:ext uri="{FF2B5EF4-FFF2-40B4-BE49-F238E27FC236}">
                    <a16:creationId xmlns:a16="http://schemas.microsoft.com/office/drawing/2014/main" id="{6FB099EB-5CA6-1A53-A15A-7F4E3E80B0D4}"/>
                  </a:ext>
                </a:extLst>
              </p:cNvPr>
              <p:cNvSpPr/>
              <p:nvPr/>
            </p:nvSpPr>
            <p:spPr>
              <a:xfrm>
                <a:off x="6212692" y="5681688"/>
                <a:ext cx="125025" cy="125024"/>
              </a:xfrm>
              <a:custGeom>
                <a:avLst/>
                <a:gdLst>
                  <a:gd name="T0" fmla="*/ 206 w 413"/>
                  <a:gd name="T1" fmla="*/ 413 h 413"/>
                  <a:gd name="T2" fmla="*/ 0 w 413"/>
                  <a:gd name="T3" fmla="*/ 0 h 413"/>
                  <a:gd name="T4" fmla="*/ 413 w 413"/>
                  <a:gd name="T5" fmla="*/ 0 h 413"/>
                  <a:gd name="T6" fmla="*/ 206 w 413"/>
                  <a:gd name="T7" fmla="*/ 413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25025" h="125024">
                    <a:moveTo>
                      <a:pt x="62361" y="125024"/>
                    </a:moveTo>
                    <a:lnTo>
                      <a:pt x="0" y="0"/>
                    </a:lnTo>
                    <a:lnTo>
                      <a:pt x="125025" y="0"/>
                    </a:lnTo>
                    <a:lnTo>
                      <a:pt x="62361" y="1250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  <p:sp>
            <p:nvSpPr>
              <p:cNvPr id="22" name="任意多边形 32">
                <a:extLst>
                  <a:ext uri="{FF2B5EF4-FFF2-40B4-BE49-F238E27FC236}">
                    <a16:creationId xmlns:a16="http://schemas.microsoft.com/office/drawing/2014/main" id="{85EAD978-C195-7DD6-A43C-17032E2B619F}"/>
                  </a:ext>
                </a:extLst>
              </p:cNvPr>
              <p:cNvSpPr>
                <a:spLocks noChangeArrowheads="1"/>
              </p:cNvSpPr>
              <p:nvPr/>
            </p:nvSpPr>
            <p:spPr>
              <a:xfrm>
                <a:off x="6042259" y="5362013"/>
                <a:ext cx="464982" cy="338443"/>
              </a:xfrm>
              <a:custGeom>
                <a:avLst/>
                <a:gdLst>
                  <a:gd name="connsiteX0" fmla="*/ 290196 w 2438400"/>
                  <a:gd name="connsiteY0" fmla="*/ 0 h 1774825"/>
                  <a:gd name="connsiteX1" fmla="*/ 2151973 w 2438400"/>
                  <a:gd name="connsiteY1" fmla="*/ 0 h 1774825"/>
                  <a:gd name="connsiteX2" fmla="*/ 2438400 w 2438400"/>
                  <a:gd name="connsiteY2" fmla="*/ 286384 h 1774825"/>
                  <a:gd name="connsiteX3" fmla="*/ 2438400 w 2438400"/>
                  <a:gd name="connsiteY3" fmla="*/ 1484673 h 1774825"/>
                  <a:gd name="connsiteX4" fmla="*/ 2151973 w 2438400"/>
                  <a:gd name="connsiteY4" fmla="*/ 1774825 h 1774825"/>
                  <a:gd name="connsiteX5" fmla="*/ 290196 w 2438400"/>
                  <a:gd name="connsiteY5" fmla="*/ 1774825 h 1774825"/>
                  <a:gd name="connsiteX6" fmla="*/ 0 w 2438400"/>
                  <a:gd name="connsiteY6" fmla="*/ 1484673 h 1774825"/>
                  <a:gd name="connsiteX7" fmla="*/ 0 w 2438400"/>
                  <a:gd name="connsiteY7" fmla="*/ 286384 h 1774825"/>
                  <a:gd name="connsiteX8" fmla="*/ 290196 w 2438400"/>
                  <a:gd name="connsiteY8" fmla="*/ 0 h 1774825"/>
                  <a:gd name="connsiteX9" fmla="*/ 471488 w 2438400"/>
                  <a:gd name="connsiteY9" fmla="*/ 425450 h 1774825"/>
                  <a:gd name="connsiteX10" fmla="*/ 471488 w 2438400"/>
                  <a:gd name="connsiteY10" fmla="*/ 598488 h 1774825"/>
                  <a:gd name="connsiteX11" fmla="*/ 1971676 w 2438400"/>
                  <a:gd name="connsiteY11" fmla="*/ 598488 h 1774825"/>
                  <a:gd name="connsiteX12" fmla="*/ 1971676 w 2438400"/>
                  <a:gd name="connsiteY12" fmla="*/ 425450 h 1774825"/>
                  <a:gd name="connsiteX13" fmla="*/ 471488 w 2438400"/>
                  <a:gd name="connsiteY13" fmla="*/ 425450 h 1774825"/>
                  <a:gd name="connsiteX14" fmla="*/ 471488 w 2438400"/>
                  <a:gd name="connsiteY14" fmla="*/ 801688 h 1774825"/>
                  <a:gd name="connsiteX15" fmla="*/ 471488 w 2438400"/>
                  <a:gd name="connsiteY15" fmla="*/ 971551 h 1774825"/>
                  <a:gd name="connsiteX16" fmla="*/ 1971676 w 2438400"/>
                  <a:gd name="connsiteY16" fmla="*/ 971551 h 1774825"/>
                  <a:gd name="connsiteX17" fmla="*/ 1971676 w 2438400"/>
                  <a:gd name="connsiteY17" fmla="*/ 801688 h 1774825"/>
                  <a:gd name="connsiteX18" fmla="*/ 471488 w 2438400"/>
                  <a:gd name="connsiteY18" fmla="*/ 801688 h 1774825"/>
                  <a:gd name="connsiteX19" fmla="*/ 471488 w 2438400"/>
                  <a:gd name="connsiteY19" fmla="*/ 1174750 h 1774825"/>
                  <a:gd name="connsiteX20" fmla="*/ 471488 w 2438400"/>
                  <a:gd name="connsiteY20" fmla="*/ 1347788 h 1774825"/>
                  <a:gd name="connsiteX21" fmla="*/ 1971676 w 2438400"/>
                  <a:gd name="connsiteY21" fmla="*/ 1347788 h 1774825"/>
                  <a:gd name="connsiteX22" fmla="*/ 1971676 w 2438400"/>
                  <a:gd name="connsiteY22" fmla="*/ 1174750 h 1774825"/>
                  <a:gd name="connsiteX23" fmla="*/ 471488 w 2438400"/>
                  <a:gd name="connsiteY23" fmla="*/ 1174750 h 17748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464982" h="338443">
                    <a:moveTo>
                      <a:pt x="55338" y="0"/>
                    </a:moveTo>
                    <a:cubicBezTo>
                      <a:pt x="410363" y="0"/>
                      <a:pt x="410363" y="0"/>
                      <a:pt x="410363" y="0"/>
                    </a:cubicBezTo>
                    <a:cubicBezTo>
                      <a:pt x="440547" y="0"/>
                      <a:pt x="464982" y="24431"/>
                      <a:pt x="464982" y="54611"/>
                    </a:cubicBezTo>
                    <a:lnTo>
                      <a:pt x="464982" y="283114"/>
                    </a:lnTo>
                    <a:cubicBezTo>
                      <a:pt x="464982" y="314012"/>
                      <a:pt x="440547" y="338443"/>
                      <a:pt x="410363" y="338443"/>
                    </a:cubicBezTo>
                    <a:cubicBezTo>
                      <a:pt x="55338" y="338443"/>
                      <a:pt x="55338" y="338443"/>
                      <a:pt x="55338" y="338443"/>
                    </a:cubicBezTo>
                    <a:cubicBezTo>
                      <a:pt x="25154" y="338443"/>
                      <a:pt x="0" y="314012"/>
                      <a:pt x="0" y="283114"/>
                    </a:cubicBezTo>
                    <a:cubicBezTo>
                      <a:pt x="0" y="54611"/>
                      <a:pt x="0" y="54611"/>
                      <a:pt x="0" y="54611"/>
                    </a:cubicBezTo>
                    <a:cubicBezTo>
                      <a:pt x="0" y="24431"/>
                      <a:pt x="25154" y="0"/>
                      <a:pt x="55338" y="0"/>
                    </a:cubicBezTo>
                    <a:close/>
                    <a:moveTo>
                      <a:pt x="89909" y="81129"/>
                    </a:moveTo>
                    <a:lnTo>
                      <a:pt x="89909" y="114126"/>
                    </a:lnTo>
                    <a:lnTo>
                      <a:pt x="375982" y="114126"/>
                    </a:lnTo>
                    <a:lnTo>
                      <a:pt x="375982" y="81129"/>
                    </a:lnTo>
                    <a:lnTo>
                      <a:pt x="89909" y="81129"/>
                    </a:lnTo>
                    <a:close/>
                    <a:moveTo>
                      <a:pt x="89909" y="152875"/>
                    </a:moveTo>
                    <a:lnTo>
                      <a:pt x="89909" y="185266"/>
                    </a:lnTo>
                    <a:lnTo>
                      <a:pt x="375982" y="185266"/>
                    </a:lnTo>
                    <a:lnTo>
                      <a:pt x="375982" y="152875"/>
                    </a:lnTo>
                    <a:lnTo>
                      <a:pt x="89909" y="152875"/>
                    </a:lnTo>
                    <a:close/>
                    <a:moveTo>
                      <a:pt x="89909" y="224014"/>
                    </a:moveTo>
                    <a:lnTo>
                      <a:pt x="89909" y="257011"/>
                    </a:lnTo>
                    <a:lnTo>
                      <a:pt x="375982" y="257011"/>
                    </a:lnTo>
                    <a:lnTo>
                      <a:pt x="375982" y="224014"/>
                    </a:lnTo>
                    <a:lnTo>
                      <a:pt x="89909" y="22401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DB07F564-7A8B-3326-2D65-C6CDC2AEF41B}"/>
                </a:ext>
              </a:extLst>
            </p:cNvPr>
            <p:cNvSpPr/>
            <p:nvPr/>
          </p:nvSpPr>
          <p:spPr>
            <a:xfrm>
              <a:off x="6142753" y="2848391"/>
              <a:ext cx="1184492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 dirty="0">
                  <a:solidFill>
                    <a:schemeClr val="bg1"/>
                  </a:solidFill>
                  <a:latin typeface="思源黑体 CN Medium" panose="020B0600000000000000" charset="-122"/>
                  <a:ea typeface="方正兰亭中黑_GBK"/>
                </a:rPr>
                <a:t>数据处理和展示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96EC6956-A237-046C-BF31-08DCDB41F72E}"/>
              </a:ext>
            </a:extLst>
          </p:cNvPr>
          <p:cNvGrpSpPr/>
          <p:nvPr/>
        </p:nvGrpSpPr>
        <p:grpSpPr>
          <a:xfrm>
            <a:off x="5027142" y="4039269"/>
            <a:ext cx="800219" cy="850564"/>
            <a:chOff x="5145854" y="3625488"/>
            <a:chExt cx="800219" cy="850564"/>
          </a:xfrm>
        </p:grpSpPr>
        <p:grpSp>
          <p:nvGrpSpPr>
            <p:cNvPr id="24" name="Group 18">
              <a:extLst>
                <a:ext uri="{FF2B5EF4-FFF2-40B4-BE49-F238E27FC236}">
                  <a16:creationId xmlns:a16="http://schemas.microsoft.com/office/drawing/2014/main" id="{3A3763CE-671E-615F-72B7-A9543F6B1A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355142" y="3625488"/>
              <a:ext cx="385124" cy="333775"/>
              <a:chOff x="3525" y="1887"/>
              <a:chExt cx="630" cy="546"/>
            </a:xfrm>
            <a:solidFill>
              <a:schemeClr val="bg1"/>
            </a:solidFill>
            <a:effectLst/>
          </p:grpSpPr>
          <p:sp>
            <p:nvSpPr>
              <p:cNvPr id="26" name="Freeform 19">
                <a:extLst>
                  <a:ext uri="{FF2B5EF4-FFF2-40B4-BE49-F238E27FC236}">
                    <a16:creationId xmlns:a16="http://schemas.microsoft.com/office/drawing/2014/main" id="{52E82586-C7F2-5D90-C069-D2C2CCCEA9A7}"/>
                  </a:ext>
                </a:extLst>
              </p:cNvPr>
              <p:cNvSpPr/>
              <p:nvPr/>
            </p:nvSpPr>
            <p:spPr>
              <a:xfrm>
                <a:off x="3623" y="2117"/>
                <a:ext cx="129" cy="227"/>
              </a:xfrm>
              <a:custGeom>
                <a:avLst/>
                <a:gdLst>
                  <a:gd name="T0" fmla="*/ 4 w 54"/>
                  <a:gd name="T1" fmla="*/ 95 h 95"/>
                  <a:gd name="T2" fmla="*/ 49 w 54"/>
                  <a:gd name="T3" fmla="*/ 95 h 95"/>
                  <a:gd name="T4" fmla="*/ 54 w 54"/>
                  <a:gd name="T5" fmla="*/ 90 h 95"/>
                  <a:gd name="T6" fmla="*/ 54 w 54"/>
                  <a:gd name="T7" fmla="*/ 4 h 95"/>
                  <a:gd name="T8" fmla="*/ 49 w 54"/>
                  <a:gd name="T9" fmla="*/ 0 h 95"/>
                  <a:gd name="T10" fmla="*/ 4 w 54"/>
                  <a:gd name="T11" fmla="*/ 0 h 95"/>
                  <a:gd name="T12" fmla="*/ 0 w 54"/>
                  <a:gd name="T13" fmla="*/ 4 h 95"/>
                  <a:gd name="T14" fmla="*/ 0 w 54"/>
                  <a:gd name="T15" fmla="*/ 90 h 95"/>
                  <a:gd name="T16" fmla="*/ 4 w 54"/>
                  <a:gd name="T17" fmla="*/ 95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227">
                    <a:moveTo>
                      <a:pt x="10" y="227"/>
                    </a:moveTo>
                    <a:cubicBezTo>
                      <a:pt x="117" y="227"/>
                      <a:pt x="117" y="227"/>
                      <a:pt x="117" y="227"/>
                    </a:cubicBezTo>
                    <a:cubicBezTo>
                      <a:pt x="124" y="227"/>
                      <a:pt x="129" y="222"/>
                      <a:pt x="129" y="215"/>
                    </a:cubicBezTo>
                    <a:cubicBezTo>
                      <a:pt x="129" y="10"/>
                      <a:pt x="129" y="10"/>
                      <a:pt x="129" y="10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0"/>
                    </a:cubicBezTo>
                    <a:cubicBezTo>
                      <a:pt x="0" y="215"/>
                      <a:pt x="0" y="215"/>
                      <a:pt x="0" y="215"/>
                    </a:cubicBezTo>
                    <a:cubicBezTo>
                      <a:pt x="0" y="222"/>
                      <a:pt x="5" y="227"/>
                      <a:pt x="10" y="2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7" name="Freeform 20">
                <a:extLst>
                  <a:ext uri="{FF2B5EF4-FFF2-40B4-BE49-F238E27FC236}">
                    <a16:creationId xmlns:a16="http://schemas.microsoft.com/office/drawing/2014/main" id="{B466EAD4-E544-7ED8-B101-5D0C309862E9}"/>
                  </a:ext>
                </a:extLst>
              </p:cNvPr>
              <p:cNvSpPr/>
              <p:nvPr/>
            </p:nvSpPr>
            <p:spPr>
              <a:xfrm>
                <a:off x="3809" y="2033"/>
                <a:ext cx="129" cy="311"/>
              </a:xfrm>
              <a:custGeom>
                <a:avLst/>
                <a:gdLst>
                  <a:gd name="T0" fmla="*/ 5 w 54"/>
                  <a:gd name="T1" fmla="*/ 130 h 130"/>
                  <a:gd name="T2" fmla="*/ 50 w 54"/>
                  <a:gd name="T3" fmla="*/ 130 h 130"/>
                  <a:gd name="T4" fmla="*/ 54 w 54"/>
                  <a:gd name="T5" fmla="*/ 125 h 130"/>
                  <a:gd name="T6" fmla="*/ 54 w 54"/>
                  <a:gd name="T7" fmla="*/ 5 h 130"/>
                  <a:gd name="T8" fmla="*/ 50 w 54"/>
                  <a:gd name="T9" fmla="*/ 0 h 130"/>
                  <a:gd name="T10" fmla="*/ 5 w 54"/>
                  <a:gd name="T11" fmla="*/ 0 h 130"/>
                  <a:gd name="T12" fmla="*/ 0 w 54"/>
                  <a:gd name="T13" fmla="*/ 5 h 130"/>
                  <a:gd name="T14" fmla="*/ 0 w 54"/>
                  <a:gd name="T15" fmla="*/ 125 h 130"/>
                  <a:gd name="T16" fmla="*/ 5 w 54"/>
                  <a:gd name="T17" fmla="*/ 130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11">
                    <a:moveTo>
                      <a:pt x="12" y="311"/>
                    </a:moveTo>
                    <a:cubicBezTo>
                      <a:pt x="119" y="311"/>
                      <a:pt x="119" y="311"/>
                      <a:pt x="119" y="311"/>
                    </a:cubicBezTo>
                    <a:cubicBezTo>
                      <a:pt x="124" y="311"/>
                      <a:pt x="129" y="306"/>
                      <a:pt x="129" y="299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9" y="0"/>
                    </a:cubicBezTo>
                    <a:cubicBezTo>
                      <a:pt x="12" y="0"/>
                      <a:pt x="12" y="0"/>
                      <a:pt x="12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299"/>
                      <a:pt x="0" y="299"/>
                      <a:pt x="0" y="299"/>
                    </a:cubicBezTo>
                    <a:cubicBezTo>
                      <a:pt x="0" y="306"/>
                      <a:pt x="5" y="311"/>
                      <a:pt x="12" y="31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8" name="Freeform 21">
                <a:extLst>
                  <a:ext uri="{FF2B5EF4-FFF2-40B4-BE49-F238E27FC236}">
                    <a16:creationId xmlns:a16="http://schemas.microsoft.com/office/drawing/2014/main" id="{975605F1-30BE-AAD3-FEDB-F751D408E49E}"/>
                  </a:ext>
                </a:extLst>
              </p:cNvPr>
              <p:cNvSpPr/>
              <p:nvPr/>
            </p:nvSpPr>
            <p:spPr>
              <a:xfrm>
                <a:off x="3997" y="1964"/>
                <a:ext cx="129" cy="380"/>
              </a:xfrm>
              <a:custGeom>
                <a:avLst/>
                <a:gdLst>
                  <a:gd name="T0" fmla="*/ 4 w 54"/>
                  <a:gd name="T1" fmla="*/ 159 h 159"/>
                  <a:gd name="T2" fmla="*/ 49 w 54"/>
                  <a:gd name="T3" fmla="*/ 159 h 159"/>
                  <a:gd name="T4" fmla="*/ 54 w 54"/>
                  <a:gd name="T5" fmla="*/ 154 h 159"/>
                  <a:gd name="T6" fmla="*/ 54 w 54"/>
                  <a:gd name="T7" fmla="*/ 5 h 159"/>
                  <a:gd name="T8" fmla="*/ 49 w 54"/>
                  <a:gd name="T9" fmla="*/ 0 h 159"/>
                  <a:gd name="T10" fmla="*/ 4 w 54"/>
                  <a:gd name="T11" fmla="*/ 0 h 159"/>
                  <a:gd name="T12" fmla="*/ 0 w 54"/>
                  <a:gd name="T13" fmla="*/ 5 h 159"/>
                  <a:gd name="T14" fmla="*/ 0 w 54"/>
                  <a:gd name="T15" fmla="*/ 154 h 159"/>
                  <a:gd name="T16" fmla="*/ 4 w 54"/>
                  <a:gd name="T17" fmla="*/ 159 h 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380">
                    <a:moveTo>
                      <a:pt x="10" y="380"/>
                    </a:moveTo>
                    <a:cubicBezTo>
                      <a:pt x="117" y="380"/>
                      <a:pt x="117" y="380"/>
                      <a:pt x="117" y="380"/>
                    </a:cubicBezTo>
                    <a:cubicBezTo>
                      <a:pt x="124" y="380"/>
                      <a:pt x="129" y="375"/>
                      <a:pt x="129" y="368"/>
                    </a:cubicBezTo>
                    <a:cubicBezTo>
                      <a:pt x="129" y="12"/>
                      <a:pt x="129" y="12"/>
                      <a:pt x="129" y="12"/>
                    </a:cubicBezTo>
                    <a:cubicBezTo>
                      <a:pt x="129" y="5"/>
                      <a:pt x="124" y="0"/>
                      <a:pt x="117" y="0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5" y="0"/>
                      <a:pt x="0" y="5"/>
                      <a:pt x="0" y="12"/>
                    </a:cubicBezTo>
                    <a:cubicBezTo>
                      <a:pt x="0" y="368"/>
                      <a:pt x="0" y="368"/>
                      <a:pt x="0" y="368"/>
                    </a:cubicBezTo>
                    <a:cubicBezTo>
                      <a:pt x="0" y="375"/>
                      <a:pt x="5" y="380"/>
                      <a:pt x="10" y="38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  <p:sp>
            <p:nvSpPr>
              <p:cNvPr id="29" name="Freeform 22">
                <a:extLst>
                  <a:ext uri="{FF2B5EF4-FFF2-40B4-BE49-F238E27FC236}">
                    <a16:creationId xmlns:a16="http://schemas.microsoft.com/office/drawing/2014/main" id="{F04C7AA0-606B-CC2F-DC04-1FE5C2317680}"/>
                  </a:ext>
                </a:extLst>
              </p:cNvPr>
              <p:cNvSpPr/>
              <p:nvPr/>
            </p:nvSpPr>
            <p:spPr>
              <a:xfrm>
                <a:off x="3525" y="1887"/>
                <a:ext cx="630" cy="546"/>
              </a:xfrm>
              <a:custGeom>
                <a:avLst/>
                <a:gdLst>
                  <a:gd name="T0" fmla="*/ 253 w 264"/>
                  <a:gd name="T1" fmla="*/ 206 h 228"/>
                  <a:gd name="T2" fmla="*/ 23 w 264"/>
                  <a:gd name="T3" fmla="*/ 206 h 228"/>
                  <a:gd name="T4" fmla="*/ 22 w 264"/>
                  <a:gd name="T5" fmla="*/ 206 h 228"/>
                  <a:gd name="T6" fmla="*/ 22 w 264"/>
                  <a:gd name="T7" fmla="*/ 11 h 228"/>
                  <a:gd name="T8" fmla="*/ 11 w 264"/>
                  <a:gd name="T9" fmla="*/ 0 h 228"/>
                  <a:gd name="T10" fmla="*/ 0 w 264"/>
                  <a:gd name="T11" fmla="*/ 11 h 228"/>
                  <a:gd name="T12" fmla="*/ 0 w 264"/>
                  <a:gd name="T13" fmla="*/ 206 h 228"/>
                  <a:gd name="T14" fmla="*/ 23 w 264"/>
                  <a:gd name="T15" fmla="*/ 228 h 228"/>
                  <a:gd name="T16" fmla="*/ 253 w 264"/>
                  <a:gd name="T17" fmla="*/ 228 h 228"/>
                  <a:gd name="T18" fmla="*/ 264 w 264"/>
                  <a:gd name="T19" fmla="*/ 217 h 228"/>
                  <a:gd name="T20" fmla="*/ 253 w 264"/>
                  <a:gd name="T21" fmla="*/ 206 h 2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630" h="546">
                    <a:moveTo>
                      <a:pt x="604" y="493"/>
                    </a:moveTo>
                    <a:cubicBezTo>
                      <a:pt x="55" y="493"/>
                      <a:pt x="55" y="493"/>
                      <a:pt x="55" y="493"/>
                    </a:cubicBezTo>
                    <a:cubicBezTo>
                      <a:pt x="53" y="493"/>
                      <a:pt x="53" y="493"/>
                      <a:pt x="53" y="493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53" y="12"/>
                      <a:pt x="41" y="0"/>
                      <a:pt x="26" y="0"/>
                    </a:cubicBezTo>
                    <a:cubicBezTo>
                      <a:pt x="12" y="0"/>
                      <a:pt x="0" y="12"/>
                      <a:pt x="0" y="26"/>
                    </a:cubicBezTo>
                    <a:cubicBezTo>
                      <a:pt x="0" y="493"/>
                      <a:pt x="0" y="493"/>
                      <a:pt x="0" y="493"/>
                    </a:cubicBezTo>
                    <a:cubicBezTo>
                      <a:pt x="0" y="522"/>
                      <a:pt x="24" y="546"/>
                      <a:pt x="55" y="546"/>
                    </a:cubicBezTo>
                    <a:cubicBezTo>
                      <a:pt x="604" y="546"/>
                      <a:pt x="604" y="546"/>
                      <a:pt x="604" y="546"/>
                    </a:cubicBezTo>
                    <a:cubicBezTo>
                      <a:pt x="618" y="546"/>
                      <a:pt x="630" y="534"/>
                      <a:pt x="630" y="520"/>
                    </a:cubicBezTo>
                    <a:cubicBezTo>
                      <a:pt x="630" y="505"/>
                      <a:pt x="618" y="493"/>
                      <a:pt x="604" y="49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vert="horz" wrap="square" lIns="91440" tIns="45720" rIns="91440" bIns="45720" numCol="1" anchor="t" anchorCtr="0"/>
              <a:lstStyle/>
              <a:p>
                <a:endParaRPr lang="zh-CN" altLang="en-US" sz="2000">
                  <a:solidFill>
                    <a:srgbClr val="000000"/>
                  </a:solidFill>
                </a:endParaRPr>
              </a:p>
            </p:txBody>
          </p:sp>
        </p:grp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F7EBE0BD-0AE6-B3D8-9983-9192EF768392}"/>
                </a:ext>
              </a:extLst>
            </p:cNvPr>
            <p:cNvSpPr/>
            <p:nvPr/>
          </p:nvSpPr>
          <p:spPr>
            <a:xfrm>
              <a:off x="5145854" y="4137498"/>
              <a:ext cx="80021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数据源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A6E984F0-841A-72F9-9447-9E2839EC9EBB}"/>
              </a:ext>
            </a:extLst>
          </p:cNvPr>
          <p:cNvGrpSpPr/>
          <p:nvPr/>
        </p:nvGrpSpPr>
        <p:grpSpPr>
          <a:xfrm>
            <a:off x="6248591" y="4704544"/>
            <a:ext cx="1005403" cy="868051"/>
            <a:chOff x="6423403" y="4399738"/>
            <a:chExt cx="1005403" cy="868051"/>
          </a:xfrm>
        </p:grpSpPr>
        <p:sp>
          <p:nvSpPr>
            <p:cNvPr id="31" name="Freeform 18">
              <a:extLst>
                <a:ext uri="{FF2B5EF4-FFF2-40B4-BE49-F238E27FC236}">
                  <a16:creationId xmlns:a16="http://schemas.microsoft.com/office/drawing/2014/main" id="{9BDB4330-CE22-2DA3-5304-DF597E0FCE84}"/>
                </a:ext>
              </a:extLst>
            </p:cNvPr>
            <p:cNvSpPr>
              <a:spLocks noEditPoints="1"/>
            </p:cNvSpPr>
            <p:nvPr/>
          </p:nvSpPr>
          <p:spPr>
            <a:xfrm>
              <a:off x="6739622" y="4399738"/>
              <a:ext cx="371762" cy="370579"/>
            </a:xfrm>
            <a:custGeom>
              <a:avLst/>
              <a:gdLst>
                <a:gd name="T0" fmla="*/ 52 w 341"/>
                <a:gd name="T1" fmla="*/ 0 h 340"/>
                <a:gd name="T2" fmla="*/ 289 w 341"/>
                <a:gd name="T3" fmla="*/ 0 h 340"/>
                <a:gd name="T4" fmla="*/ 341 w 341"/>
                <a:gd name="T5" fmla="*/ 51 h 340"/>
                <a:gd name="T6" fmla="*/ 341 w 341"/>
                <a:gd name="T7" fmla="*/ 289 h 340"/>
                <a:gd name="T8" fmla="*/ 289 w 341"/>
                <a:gd name="T9" fmla="*/ 340 h 340"/>
                <a:gd name="T10" fmla="*/ 52 w 341"/>
                <a:gd name="T11" fmla="*/ 340 h 340"/>
                <a:gd name="T12" fmla="*/ 0 w 341"/>
                <a:gd name="T13" fmla="*/ 289 h 340"/>
                <a:gd name="T14" fmla="*/ 0 w 341"/>
                <a:gd name="T15" fmla="*/ 51 h 340"/>
                <a:gd name="T16" fmla="*/ 52 w 341"/>
                <a:gd name="T17" fmla="*/ 0 h 340"/>
                <a:gd name="T18" fmla="*/ 71 w 341"/>
                <a:gd name="T19" fmla="*/ 37 h 340"/>
                <a:gd name="T20" fmla="*/ 38 w 341"/>
                <a:gd name="T21" fmla="*/ 70 h 340"/>
                <a:gd name="T22" fmla="*/ 38 w 341"/>
                <a:gd name="T23" fmla="*/ 269 h 340"/>
                <a:gd name="T24" fmla="*/ 71 w 341"/>
                <a:gd name="T25" fmla="*/ 302 h 340"/>
                <a:gd name="T26" fmla="*/ 270 w 341"/>
                <a:gd name="T27" fmla="*/ 302 h 340"/>
                <a:gd name="T28" fmla="*/ 303 w 341"/>
                <a:gd name="T29" fmla="*/ 269 h 340"/>
                <a:gd name="T30" fmla="*/ 303 w 341"/>
                <a:gd name="T31" fmla="*/ 70 h 340"/>
                <a:gd name="T32" fmla="*/ 270 w 341"/>
                <a:gd name="T33" fmla="*/ 37 h 340"/>
                <a:gd name="T34" fmla="*/ 71 w 341"/>
                <a:gd name="T35" fmla="*/ 37 h 340"/>
                <a:gd name="T36" fmla="*/ 170 w 341"/>
                <a:gd name="T37" fmla="*/ 244 h 340"/>
                <a:gd name="T38" fmla="*/ 157 w 341"/>
                <a:gd name="T39" fmla="*/ 258 h 340"/>
                <a:gd name="T40" fmla="*/ 157 w 341"/>
                <a:gd name="T41" fmla="*/ 283 h 340"/>
                <a:gd name="T42" fmla="*/ 170 w 341"/>
                <a:gd name="T43" fmla="*/ 296 h 340"/>
                <a:gd name="T44" fmla="*/ 184 w 341"/>
                <a:gd name="T45" fmla="*/ 283 h 340"/>
                <a:gd name="T46" fmla="*/ 184 w 341"/>
                <a:gd name="T47" fmla="*/ 258 h 340"/>
                <a:gd name="T48" fmla="*/ 170 w 341"/>
                <a:gd name="T49" fmla="*/ 244 h 340"/>
                <a:gd name="T50" fmla="*/ 245 w 341"/>
                <a:gd name="T51" fmla="*/ 170 h 340"/>
                <a:gd name="T52" fmla="*/ 259 w 341"/>
                <a:gd name="T53" fmla="*/ 183 h 340"/>
                <a:gd name="T54" fmla="*/ 284 w 341"/>
                <a:gd name="T55" fmla="*/ 183 h 340"/>
                <a:gd name="T56" fmla="*/ 297 w 341"/>
                <a:gd name="T57" fmla="*/ 170 h 340"/>
                <a:gd name="T58" fmla="*/ 284 w 341"/>
                <a:gd name="T59" fmla="*/ 156 h 340"/>
                <a:gd name="T60" fmla="*/ 259 w 341"/>
                <a:gd name="T61" fmla="*/ 156 h 340"/>
                <a:gd name="T62" fmla="*/ 245 w 341"/>
                <a:gd name="T63" fmla="*/ 170 h 340"/>
                <a:gd name="T64" fmla="*/ 170 w 341"/>
                <a:gd name="T65" fmla="*/ 43 h 340"/>
                <a:gd name="T66" fmla="*/ 157 w 341"/>
                <a:gd name="T67" fmla="*/ 57 h 340"/>
                <a:gd name="T68" fmla="*/ 157 w 341"/>
                <a:gd name="T69" fmla="*/ 82 h 340"/>
                <a:gd name="T70" fmla="*/ 170 w 341"/>
                <a:gd name="T71" fmla="*/ 95 h 340"/>
                <a:gd name="T72" fmla="*/ 184 w 341"/>
                <a:gd name="T73" fmla="*/ 82 h 340"/>
                <a:gd name="T74" fmla="*/ 184 w 341"/>
                <a:gd name="T75" fmla="*/ 57 h 340"/>
                <a:gd name="T76" fmla="*/ 170 w 341"/>
                <a:gd name="T77" fmla="*/ 43 h 340"/>
                <a:gd name="T78" fmla="*/ 189 w 341"/>
                <a:gd name="T79" fmla="*/ 172 h 340"/>
                <a:gd name="T80" fmla="*/ 217 w 341"/>
                <a:gd name="T81" fmla="*/ 143 h 340"/>
                <a:gd name="T82" fmla="*/ 217 w 341"/>
                <a:gd name="T83" fmla="*/ 125 h 340"/>
                <a:gd name="T84" fmla="*/ 199 w 341"/>
                <a:gd name="T85" fmla="*/ 125 h 340"/>
                <a:gd name="T86" fmla="*/ 173 w 341"/>
                <a:gd name="T87" fmla="*/ 152 h 340"/>
                <a:gd name="T88" fmla="*/ 170 w 341"/>
                <a:gd name="T89" fmla="*/ 152 h 340"/>
                <a:gd name="T90" fmla="*/ 166 w 341"/>
                <a:gd name="T91" fmla="*/ 152 h 340"/>
                <a:gd name="T92" fmla="*/ 114 w 341"/>
                <a:gd name="T93" fmla="*/ 98 h 340"/>
                <a:gd name="T94" fmla="*/ 101 w 341"/>
                <a:gd name="T95" fmla="*/ 98 h 340"/>
                <a:gd name="T96" fmla="*/ 100 w 341"/>
                <a:gd name="T97" fmla="*/ 111 h 340"/>
                <a:gd name="T98" fmla="*/ 153 w 341"/>
                <a:gd name="T99" fmla="*/ 165 h 340"/>
                <a:gd name="T100" fmla="*/ 152 w 341"/>
                <a:gd name="T101" fmla="*/ 170 h 340"/>
                <a:gd name="T102" fmla="*/ 170 w 341"/>
                <a:gd name="T103" fmla="*/ 188 h 340"/>
                <a:gd name="T104" fmla="*/ 189 w 341"/>
                <a:gd name="T105" fmla="*/ 172 h 340"/>
                <a:gd name="T106" fmla="*/ 44 w 341"/>
                <a:gd name="T107" fmla="*/ 170 h 340"/>
                <a:gd name="T108" fmla="*/ 57 w 341"/>
                <a:gd name="T109" fmla="*/ 183 h 340"/>
                <a:gd name="T110" fmla="*/ 82 w 341"/>
                <a:gd name="T111" fmla="*/ 183 h 340"/>
                <a:gd name="T112" fmla="*/ 96 w 341"/>
                <a:gd name="T113" fmla="*/ 170 h 340"/>
                <a:gd name="T114" fmla="*/ 82 w 341"/>
                <a:gd name="T115" fmla="*/ 156 h 340"/>
                <a:gd name="T116" fmla="*/ 57 w 341"/>
                <a:gd name="T117" fmla="*/ 156 h 340"/>
                <a:gd name="T118" fmla="*/ 44 w 341"/>
                <a:gd name="T119" fmla="*/ 170 h 3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71762" h="370579">
                  <a:moveTo>
                    <a:pt x="56691" y="0"/>
                  </a:moveTo>
                  <a:cubicBezTo>
                    <a:pt x="315071" y="0"/>
                    <a:pt x="315071" y="0"/>
                    <a:pt x="315071" y="0"/>
                  </a:cubicBezTo>
                  <a:cubicBezTo>
                    <a:pt x="346687" y="0"/>
                    <a:pt x="371762" y="25069"/>
                    <a:pt x="371762" y="55587"/>
                  </a:cubicBezTo>
                  <a:cubicBezTo>
                    <a:pt x="371762" y="314992"/>
                    <a:pt x="371762" y="314992"/>
                    <a:pt x="371762" y="314992"/>
                  </a:cubicBezTo>
                  <a:cubicBezTo>
                    <a:pt x="371762" y="345510"/>
                    <a:pt x="346687" y="370579"/>
                    <a:pt x="315071" y="370579"/>
                  </a:cubicBezTo>
                  <a:cubicBezTo>
                    <a:pt x="56691" y="370579"/>
                    <a:pt x="56691" y="370579"/>
                    <a:pt x="56691" y="370579"/>
                  </a:cubicBezTo>
                  <a:cubicBezTo>
                    <a:pt x="25075" y="370579"/>
                    <a:pt x="0" y="345510"/>
                    <a:pt x="0" y="314992"/>
                  </a:cubicBezTo>
                  <a:cubicBezTo>
                    <a:pt x="0" y="55587"/>
                    <a:pt x="0" y="55587"/>
                    <a:pt x="0" y="55587"/>
                  </a:cubicBezTo>
                  <a:cubicBezTo>
                    <a:pt x="0" y="25069"/>
                    <a:pt x="25075" y="0"/>
                    <a:pt x="56691" y="0"/>
                  </a:cubicBezTo>
                  <a:close/>
                  <a:moveTo>
                    <a:pt x="77405" y="40328"/>
                  </a:moveTo>
                  <a:cubicBezTo>
                    <a:pt x="57781" y="40328"/>
                    <a:pt x="41428" y="56677"/>
                    <a:pt x="41428" y="76296"/>
                  </a:cubicBezTo>
                  <a:cubicBezTo>
                    <a:pt x="41428" y="293193"/>
                    <a:pt x="41428" y="293193"/>
                    <a:pt x="41428" y="293193"/>
                  </a:cubicBezTo>
                  <a:cubicBezTo>
                    <a:pt x="41428" y="313902"/>
                    <a:pt x="57781" y="329161"/>
                    <a:pt x="77405" y="329161"/>
                  </a:cubicBezTo>
                  <a:cubicBezTo>
                    <a:pt x="294357" y="329161"/>
                    <a:pt x="294357" y="329161"/>
                    <a:pt x="294357" y="329161"/>
                  </a:cubicBezTo>
                  <a:cubicBezTo>
                    <a:pt x="313981" y="329161"/>
                    <a:pt x="330334" y="313902"/>
                    <a:pt x="330334" y="293193"/>
                  </a:cubicBezTo>
                  <a:cubicBezTo>
                    <a:pt x="330334" y="76296"/>
                    <a:pt x="330334" y="76296"/>
                    <a:pt x="330334" y="76296"/>
                  </a:cubicBezTo>
                  <a:cubicBezTo>
                    <a:pt x="330334" y="56677"/>
                    <a:pt x="313981" y="40328"/>
                    <a:pt x="294357" y="40328"/>
                  </a:cubicBezTo>
                  <a:cubicBezTo>
                    <a:pt x="77405" y="40328"/>
                    <a:pt x="77405" y="40328"/>
                    <a:pt x="77405" y="40328"/>
                  </a:cubicBezTo>
                  <a:close/>
                  <a:moveTo>
                    <a:pt x="185336" y="265945"/>
                  </a:moveTo>
                  <a:cubicBezTo>
                    <a:pt x="177704" y="265945"/>
                    <a:pt x="171163" y="273574"/>
                    <a:pt x="171163" y="281204"/>
                  </a:cubicBezTo>
                  <a:cubicBezTo>
                    <a:pt x="171163" y="308453"/>
                    <a:pt x="171163" y="308453"/>
                    <a:pt x="171163" y="308453"/>
                  </a:cubicBezTo>
                  <a:cubicBezTo>
                    <a:pt x="171163" y="316082"/>
                    <a:pt x="177704" y="322622"/>
                    <a:pt x="185336" y="322622"/>
                  </a:cubicBezTo>
                  <a:cubicBezTo>
                    <a:pt x="194058" y="322622"/>
                    <a:pt x="200599" y="316082"/>
                    <a:pt x="200599" y="308453"/>
                  </a:cubicBezTo>
                  <a:cubicBezTo>
                    <a:pt x="200599" y="281204"/>
                    <a:pt x="200599" y="281204"/>
                    <a:pt x="200599" y="281204"/>
                  </a:cubicBezTo>
                  <a:cubicBezTo>
                    <a:pt x="200599" y="273574"/>
                    <a:pt x="194058" y="265945"/>
                    <a:pt x="185336" y="265945"/>
                  </a:cubicBezTo>
                  <a:close/>
                  <a:moveTo>
                    <a:pt x="267102" y="185290"/>
                  </a:moveTo>
                  <a:cubicBezTo>
                    <a:pt x="267102" y="192919"/>
                    <a:pt x="273643" y="199459"/>
                    <a:pt x="282365" y="199459"/>
                  </a:cubicBezTo>
                  <a:cubicBezTo>
                    <a:pt x="309620" y="199459"/>
                    <a:pt x="309620" y="199459"/>
                    <a:pt x="309620" y="199459"/>
                  </a:cubicBezTo>
                  <a:cubicBezTo>
                    <a:pt x="317251" y="199459"/>
                    <a:pt x="323793" y="192919"/>
                    <a:pt x="323793" y="185290"/>
                  </a:cubicBezTo>
                  <a:cubicBezTo>
                    <a:pt x="323793" y="176570"/>
                    <a:pt x="317251" y="170030"/>
                    <a:pt x="309620" y="170030"/>
                  </a:cubicBezTo>
                  <a:cubicBezTo>
                    <a:pt x="282365" y="170030"/>
                    <a:pt x="282365" y="170030"/>
                    <a:pt x="282365" y="170030"/>
                  </a:cubicBezTo>
                  <a:cubicBezTo>
                    <a:pt x="273643" y="170030"/>
                    <a:pt x="267102" y="176570"/>
                    <a:pt x="267102" y="185290"/>
                  </a:cubicBezTo>
                  <a:close/>
                  <a:moveTo>
                    <a:pt x="185336" y="46867"/>
                  </a:moveTo>
                  <a:cubicBezTo>
                    <a:pt x="177704" y="46867"/>
                    <a:pt x="171163" y="53407"/>
                    <a:pt x="171163" y="62126"/>
                  </a:cubicBezTo>
                  <a:cubicBezTo>
                    <a:pt x="171163" y="89375"/>
                    <a:pt x="171163" y="89375"/>
                    <a:pt x="171163" y="89375"/>
                  </a:cubicBezTo>
                  <a:cubicBezTo>
                    <a:pt x="171163" y="97005"/>
                    <a:pt x="177704" y="103544"/>
                    <a:pt x="185336" y="103544"/>
                  </a:cubicBezTo>
                  <a:cubicBezTo>
                    <a:pt x="194058" y="103544"/>
                    <a:pt x="200599" y="97005"/>
                    <a:pt x="200599" y="89375"/>
                  </a:cubicBezTo>
                  <a:cubicBezTo>
                    <a:pt x="200599" y="62126"/>
                    <a:pt x="200599" y="62126"/>
                    <a:pt x="200599" y="62126"/>
                  </a:cubicBezTo>
                  <a:cubicBezTo>
                    <a:pt x="200599" y="53407"/>
                    <a:pt x="194058" y="46867"/>
                    <a:pt x="185336" y="46867"/>
                  </a:cubicBezTo>
                  <a:close/>
                  <a:moveTo>
                    <a:pt x="206050" y="187469"/>
                  </a:moveTo>
                  <a:cubicBezTo>
                    <a:pt x="236576" y="155861"/>
                    <a:pt x="236576" y="155861"/>
                    <a:pt x="236576" y="155861"/>
                  </a:cubicBezTo>
                  <a:cubicBezTo>
                    <a:pt x="242027" y="150411"/>
                    <a:pt x="242027" y="141692"/>
                    <a:pt x="236576" y="136242"/>
                  </a:cubicBezTo>
                  <a:cubicBezTo>
                    <a:pt x="231125" y="130793"/>
                    <a:pt x="222403" y="130793"/>
                    <a:pt x="216952" y="136242"/>
                  </a:cubicBezTo>
                  <a:cubicBezTo>
                    <a:pt x="188607" y="165671"/>
                    <a:pt x="188607" y="165671"/>
                    <a:pt x="188607" y="165671"/>
                  </a:cubicBezTo>
                  <a:cubicBezTo>
                    <a:pt x="187516" y="165671"/>
                    <a:pt x="186426" y="165671"/>
                    <a:pt x="185336" y="165671"/>
                  </a:cubicBezTo>
                  <a:cubicBezTo>
                    <a:pt x="184246" y="165671"/>
                    <a:pt x="183155" y="165671"/>
                    <a:pt x="180975" y="165671"/>
                  </a:cubicBezTo>
                  <a:cubicBezTo>
                    <a:pt x="124284" y="106814"/>
                    <a:pt x="124284" y="106814"/>
                    <a:pt x="124284" y="106814"/>
                  </a:cubicBezTo>
                  <a:cubicBezTo>
                    <a:pt x="119923" y="102454"/>
                    <a:pt x="113382" y="102454"/>
                    <a:pt x="110111" y="106814"/>
                  </a:cubicBezTo>
                  <a:cubicBezTo>
                    <a:pt x="105750" y="110084"/>
                    <a:pt x="105750" y="116623"/>
                    <a:pt x="109021" y="120983"/>
                  </a:cubicBezTo>
                  <a:cubicBezTo>
                    <a:pt x="166802" y="179840"/>
                    <a:pt x="166802" y="179840"/>
                    <a:pt x="166802" y="179840"/>
                  </a:cubicBezTo>
                  <a:cubicBezTo>
                    <a:pt x="165712" y="182020"/>
                    <a:pt x="165712" y="183110"/>
                    <a:pt x="165712" y="185290"/>
                  </a:cubicBezTo>
                  <a:cubicBezTo>
                    <a:pt x="165712" y="196189"/>
                    <a:pt x="174434" y="204908"/>
                    <a:pt x="185336" y="204908"/>
                  </a:cubicBezTo>
                  <a:cubicBezTo>
                    <a:pt x="196238" y="204908"/>
                    <a:pt x="204960" y="197279"/>
                    <a:pt x="206050" y="187469"/>
                  </a:cubicBezTo>
                  <a:close/>
                  <a:moveTo>
                    <a:pt x="47969" y="185290"/>
                  </a:moveTo>
                  <a:cubicBezTo>
                    <a:pt x="47969" y="192919"/>
                    <a:pt x="54511" y="199459"/>
                    <a:pt x="62142" y="199459"/>
                  </a:cubicBezTo>
                  <a:cubicBezTo>
                    <a:pt x="89397" y="199459"/>
                    <a:pt x="89397" y="199459"/>
                    <a:pt x="89397" y="199459"/>
                  </a:cubicBezTo>
                  <a:cubicBezTo>
                    <a:pt x="98119" y="199459"/>
                    <a:pt x="104660" y="192919"/>
                    <a:pt x="104660" y="185290"/>
                  </a:cubicBezTo>
                  <a:cubicBezTo>
                    <a:pt x="104660" y="176570"/>
                    <a:pt x="98119" y="170030"/>
                    <a:pt x="89397" y="170030"/>
                  </a:cubicBezTo>
                  <a:cubicBezTo>
                    <a:pt x="62142" y="170030"/>
                    <a:pt x="62142" y="170030"/>
                    <a:pt x="62142" y="170030"/>
                  </a:cubicBezTo>
                  <a:cubicBezTo>
                    <a:pt x="54511" y="170030"/>
                    <a:pt x="47969" y="176570"/>
                    <a:pt x="47969" y="18529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/>
          </p:spPr>
          <p:txBody>
            <a:bodyPr vert="horz" wrap="square" lIns="91440" tIns="45720" rIns="91440" bIns="45720" numCol="1" anchor="t" anchorCtr="0"/>
            <a:lstStyle/>
            <a:p>
              <a:endParaRPr lang="zh-CN" altLang="en-US">
                <a:solidFill>
                  <a:srgbClr val="000000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6DB63613-2AAC-3BAD-AE46-BDD40C7C78BD}"/>
                </a:ext>
              </a:extLst>
            </p:cNvPr>
            <p:cNvSpPr/>
            <p:nvPr/>
          </p:nvSpPr>
          <p:spPr>
            <a:xfrm>
              <a:off x="6423403" y="4929235"/>
              <a:ext cx="1005403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>
                <a:defRPr sz="1800">
                  <a:solidFill>
                    <a:srgbClr val="000000"/>
                  </a:solidFill>
                </a:defRPr>
              </a:pPr>
              <a:r>
                <a:rPr lang="zh-CN" altLang="en-US" sz="1600">
                  <a:solidFill>
                    <a:schemeClr val="bg1"/>
                  </a:solidFill>
                  <a:latin typeface="方正兰亭中黑_GBK"/>
                  <a:ea typeface="方正兰亭中黑_GBK"/>
                </a:rPr>
                <a:t>页面布局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BD310444-E29F-2938-E0EC-D31F35F36182}"/>
              </a:ext>
            </a:extLst>
          </p:cNvPr>
          <p:cNvGrpSpPr/>
          <p:nvPr/>
        </p:nvGrpSpPr>
        <p:grpSpPr>
          <a:xfrm>
            <a:off x="3960656" y="3322517"/>
            <a:ext cx="818428" cy="565449"/>
            <a:chOff x="4135468" y="3017711"/>
            <a:chExt cx="818428" cy="565449"/>
          </a:xfrm>
        </p:grpSpPr>
        <p:sp>
          <p:nvSpPr>
            <p:cNvPr id="34" name="Oval 13">
              <a:extLst>
                <a:ext uri="{FF2B5EF4-FFF2-40B4-BE49-F238E27FC236}">
                  <a16:creationId xmlns:a16="http://schemas.microsoft.com/office/drawing/2014/main" id="{E3D60AF5-4EDE-FA54-58B6-F29B3FD0B1E4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4279333" y="3017711"/>
              <a:ext cx="563949" cy="565449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  <a:prstDash val="solid"/>
              <a:miter/>
            </a:ln>
            <a:effectLst>
              <a:outerShdw blurRad="165100" dist="25400" dir="2700000" algn="t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329ABC5F-DD6D-F333-4453-16F386ACF020}"/>
                </a:ext>
              </a:extLst>
            </p:cNvPr>
            <p:cNvSpPr/>
            <p:nvPr/>
          </p:nvSpPr>
          <p:spPr>
            <a:xfrm>
              <a:off x="4135468" y="3109212"/>
              <a:ext cx="81842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>
                  <a:solidFill>
                    <a:srgbClr val="2E75B6"/>
                  </a:solidFill>
                  <a:latin typeface="Impact" panose="020B0806030902050204"/>
                  <a:ea typeface="微软雅黑" panose="020B0503020204020204" charset="-122"/>
                </a:rPr>
                <a:t>01</a:t>
              </a:r>
              <a:endParaRPr lang="zh-CN" altLang="en-US" sz="2000">
                <a:solidFill>
                  <a:srgbClr val="2E75B6"/>
                </a:solidFill>
                <a:latin typeface="Impact" panose="020B0806030902050204"/>
                <a:ea typeface="微软雅黑" panose="020B0503020204020204" charset="-122"/>
              </a:endParaRPr>
            </a:p>
          </p:txBody>
        </p:sp>
      </p:grpSp>
      <p:grpSp>
        <p:nvGrpSpPr>
          <p:cNvPr id="36" name="组合 35">
            <a:extLst>
              <a:ext uri="{FF2B5EF4-FFF2-40B4-BE49-F238E27FC236}">
                <a16:creationId xmlns:a16="http://schemas.microsoft.com/office/drawing/2014/main" id="{7EC404C3-53DF-1D9B-007D-19ACA384628D}"/>
              </a:ext>
            </a:extLst>
          </p:cNvPr>
          <p:cNvGrpSpPr/>
          <p:nvPr/>
        </p:nvGrpSpPr>
        <p:grpSpPr>
          <a:xfrm>
            <a:off x="6750691" y="3740243"/>
            <a:ext cx="818428" cy="563949"/>
            <a:chOff x="6925503" y="3435437"/>
            <a:chExt cx="818428" cy="563949"/>
          </a:xfrm>
        </p:grpSpPr>
        <p:sp>
          <p:nvSpPr>
            <p:cNvPr id="37" name="Oval 14">
              <a:extLst>
                <a:ext uri="{FF2B5EF4-FFF2-40B4-BE49-F238E27FC236}">
                  <a16:creationId xmlns:a16="http://schemas.microsoft.com/office/drawing/2014/main" id="{6FCDD177-0F41-5FAD-645F-D98941D7655D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061833" y="3435437"/>
              <a:ext cx="563949" cy="563949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  <a:prstDash val="solid"/>
              <a:miter/>
            </a:ln>
            <a:effectLst>
              <a:outerShdw blurRad="165100" dist="25400" dir="2700000" algn="t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2470EA02-9130-DB9D-1182-7C75848DCB0A}"/>
                </a:ext>
              </a:extLst>
            </p:cNvPr>
            <p:cNvSpPr/>
            <p:nvPr/>
          </p:nvSpPr>
          <p:spPr>
            <a:xfrm>
              <a:off x="6925503" y="3541844"/>
              <a:ext cx="81842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>
                  <a:solidFill>
                    <a:srgbClr val="F18276"/>
                  </a:solidFill>
                  <a:latin typeface="Impact" panose="020B0806030902050204"/>
                  <a:ea typeface="微软雅黑" panose="020B0503020204020204" charset="-122"/>
                </a:rPr>
                <a:t>02</a:t>
              </a:r>
              <a:endParaRPr lang="zh-CN" altLang="en-US" sz="2000">
                <a:solidFill>
                  <a:srgbClr val="F18276"/>
                </a:solidFill>
                <a:latin typeface="Impact" panose="020B0806030902050204"/>
                <a:ea typeface="微软雅黑" panose="020B0503020204020204" charset="-122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F8C620A3-8228-9E37-358D-A8EF175E55A3}"/>
              </a:ext>
            </a:extLst>
          </p:cNvPr>
          <p:cNvGrpSpPr/>
          <p:nvPr/>
        </p:nvGrpSpPr>
        <p:grpSpPr>
          <a:xfrm>
            <a:off x="4831968" y="5305733"/>
            <a:ext cx="818428" cy="563949"/>
            <a:chOff x="5006780" y="5000927"/>
            <a:chExt cx="818428" cy="563949"/>
          </a:xfrm>
        </p:grpSpPr>
        <p:sp>
          <p:nvSpPr>
            <p:cNvPr id="40" name="Oval 15">
              <a:extLst>
                <a:ext uri="{FF2B5EF4-FFF2-40B4-BE49-F238E27FC236}">
                  <a16:creationId xmlns:a16="http://schemas.microsoft.com/office/drawing/2014/main" id="{E3149377-5BBB-682C-4689-D4AE3C4BA126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5157178" y="5000927"/>
              <a:ext cx="563949" cy="563949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  <a:prstDash val="solid"/>
              <a:miter/>
            </a:ln>
            <a:effectLst>
              <a:outerShdw blurRad="165100" dist="25400" dir="2700000" algn="t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1D94E61C-5068-DDF9-81BA-E2B8CD022DC4}"/>
                </a:ext>
              </a:extLst>
            </p:cNvPr>
            <p:cNvSpPr/>
            <p:nvPr/>
          </p:nvSpPr>
          <p:spPr>
            <a:xfrm>
              <a:off x="5006780" y="5099041"/>
              <a:ext cx="81842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>
                  <a:solidFill>
                    <a:srgbClr val="2E75B6"/>
                  </a:solidFill>
                  <a:latin typeface="Impact" panose="020B0806030902050204"/>
                  <a:ea typeface="微软雅黑" panose="020B0503020204020204" charset="-122"/>
                </a:rPr>
                <a:t>03</a:t>
              </a:r>
              <a:endParaRPr lang="zh-CN" altLang="en-US" sz="2000">
                <a:solidFill>
                  <a:srgbClr val="2E75B6"/>
                </a:solidFill>
                <a:latin typeface="Impact" panose="020B0806030902050204"/>
                <a:ea typeface="微软雅黑" panose="020B0503020204020204" charset="-122"/>
              </a:endParaRPr>
            </a:p>
          </p:txBody>
        </p: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F798310D-28D8-AE91-FE6C-5786511C6C84}"/>
              </a:ext>
            </a:extLst>
          </p:cNvPr>
          <p:cNvGrpSpPr/>
          <p:nvPr/>
        </p:nvGrpSpPr>
        <p:grpSpPr>
          <a:xfrm>
            <a:off x="7055723" y="5817808"/>
            <a:ext cx="818428" cy="563949"/>
            <a:chOff x="7230535" y="5513002"/>
            <a:chExt cx="818428" cy="563949"/>
          </a:xfrm>
        </p:grpSpPr>
        <p:sp>
          <p:nvSpPr>
            <p:cNvPr id="43" name="Oval 16">
              <a:extLst>
                <a:ext uri="{FF2B5EF4-FFF2-40B4-BE49-F238E27FC236}">
                  <a16:creationId xmlns:a16="http://schemas.microsoft.com/office/drawing/2014/main" id="{4E58F053-B847-E6E4-8661-41AF77B20D0C}"/>
                </a:ext>
              </a:extLst>
            </p:cNvPr>
            <p:cNvSpPr>
              <a:spLocks noChangeArrowheads="1"/>
            </p:cNvSpPr>
            <p:nvPr/>
          </p:nvSpPr>
          <p:spPr>
            <a:xfrm>
              <a:off x="7358525" y="5513002"/>
              <a:ext cx="562449" cy="563949"/>
            </a:xfrm>
            <a:prstGeom prst="ellipse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>
                    <a:lumMod val="95000"/>
                  </a:schemeClr>
                </a:gs>
              </a:gsLst>
              <a:lin ang="5400000" scaled="1"/>
            </a:gradFill>
            <a:ln w="22225">
              <a:solidFill>
                <a:schemeClr val="bg1"/>
              </a:solidFill>
              <a:prstDash val="solid"/>
              <a:miter/>
            </a:ln>
            <a:effectLst>
              <a:outerShdw blurRad="165100" dist="25400" dir="2700000" algn="t" rotWithShape="0">
                <a:prstClr val="black">
                  <a:alpha val="39000"/>
                </a:prstClr>
              </a:outerShdw>
            </a:effectLst>
          </p:spPr>
          <p:txBody>
            <a:bodyPr anchor="ctr"/>
            <a:lstStyle/>
            <a:p>
              <a:pPr algn="ctr"/>
              <a:endParaRPr lang="zh-CN" altLang="en-US">
                <a:solidFill>
                  <a:srgbClr val="FFFFFF"/>
                </a:solidFill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22321D4E-69BC-B3F8-A4FA-88E67B08D587}"/>
                </a:ext>
              </a:extLst>
            </p:cNvPr>
            <p:cNvSpPr/>
            <p:nvPr/>
          </p:nvSpPr>
          <p:spPr>
            <a:xfrm>
              <a:off x="7230535" y="5621446"/>
              <a:ext cx="818428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2000">
                  <a:solidFill>
                    <a:srgbClr val="F18276"/>
                  </a:solidFill>
                  <a:latin typeface="Impact" panose="020B0806030902050204"/>
                  <a:ea typeface="微软雅黑" panose="020B0503020204020204" charset="-122"/>
                </a:rPr>
                <a:t>04</a:t>
              </a:r>
              <a:endParaRPr lang="zh-CN" altLang="en-US" sz="2000">
                <a:solidFill>
                  <a:srgbClr val="F18276"/>
                </a:solidFill>
                <a:latin typeface="Impact" panose="020B0806030902050204"/>
                <a:ea typeface="微软雅黑" panose="020B0503020204020204" charset="-122"/>
              </a:endParaRP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0190E2D1-A604-2BEF-C2DA-E30F181B2DEF}"/>
              </a:ext>
            </a:extLst>
          </p:cNvPr>
          <p:cNvGrpSpPr/>
          <p:nvPr/>
        </p:nvGrpSpPr>
        <p:grpSpPr>
          <a:xfrm>
            <a:off x="7645741" y="1045373"/>
            <a:ext cx="3150565" cy="2712771"/>
            <a:chOff x="8548024" y="1358113"/>
            <a:chExt cx="3150565" cy="2712771"/>
          </a:xfrm>
        </p:grpSpPr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D543A37A-D0A5-3D1A-8444-E54AFBE81A88}"/>
                </a:ext>
              </a:extLst>
            </p:cNvPr>
            <p:cNvSpPr/>
            <p:nvPr/>
          </p:nvSpPr>
          <p:spPr>
            <a:xfrm>
              <a:off x="8548024" y="1766855"/>
              <a:ext cx="3150565" cy="23040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 1. 数据处理与展示逻辑分解为多个模块   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 </a:t>
              </a:r>
              <a:r>
                <a:rPr lang="zh-CN" altLang="en-US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2. 设计插件系统支持用户自定义模块   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 </a:t>
              </a:r>
              <a:r>
                <a:rPr lang="zh-CN" altLang="en-US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3. 提供模板便于用户二次开发   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 </a:t>
              </a:r>
              <a:r>
                <a:rPr lang="zh-CN" altLang="en-US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4. 用户可编写独立脚本或插件    </a:t>
              </a:r>
            </a:p>
            <a:p>
              <a:pPr>
                <a:lnSpc>
                  <a:spcPct val="150000"/>
                </a:lnSpc>
              </a:pPr>
              <a:r>
                <a:rPr lang="en-US" altLang="zh-CN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 </a:t>
              </a:r>
              <a:r>
                <a:rPr lang="zh-CN" altLang="en-US" sz="1400" dirty="0">
                  <a:solidFill>
                    <a:srgbClr val="F18276"/>
                  </a:solidFill>
                  <a:latin typeface="+mn-ea"/>
                  <a:cs typeface="思源黑体 CN" panose="020B0500000000000000" charset="-122"/>
                </a:rPr>
                <a:t>5. 上传至系统进行安装与配置</a:t>
              </a: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012759F-9DFF-29C5-BAA2-144FBD487B46}"/>
                </a:ext>
              </a:extLst>
            </p:cNvPr>
            <p:cNvSpPr/>
            <p:nvPr/>
          </p:nvSpPr>
          <p:spPr>
            <a:xfrm>
              <a:off x="8548024" y="1358113"/>
              <a:ext cx="2724785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>
                  <a:solidFill>
                    <a:srgbClr val="F18276"/>
                  </a:solidFill>
                  <a:latin typeface="思源黑体 CN" panose="020B0500000000000000" charset="-122"/>
                  <a:ea typeface="思源黑体 CN" panose="020B0500000000000000" charset="-122"/>
                </a:rPr>
                <a:t>数据处理和展示的可定制性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D71ABB2E-9969-6F69-BCD5-00997A57ABD2}"/>
              </a:ext>
            </a:extLst>
          </p:cNvPr>
          <p:cNvGrpSpPr/>
          <p:nvPr/>
        </p:nvGrpSpPr>
        <p:grpSpPr>
          <a:xfrm>
            <a:off x="810410" y="2213413"/>
            <a:ext cx="3237453" cy="2000661"/>
            <a:chOff x="8149738" y="836692"/>
            <a:chExt cx="3237453" cy="2000661"/>
          </a:xfrm>
        </p:grpSpPr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837B4A8C-778C-7556-160C-A8021C771B32}"/>
                </a:ext>
              </a:extLst>
            </p:cNvPr>
            <p:cNvSpPr/>
            <p:nvPr/>
          </p:nvSpPr>
          <p:spPr>
            <a:xfrm>
              <a:off x="8149738" y="1167280"/>
              <a:ext cx="3237453" cy="167007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</a:pP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历史快照版本控制</a:t>
              </a:r>
              <a:endParaRPr lang="en-US" altLang="zh-CN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endParaRPr>
            </a:p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</a:pPr>
              <a:r>
                <a:rPr lang="zh-CN" altLang="en-US" sz="1400" b="1" dirty="0">
                  <a:solidFill>
                    <a:srgbClr val="FF0000"/>
                  </a:solidFill>
                  <a:latin typeface="+mn-ea"/>
                  <a:cs typeface="思源黑体 CN" panose="020B0500000000000000" charset="-122"/>
                </a:rPr>
                <a:t>增量</a:t>
              </a:r>
              <a:r>
                <a:rPr lang="en-US" altLang="zh-CN" sz="1400" b="1" dirty="0">
                  <a:solidFill>
                    <a:srgbClr val="FF0000"/>
                  </a:solidFill>
                  <a:latin typeface="+mn-ea"/>
                  <a:cs typeface="思源黑体 CN" panose="020B0500000000000000" charset="-122"/>
                </a:rPr>
                <a:t>ETL</a:t>
              </a:r>
              <a:r>
                <a:rPr lang="zh-CN" altLang="en-US" sz="1400" b="1" dirty="0">
                  <a:solidFill>
                    <a:srgbClr val="FF0000"/>
                  </a:solidFill>
                  <a:latin typeface="+mn-ea"/>
                  <a:cs typeface="思源黑体 CN" panose="020B0500000000000000" charset="-122"/>
                </a:rPr>
                <a:t>（极速更新）</a:t>
              </a:r>
              <a:endParaRPr lang="en-US" altLang="zh-CN" sz="1400" b="1" dirty="0">
                <a:solidFill>
                  <a:srgbClr val="FF0000"/>
                </a:solidFill>
                <a:latin typeface="+mn-ea"/>
                <a:cs typeface="思源黑体 CN" panose="020B0500000000000000" charset="-122"/>
              </a:endParaRPr>
            </a:p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</a:pP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任务队列 </a:t>
              </a:r>
              <a:r>
                <a:rPr lang="en-US" altLang="zh-CN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+ </a:t>
              </a: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日志中心</a:t>
              </a:r>
              <a:endParaRPr lang="en-US" altLang="zh-CN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endParaRPr>
            </a:p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</a:pP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指标监控与异常检测</a:t>
              </a:r>
              <a:endParaRPr lang="en-US" altLang="zh-CN"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endParaRPr>
            </a:p>
            <a:p>
              <a:pPr marL="342900" indent="-342900" algn="l">
                <a:lnSpc>
                  <a:spcPct val="150000"/>
                </a:lnSpc>
                <a:buFont typeface="+mj-lt"/>
                <a:buAutoNum type="arabicPeriod"/>
              </a:pPr>
              <a:r>
                <a:rPr lang="zh-CN" altLang="en-US" sz="1400" b="1" dirty="0">
                  <a:solidFill>
                    <a:srgbClr val="FF0000"/>
                  </a:solidFill>
                  <a:latin typeface="+mn-ea"/>
                  <a:cs typeface="思源黑体 CN" panose="020B0500000000000000" charset="-122"/>
                </a:rPr>
                <a:t>基线冻结</a:t>
              </a: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（</a:t>
              </a:r>
              <a:r>
                <a:rPr lang="en-US" altLang="zh-CN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Normalization Freeze</a:t>
              </a: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）</a:t>
              </a:r>
              <a:endParaRPr sz="1400" dirty="0">
                <a:solidFill>
                  <a:srgbClr val="2E75B6"/>
                </a:solidFill>
                <a:latin typeface="+mn-ea"/>
                <a:cs typeface="思源黑体 CN" panose="020B0500000000000000" charset="-122"/>
              </a:endParaRPr>
            </a:p>
          </p:txBody>
        </p: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AF7BD474-67DB-81BA-29A3-5E6AEEF69E64}"/>
                </a:ext>
              </a:extLst>
            </p:cNvPr>
            <p:cNvSpPr/>
            <p:nvPr/>
          </p:nvSpPr>
          <p:spPr>
            <a:xfrm>
              <a:off x="8149738" y="836692"/>
              <a:ext cx="1795719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600" b="1" dirty="0">
                  <a:solidFill>
                    <a:srgbClr val="2E75B6"/>
                  </a:solidFill>
                  <a:latin typeface="思源黑体 CN" panose="020B0500000000000000" charset="-122"/>
                  <a:ea typeface="思源黑体 CN" panose="020B0500000000000000" charset="-122"/>
                </a:rPr>
                <a:t>系统扩展性</a:t>
              </a:r>
            </a:p>
          </p:txBody>
        </p:sp>
      </p:grpSp>
      <p:grpSp>
        <p:nvGrpSpPr>
          <p:cNvPr id="51" name="组合 50">
            <a:extLst>
              <a:ext uri="{FF2B5EF4-FFF2-40B4-BE49-F238E27FC236}">
                <a16:creationId xmlns:a16="http://schemas.microsoft.com/office/drawing/2014/main" id="{DE42DD63-EBD5-661C-0745-4BA4FA05CDAC}"/>
              </a:ext>
            </a:extLst>
          </p:cNvPr>
          <p:cNvGrpSpPr/>
          <p:nvPr/>
        </p:nvGrpSpPr>
        <p:grpSpPr>
          <a:xfrm>
            <a:off x="7848926" y="4027599"/>
            <a:ext cx="3359926" cy="2407060"/>
            <a:chOff x="8481349" y="1353033"/>
            <a:chExt cx="3359926" cy="2407060"/>
          </a:xfrm>
        </p:grpSpPr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BBB885B2-E892-8C9B-0B79-AA03BD28F315}"/>
                </a:ext>
              </a:extLst>
            </p:cNvPr>
            <p:cNvSpPr/>
            <p:nvPr/>
          </p:nvSpPr>
          <p:spPr>
            <a:xfrm>
              <a:off x="8481349" y="1766855"/>
              <a:ext cx="3359926" cy="199323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b="0" i="0" dirty="0">
                  <a:solidFill>
                    <a:srgbClr val="F18276"/>
                  </a:solidFill>
                  <a:effectLst/>
                  <a:latin typeface="+mn-ea"/>
                  <a:cs typeface="思源黑体 CN" panose="020B0500000000000000" charset="-122"/>
                </a:rPr>
                <a:t>1. 提供可视化页面编辑器    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b="0" i="0" dirty="0">
                  <a:solidFill>
                    <a:srgbClr val="F18276"/>
                  </a:solidFill>
                  <a:effectLst/>
                  <a:latin typeface="+mn-ea"/>
                  <a:cs typeface="思源黑体 CN" panose="020B0500000000000000" charset="-122"/>
                </a:rPr>
                <a:t>2. 用户可自定义页面布局    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b="0" i="0" dirty="0">
                  <a:solidFill>
                    <a:srgbClr val="F18276"/>
                  </a:solidFill>
                  <a:effectLst/>
                  <a:latin typeface="+mn-ea"/>
                  <a:cs typeface="思源黑体 CN" panose="020B0500000000000000" charset="-122"/>
                </a:rPr>
                <a:t>3. 添加或删除组件方便调整    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b="0" i="0" dirty="0">
                  <a:solidFill>
                    <a:srgbClr val="F18276"/>
                  </a:solidFill>
                  <a:effectLst/>
                  <a:latin typeface="+mn-ea"/>
                  <a:cs typeface="思源黑体 CN" panose="020B0500000000000000" charset="-122"/>
                </a:rPr>
                <a:t>4. 拖拽放置设计布局    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b="0" i="0" dirty="0">
                  <a:solidFill>
                    <a:srgbClr val="F18276"/>
                  </a:solidFill>
                  <a:effectLst/>
                  <a:latin typeface="+mn-ea"/>
                  <a:cs typeface="思源黑体 CN" panose="020B0500000000000000" charset="-122"/>
                </a:rPr>
                <a:t>5. 保存自定义页面以满足个性化需求    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b="0" i="0" dirty="0">
                  <a:solidFill>
                    <a:srgbClr val="F18276"/>
                  </a:solidFill>
                  <a:effectLst/>
                  <a:latin typeface="+mn-ea"/>
                  <a:cs typeface="思源黑体 CN" panose="020B0500000000000000" charset="-122"/>
                </a:rPr>
                <a:t>6. 提高系统可定制性</a:t>
              </a:r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587B9F15-5BE7-694A-1E75-E46A974406FD}"/>
                </a:ext>
              </a:extLst>
            </p:cNvPr>
            <p:cNvSpPr/>
            <p:nvPr/>
          </p:nvSpPr>
          <p:spPr>
            <a:xfrm>
              <a:off x="8481349" y="1353033"/>
              <a:ext cx="1960880" cy="337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1600" b="1">
                  <a:solidFill>
                    <a:srgbClr val="F18276"/>
                  </a:solidFill>
                  <a:latin typeface="思源黑体 CN" panose="020B0500000000000000" charset="-122"/>
                  <a:ea typeface="思源黑体 CN" panose="020B0500000000000000" charset="-122"/>
                </a:rPr>
                <a:t>可配置的页面布局</a:t>
              </a:r>
            </a:p>
          </p:txBody>
        </p:sp>
      </p:grpSp>
      <p:grpSp>
        <p:nvGrpSpPr>
          <p:cNvPr id="54" name="组合 53">
            <a:extLst>
              <a:ext uri="{FF2B5EF4-FFF2-40B4-BE49-F238E27FC236}">
                <a16:creationId xmlns:a16="http://schemas.microsoft.com/office/drawing/2014/main" id="{E1C6080E-ACCF-AD58-28F5-47899F138F2D}"/>
              </a:ext>
            </a:extLst>
          </p:cNvPr>
          <p:cNvGrpSpPr/>
          <p:nvPr/>
        </p:nvGrpSpPr>
        <p:grpSpPr>
          <a:xfrm>
            <a:off x="810410" y="4787135"/>
            <a:ext cx="3186177" cy="1357936"/>
            <a:chOff x="7645174" y="1420343"/>
            <a:chExt cx="3186177" cy="1357936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id="{1A6A0841-C09C-31B1-3A6B-91A343FB8674}"/>
                </a:ext>
              </a:extLst>
            </p:cNvPr>
            <p:cNvSpPr/>
            <p:nvPr/>
          </p:nvSpPr>
          <p:spPr>
            <a:xfrm>
              <a:off x="7645174" y="1754537"/>
              <a:ext cx="3186177" cy="10237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1.配置页面便于接入新数据源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2.用户输入数据源相关信息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2E75B6"/>
                  </a:solidFill>
                  <a:latin typeface="+mn-ea"/>
                  <a:cs typeface="思源黑体 CN" panose="020B0500000000000000" charset="-122"/>
                </a:rPr>
                <a:t>3.系统自动连接并处理数据</a:t>
              </a:r>
            </a:p>
          </p:txBody>
        </p: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CDAD41B6-EDFA-D8F0-304B-7C7EE772F21D}"/>
                </a:ext>
              </a:extLst>
            </p:cNvPr>
            <p:cNvSpPr/>
            <p:nvPr/>
          </p:nvSpPr>
          <p:spPr>
            <a:xfrm>
              <a:off x="7645174" y="1420343"/>
              <a:ext cx="1846580" cy="107632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zh-CN" altLang="en-US" sz="1600" b="1" dirty="0">
                  <a:solidFill>
                    <a:srgbClr val="2E75B6"/>
                  </a:solidFill>
                  <a:latin typeface="思源黑体 CN" panose="020B0500000000000000" charset="-122"/>
                  <a:ea typeface="思源黑体 CN" panose="020B0500000000000000" charset="-122"/>
                </a:rPr>
                <a:t>数据源的可配置性</a:t>
              </a:r>
            </a:p>
            <a:p>
              <a:pPr algn="l"/>
              <a:endParaRPr lang="zh-CN" altLang="en-US" sz="1600" b="1" dirty="0">
                <a:solidFill>
                  <a:srgbClr val="2E75B6"/>
                </a:solidFill>
                <a:latin typeface="思源黑体 CN" panose="020B0500000000000000" charset="-122"/>
                <a:ea typeface="思源黑体 CN" panose="020B0500000000000000" charset="-122"/>
              </a:endParaRPr>
            </a:p>
            <a:p>
              <a:pPr algn="l"/>
              <a:endParaRPr lang="zh-CN" altLang="en-US" sz="1600" b="1" dirty="0">
                <a:solidFill>
                  <a:srgbClr val="2E75B6"/>
                </a:solidFill>
                <a:latin typeface="思源黑体 CN" panose="020B0500000000000000" charset="-122"/>
                <a:ea typeface="思源黑体 CN" panose="020B0500000000000000" charset="-122"/>
              </a:endParaRPr>
            </a:p>
            <a:p>
              <a:pPr algn="l"/>
              <a:endParaRPr lang="zh-CN" altLang="en-US" sz="1600" b="1" dirty="0">
                <a:solidFill>
                  <a:srgbClr val="2E75B6"/>
                </a:solidFill>
                <a:latin typeface="思源黑体 CN" panose="020B0500000000000000" charset="-122"/>
                <a:ea typeface="思源黑体 CN" panose="020B0500000000000000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0306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2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6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500"/>
                            </p:stCondLst>
                            <p:childTnLst>
                              <p:par>
                                <p:cTn id="3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6500"/>
                            </p:stCondLst>
                            <p:childTnLst>
                              <p:par>
                                <p:cTn id="6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7000"/>
                            </p:stCondLst>
                            <p:childTnLst>
                              <p:par>
                                <p:cTn id="6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7500"/>
                            </p:stCondLst>
                            <p:childTnLst>
                              <p:par>
                                <p:cTn id="7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8000"/>
                            </p:stCondLst>
                            <p:childTnLst>
                              <p:par>
                                <p:cTn id="7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>
            <p:custDataLst>
              <p:tags r:id="rId1"/>
            </p:custDataLst>
          </p:nvPr>
        </p:nvSpPr>
        <p:spPr>
          <a:xfrm>
            <a:off x="5177195" y="2690495"/>
            <a:ext cx="1107996" cy="8349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zh-CN" sz="3600" b="1" dirty="0">
                <a:solidFill>
                  <a:schemeClr val="bg1"/>
                </a:solidFill>
                <a:latin typeface="思源黑体 CN Bold"/>
                <a:ea typeface="思源黑体 CN Bold"/>
              </a:rPr>
              <a:t>致谢</a:t>
            </a:r>
            <a:endParaRPr lang="zh-CN" altLang="zh-CN" sz="3200" b="1" dirty="0">
              <a:solidFill>
                <a:schemeClr val="bg1"/>
              </a:solidFill>
              <a:latin typeface="思源黑体 CN Bold"/>
              <a:ea typeface="思源黑体 CN Bold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c448ae23-49fd-4983-b1d5-5d059896b0d9"/>
  <p:tag name="COMMONDATA" val="eyJoZGlkIjoiNzlmNmZiNzU2ZDJlNmYwYzRhZDI3YmM3ZTZmYzI0NW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308</TotalTime>
  <Words>1453</Words>
  <Application>Microsoft Office PowerPoint</Application>
  <PresentationFormat>宽屏</PresentationFormat>
  <Paragraphs>205</Paragraphs>
  <Slides>29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42" baseType="lpstr">
      <vt:lpstr>Source Han Sans CN Regular</vt:lpstr>
      <vt:lpstr>等线</vt:lpstr>
      <vt:lpstr>方正兰亭中粗黑_GBK</vt:lpstr>
      <vt:lpstr>方正兰亭中黑_GBK</vt:lpstr>
      <vt:lpstr>思源黑体 CN</vt:lpstr>
      <vt:lpstr>思源黑体 CN Bold</vt:lpstr>
      <vt:lpstr>思源黑体 CN Medium</vt:lpstr>
      <vt:lpstr>思源黑体 CN Normal</vt:lpstr>
      <vt:lpstr>Arial</vt:lpstr>
      <vt:lpstr>Calibri</vt:lpstr>
      <vt:lpstr>Calibri Light</vt:lpstr>
      <vt:lpstr>Impact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hoperun</dc:creator>
  <cp:lastModifiedBy>Jiahao ZHOU</cp:lastModifiedBy>
  <cp:revision>132</cp:revision>
  <dcterms:created xsi:type="dcterms:W3CDTF">2023-11-14T13:33:00Z</dcterms:created>
  <dcterms:modified xsi:type="dcterms:W3CDTF">2026-01-08T06:38:07Z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_readonly">
    <vt:lpwstr/>
  </property>
  <property fmtid="{D5CDD505-2E9C-101B-9397-08002B2CF9AE}" pid="4" name="_change">
    <vt:lpwstr/>
  </property>
  <property fmtid="{D5CDD505-2E9C-101B-9397-08002B2CF9AE}" pid="5" name="_full-control">
    <vt:lpwstr/>
  </property>
  <property fmtid="{D5CDD505-2E9C-101B-9397-08002B2CF9AE}" pid="6" name="sflag">
    <vt:lpwstr>1638265092</vt:lpwstr>
  </property>
  <property fmtid="{D5CDD505-2E9C-101B-9397-08002B2CF9AE}" pid="7" name="_2015_ms_pID_725343">
    <vt:lpwstr>(3)k7y4uxurHL2vRKtJ2z1Yuku370gV6cb9u/q48B3xDBR06FHNzvtWCr/L04QpaSAFwSdyQQWr
61d8iplJOrBFs8+SjHxeljcEmD/oL47y9wQBjFpio/KqPUZqlGjrcbWDuX6nPtMorU/pTLZJ
VVptoqSZUDW8nvInlbK/2/pDqosdxCyXlNZAZ2XRJbDp/MfuBDFz2i+daUMDlnL6dCZ8fGbm
W2YaaBHlpYVymBZnmX</vt:lpwstr>
  </property>
  <property fmtid="{D5CDD505-2E9C-101B-9397-08002B2CF9AE}" pid="8" name="_2015_ms_pID_7253431">
    <vt:lpwstr>rNQDAl7HNrUqts3r7atqWV/rdDWOQxwXTmlMjAEQd5xNr2rKGnb1Mr
uXVreMnsHcpRWTSF9ALAp+SfAUqHv39BNeTW/mi3pe03Lu1mAyr9s8e4GUDEIN9ubUYJ2F+r
De5sadG8dc0yTJsGyx48rSRAfm4e4Gjh0fhygywwRsOo4mCRf2oqFj2EFcKe5/JhVsNteOK5
QdlaWhxQ1r36KHQUkENsKeZkwSvK7pPqsNjy</vt:lpwstr>
  </property>
  <property fmtid="{D5CDD505-2E9C-101B-9397-08002B2CF9AE}" pid="9" name="_2015_ms_pID_7253432">
    <vt:lpwstr>zA==</vt:lpwstr>
  </property>
  <property fmtid="{D5CDD505-2E9C-101B-9397-08002B2CF9AE}" pid="10" name="ICV">
    <vt:lpwstr>AE29C9E6EBB64CA093E513EF8DA5EA26_12</vt:lpwstr>
  </property>
</Properties>
</file>